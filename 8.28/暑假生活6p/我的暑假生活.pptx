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37760" y="0"/>
            <a:ext cx="7253935" cy="6858000"/>
          </a:xfrm>
          <a:prstGeom prst="roundRect">
            <a:avLst>
              <a:gd name="adj" fmla="val 0"/>
            </a:avLst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2148840"/>
            <a:ext cx="960120" cy="118872"/>
          </a:xfrm>
          <a:prstGeom prst="roundRect">
            <a:avLst>
              <a:gd name="adj" fmla="val 50000"/>
            </a:avLst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95728"/>
            <a:ext cx="38404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200" b="1">
                <a:solidFill>
                  <a:srgbClr val="2B3440"/>
                </a:solidFill>
                <a:latin typeface="Microsoft YaHei"/>
              </a:rPr>
              <a:t>我的暑假生活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65760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B3440"/>
                </a:solidFill>
                <a:latin typeface="Microsoft YaHei"/>
              </a:rPr>
              <a:t>姓名：XXX        班级：X年X班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434840"/>
            <a:ext cx="2423160" cy="530352"/>
          </a:xfrm>
          <a:prstGeom prst="roundRect">
            <a:avLst>
              <a:gd name="adj" fmla="val 30000"/>
            </a:avLst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500" b="1">
                <a:solidFill>
                  <a:srgbClr val="1F2937"/>
                </a:solidFill>
                <a:latin typeface="Microsoft YaHei"/>
              </a:rPr>
              <a:t>2026 · 暑期生活分享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75488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4F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448056"/>
            <a:ext cx="64008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2B3440"/>
                </a:solidFill>
                <a:latin typeface="Microsoft YaHei"/>
              </a:rPr>
              <a:t>自律学习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820095" cy="1270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989320" cy="9326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02536"/>
            <a:ext cx="82296" cy="493776"/>
          </a:xfrm>
          <a:prstGeom prst="roundRect">
            <a:avLst>
              <a:gd name="adj" fmla="val 50000"/>
            </a:avLst>
          </a:prstGeom>
          <a:solidFill>
            <a:srgbClr val="4F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783080"/>
            <a:ext cx="534924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3440"/>
                </a:solidFill>
                <a:latin typeface="Microsoft YaHei"/>
              </a:rPr>
              <a:t>制定暑假学习计划，劳逸结合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98648"/>
            <a:ext cx="5989320" cy="9326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118104"/>
            <a:ext cx="82296" cy="493776"/>
          </a:xfrm>
          <a:prstGeom prst="roundRect">
            <a:avLst>
              <a:gd name="adj" fmla="val 50000"/>
            </a:avLst>
          </a:prstGeom>
          <a:solidFill>
            <a:srgbClr val="4F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898648"/>
            <a:ext cx="534924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3440"/>
                </a:solidFill>
                <a:latin typeface="Microsoft YaHei"/>
              </a:rPr>
              <a:t>每天认真完成假期作业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014216"/>
            <a:ext cx="5989320" cy="9326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4233672"/>
            <a:ext cx="82296" cy="493776"/>
          </a:xfrm>
          <a:prstGeom prst="roundRect">
            <a:avLst>
              <a:gd name="adj" fmla="val 50000"/>
            </a:avLst>
          </a:prstGeom>
          <a:solidFill>
            <a:srgbClr val="4F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014216"/>
            <a:ext cx="534924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3440"/>
                </a:solidFill>
                <a:latin typeface="Microsoft YaHei"/>
              </a:rPr>
              <a:t>坚持阅读课外书，完成阅读集章卡任务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129784"/>
            <a:ext cx="5989320" cy="9326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5349240"/>
            <a:ext cx="82296" cy="493776"/>
          </a:xfrm>
          <a:prstGeom prst="roundRect">
            <a:avLst>
              <a:gd name="adj" fmla="val 50000"/>
            </a:avLst>
          </a:prstGeom>
          <a:solidFill>
            <a:srgbClr val="4F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129784"/>
            <a:ext cx="534924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3440"/>
                </a:solidFill>
                <a:latin typeface="Microsoft YaHei"/>
              </a:rPr>
              <a:t>每天练字，让字迹更工整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12" y="1691640"/>
            <a:ext cx="4206240" cy="4572000"/>
          </a:xfrm>
          <a:prstGeom prst="roundRect">
            <a:avLst>
              <a:gd name="adj" fmla="val 9000"/>
            </a:avLst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outerShdw blurRad="152400" dist="38100" dir="5400000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14032" y="6053328"/>
            <a:ext cx="1554480" cy="128016"/>
          </a:xfrm>
          <a:prstGeom prst="roundRect">
            <a:avLst>
              <a:gd name="adj" fmla="val 50000"/>
            </a:avLst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08615" y="635508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8A93A0"/>
                </a:solidFill>
                <a:latin typeface="Microsoft YaHei"/>
              </a:rPr>
              <a:t>2 /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550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93A0"/>
                </a:solidFill>
                <a:latin typeface="Microsoft YaHei"/>
              </a:rPr>
              <a:t>我的暑假生活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75488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F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448056"/>
            <a:ext cx="64008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2B3440"/>
                </a:solidFill>
                <a:latin typeface="Microsoft YaHei"/>
              </a:rPr>
              <a:t>锻炼与新本领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820095" cy="1270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129784" cy="4526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2104" y="1837944"/>
            <a:ext cx="4837176" cy="2715768"/>
          </a:xfrm>
          <a:prstGeom prst="roundRect">
            <a:avLst>
              <a:gd name="adj" fmla="val 6000"/>
            </a:avLst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96696" y="3986784"/>
            <a:ext cx="2286000" cy="420624"/>
          </a:xfrm>
          <a:prstGeom prst="roundRect">
            <a:avLst>
              <a:gd name="adj" fmla="val 22000"/>
            </a:avLst>
          </a:prstGeom>
          <a:solidFill>
            <a:srgbClr val="F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游泳小健将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" y="496519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4864608"/>
            <a:ext cx="43068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B3440"/>
                </a:solidFill>
                <a:latin typeface="Microsoft YaHei"/>
              </a:rPr>
              <a:t>坚持每天体育锻炼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" y="5376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5276088"/>
            <a:ext cx="43068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B3440"/>
                </a:solidFill>
                <a:latin typeface="Microsoft YaHei"/>
              </a:rPr>
              <a:t>学会自由泳和跳水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" y="57881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5687568"/>
            <a:ext cx="43068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B3440"/>
                </a:solidFill>
                <a:latin typeface="Microsoft YaHei"/>
              </a:rPr>
              <a:t>挑战自己，变得更勇敢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6111" y="1691640"/>
            <a:ext cx="5129784" cy="4526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22415" y="1837944"/>
            <a:ext cx="4837176" cy="2715768"/>
          </a:xfrm>
          <a:prstGeom prst="roundRect">
            <a:avLst>
              <a:gd name="adj" fmla="val 6000"/>
            </a:avLst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87007" y="3986784"/>
            <a:ext cx="2286000" cy="420624"/>
          </a:xfrm>
          <a:prstGeom prst="roundRect">
            <a:avLst>
              <a:gd name="adj" fmla="val 22000"/>
            </a:avLst>
          </a:prstGeom>
          <a:solidFill>
            <a:srgbClr val="5FC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家务小帮手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87007" y="496519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FC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3039" y="4864608"/>
            <a:ext cx="43068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B3440"/>
                </a:solidFill>
                <a:latin typeface="Microsoft YaHei"/>
              </a:rPr>
              <a:t>主动帮爸爸妈妈做家务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87007" y="5376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FC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3039" y="5276088"/>
            <a:ext cx="43068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B3440"/>
                </a:solidFill>
                <a:latin typeface="Microsoft YaHei"/>
              </a:rPr>
              <a:t>学会整理、打扫和简单烹饪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87007" y="57881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FC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3039" y="5687568"/>
            <a:ext cx="43068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B3440"/>
                </a:solidFill>
                <a:latin typeface="Microsoft YaHei"/>
              </a:rPr>
              <a:t>懂得劳动的意义，更有担当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8615" y="635508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8A93A0"/>
                </a:solidFill>
                <a:latin typeface="Microsoft YaHei"/>
              </a:rPr>
              <a:t>3 /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550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93A0"/>
                </a:solidFill>
                <a:latin typeface="Microsoft YaHei"/>
              </a:rPr>
              <a:t>我的暑假生活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75488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B39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448056"/>
            <a:ext cx="64008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2B3440"/>
                </a:solidFill>
                <a:latin typeface="Microsoft YaHei"/>
              </a:rPr>
              <a:t>社会实践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820095" cy="1270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120640" cy="4572000"/>
          </a:xfrm>
          <a:prstGeom prst="roundRect">
            <a:avLst>
              <a:gd name="adj" fmla="val 9000"/>
            </a:avLst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outerShdw blurRad="152400" dist="38100" dir="5400000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6053328"/>
            <a:ext cx="1554480" cy="128016"/>
          </a:xfrm>
          <a:prstGeom prst="roundRect">
            <a:avLst>
              <a:gd name="adj" fmla="val 50000"/>
            </a:avLst>
          </a:prstGeom>
          <a:solidFill>
            <a:srgbClr val="B39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193792" cy="9326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0" y="2002536"/>
            <a:ext cx="82296" cy="493776"/>
          </a:xfrm>
          <a:prstGeom prst="roundRect">
            <a:avLst>
              <a:gd name="adj" fmla="val 50000"/>
            </a:avLst>
          </a:prstGeom>
          <a:solidFill>
            <a:srgbClr val="B39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783080"/>
            <a:ext cx="4553712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2B3440"/>
                </a:solidFill>
                <a:latin typeface="Microsoft YaHei"/>
              </a:rPr>
              <a:t>在新华书店体验一周小店员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898648"/>
            <a:ext cx="5193792" cy="9326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3118104"/>
            <a:ext cx="82296" cy="493776"/>
          </a:xfrm>
          <a:prstGeom prst="roundRect">
            <a:avLst>
              <a:gd name="adj" fmla="val 50000"/>
            </a:avLst>
          </a:prstGeom>
          <a:solidFill>
            <a:srgbClr val="B39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898648"/>
            <a:ext cx="4553712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2B3440"/>
                </a:solidFill>
                <a:latin typeface="Microsoft YaHei"/>
              </a:rPr>
              <a:t>整理书架、接待读者，体会工作的辛苦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014216"/>
            <a:ext cx="5193792" cy="9326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0" y="4233672"/>
            <a:ext cx="82296" cy="493776"/>
          </a:xfrm>
          <a:prstGeom prst="roundRect">
            <a:avLst>
              <a:gd name="adj" fmla="val 50000"/>
            </a:avLst>
          </a:prstGeom>
          <a:solidFill>
            <a:srgbClr val="B39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4014216"/>
            <a:ext cx="4553712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2B3440"/>
                </a:solidFill>
                <a:latin typeface="Microsoft YaHei"/>
              </a:rPr>
              <a:t>参加两期阅读公益讲堂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5129784"/>
            <a:ext cx="5193792" cy="9326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5349240"/>
            <a:ext cx="82296" cy="493776"/>
          </a:xfrm>
          <a:prstGeom prst="roundRect">
            <a:avLst>
              <a:gd name="adj" fmla="val 50000"/>
            </a:avLst>
          </a:prstGeom>
          <a:solidFill>
            <a:srgbClr val="B39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5129784"/>
            <a:ext cx="4553712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2B3440"/>
                </a:solidFill>
                <a:latin typeface="Microsoft YaHei"/>
              </a:rPr>
              <a:t>学到许多书本以外的知识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8615" y="635508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8A93A0"/>
                </a:solidFill>
                <a:latin typeface="Microsoft YaHei"/>
              </a:rPr>
              <a:t>4 /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550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93A0"/>
                </a:solidFill>
                <a:latin typeface="Microsoft YaHei"/>
              </a:rPr>
              <a:t>我的暑假生活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75488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768" y="448056"/>
            <a:ext cx="64008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2B3440"/>
                </a:solidFill>
                <a:latin typeface="Microsoft YaHei"/>
              </a:rPr>
              <a:t>快乐旅行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820095" cy="1270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2B3440"/>
                </a:solidFill>
                <a:latin typeface="Microsoft YaHei"/>
              </a:rPr>
              <a:t>和妈妈一起游览河西走廊与西安，欣赏祖国美景与悠久历史文化。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2468880" cy="1851660"/>
          </a:xfrm>
          <a:prstGeom prst="roundRect">
            <a:avLst>
              <a:gd name="adj" fmla="val 7000"/>
            </a:avLst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outerShdw blurRad="152400" dist="38100" dir="5400000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4680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B3440"/>
                </a:solidFill>
                <a:latin typeface="Microsoft YaHei"/>
              </a:rPr>
              <a:t>七彩丹霞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8319" y="2148840"/>
            <a:ext cx="2468880" cy="1851660"/>
          </a:xfrm>
          <a:prstGeom prst="roundRect">
            <a:avLst>
              <a:gd name="adj" fmla="val 7000"/>
            </a:avLst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outerShdw blurRad="152400" dist="38100" dir="5400000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8319" y="414680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B3440"/>
                </a:solidFill>
                <a:latin typeface="Microsoft YaHei"/>
              </a:rPr>
              <a:t>莫高窟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0838" y="2148840"/>
            <a:ext cx="2468880" cy="1851660"/>
          </a:xfrm>
          <a:prstGeom prst="roundRect">
            <a:avLst>
              <a:gd name="adj" fmla="val 7000"/>
            </a:avLst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outerShdw blurRad="152400" dist="38100" dir="5400000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0838" y="414680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B3440"/>
                </a:solidFill>
                <a:latin typeface="Microsoft YaHei"/>
              </a:rPr>
              <a:t>长城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3357" y="2148840"/>
            <a:ext cx="2468880" cy="1851660"/>
          </a:xfrm>
          <a:prstGeom prst="roundRect">
            <a:avLst>
              <a:gd name="adj" fmla="val 7000"/>
            </a:avLst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outerShdw blurRad="152400" dist="38100" dir="5400000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33357" y="414680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B3440"/>
                </a:solidFill>
                <a:latin typeface="Microsoft YaHei"/>
              </a:rPr>
              <a:t>兵马俑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892040"/>
            <a:ext cx="10820095" cy="841248"/>
          </a:xfrm>
          <a:prstGeom prst="roundRect">
            <a:avLst>
              <a:gd name="adj" fmla="val 12000"/>
            </a:avLst>
          </a:prstGeom>
          <a:solidFill>
            <a:srgbClr val="FFF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892040"/>
            <a:ext cx="1008857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B3440"/>
                </a:solidFill>
                <a:latin typeface="Microsoft YaHei"/>
              </a:rPr>
              <a:t>读万卷书，行万里路——这次旅行让我看到祖国的壮美，也感受到历史的厚重。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8A93A0"/>
                </a:solidFill>
                <a:latin typeface="Microsoft YaHei"/>
              </a:rPr>
              <a:t>5 /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550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93A0"/>
                </a:solidFill>
                <a:latin typeface="Microsoft YaHei"/>
              </a:rPr>
              <a:t>我的暑假生活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63927" y="914400"/>
            <a:ext cx="7863840" cy="4983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3927" y="1280160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2B3440"/>
                </a:solidFill>
                <a:latin typeface="Microsoft YaHei"/>
              </a:rPr>
              <a:t>我的收获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47207" y="2121408"/>
            <a:ext cx="1097280" cy="91440"/>
          </a:xfrm>
          <a:prstGeom prst="roundRect">
            <a:avLst>
              <a:gd name="adj" fmla="val 50000"/>
            </a:avLst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98367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5FC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6695" y="248716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0">
                <a:solidFill>
                  <a:srgbClr val="2B3440"/>
                </a:solidFill>
                <a:latin typeface="Microsoft YaHei"/>
              </a:rPr>
              <a:t>知识 · 阅读与旅行，让我看到更大的世界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8367" y="314553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6695" y="3054096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0">
                <a:solidFill>
                  <a:srgbClr val="2B3440"/>
                </a:solidFill>
                <a:latin typeface="Microsoft YaHei"/>
              </a:rPr>
              <a:t>勇气 · 游泳和跳水，让我敢于挑战自己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8367" y="37124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4F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6695" y="3621024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0">
                <a:solidFill>
                  <a:srgbClr val="2B3440"/>
                </a:solidFill>
                <a:latin typeface="Microsoft YaHei"/>
              </a:rPr>
              <a:t>成长 · 劳动与实践，让我学会担当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8367" y="4224528"/>
            <a:ext cx="5394960" cy="1270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3927" y="4407408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2B3440"/>
                </a:solidFill>
                <a:latin typeface="Microsoft YaHei"/>
              </a:rPr>
              <a:t>新学期，我会继续努力，做更好的自己！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3927" y="493776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>
                <a:solidFill>
                  <a:srgbClr val="FF8A7A"/>
                </a:solidFill>
                <a:latin typeface="Microsoft YaHei"/>
              </a:rPr>
              <a:t>谢谢大家！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8A93A0"/>
                </a:solidFill>
                <a:latin typeface="Microsoft YaHei"/>
              </a:rPr>
              <a:t>6 /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550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93A0"/>
                </a:solidFill>
                <a:latin typeface="Microsoft YaHei"/>
              </a:rPr>
              <a:t>我的暑假生活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