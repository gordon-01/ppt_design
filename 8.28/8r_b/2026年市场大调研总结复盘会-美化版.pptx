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5"/>
  </p:notesMasterIdLst>
  <p:sldIdLst>
    <p:sldId id="264" r:id="rId4"/>
    <p:sldId id="295" r:id="rId6"/>
    <p:sldId id="2050" r:id="rId7"/>
    <p:sldId id="2044" r:id="rId8"/>
    <p:sldId id="4149" r:id="rId9"/>
    <p:sldId id="4150" r:id="rId10"/>
    <p:sldId id="4151" r:id="rId11"/>
    <p:sldId id="2134" r:id="rId12"/>
    <p:sldId id="2138" r:id="rId13"/>
    <p:sldId id="2136" r:id="rId14"/>
    <p:sldId id="2139" r:id="rId15"/>
    <p:sldId id="4152" r:id="rId16"/>
    <p:sldId id="4153" r:id="rId17"/>
    <p:sldId id="4154" r:id="rId18"/>
    <p:sldId id="4155" r:id="rId19"/>
    <p:sldId id="4147" r:id="rId20"/>
    <p:sldId id="4158" r:id="rId21"/>
    <p:sldId id="2137" r:id="rId22"/>
    <p:sldId id="4156" r:id="rId23"/>
    <p:sldId id="2135" r:id="rId24"/>
    <p:sldId id="4144" r:id="rId25"/>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ww" initials="k" lastIdx="3" clrIdx="0"/>
  <p:cmAuthor id="2" name="Administrator" initials="A" lastIdx="0" clrIdx="1"/>
  <p:cmAuthor id="3" name="黄 子乐" initials="黄" lastIdx="0" clrIdx="2"/>
  <p:cmAuthor id="4" name="86130" initials="8"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0" autoAdjust="0"/>
    <p:restoredTop sz="94660"/>
  </p:normalViewPr>
  <p:slideViewPr>
    <p:cSldViewPr snapToGrid="0">
      <p:cViewPr varScale="1">
        <p:scale>
          <a:sx n="64" d="100"/>
          <a:sy n="64" d="100"/>
        </p:scale>
        <p:origin x="55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gs" Target="tags/tag72.xml"/><Relationship Id="rId3" Type="http://schemas.openxmlformats.org/officeDocument/2006/relationships/slideMaster" Target="slideMasters/slideMaster2.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64435\Desktop\&#19977;&#20998;&#37096;12&#26376;&#24066;&#22330;&#23567;&#32467;.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64435\Desktop\&#19977;&#20998;&#37096;12&#26376;&#24066;&#22330;&#23567;&#32467;.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64435\Desktop\&#19977;&#20998;&#37096;12&#26376;&#24066;&#22330;&#23567;&#32467;.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64435\Desktop\&#19977;&#20998;&#37096;12&#26376;&#24066;&#22330;&#23567;&#32467;.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64435\Desktop\&#19977;&#20998;&#37096;12&#26376;&#24066;&#22330;&#23567;&#32467;.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64435\Desktop\&#19977;&#20998;&#37096;12&#26376;&#24066;&#22330;&#23567;&#32467;.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64435\Desktop\&#19977;&#20998;&#37096;12&#26376;&#24066;&#22330;&#23567;&#32467;.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C:\Users\64435\Desktop\&#19977;&#20998;&#37096;12&#26376;&#24066;&#22330;&#23567;&#32467;.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C:\Users\64435\Desktop\&#19977;&#20998;&#37096;12&#26376;&#24066;&#22330;&#23567;&#32467;.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file:///C:\Users\64435\Desktop\&#19977;&#20998;&#37096;12&#26376;&#24066;&#22330;&#23567;&#32467;.xlsx" TargetMode="External"/></Relationships>
</file>

<file path=ppt/charts/_rels/chart11.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oleObject" Target="file:///C:\Users\64435\Desktop\&#19977;&#20998;&#37096;12&#26376;&#24066;&#22330;&#23567;&#32467;.xlsx" TargetMode="External"/></Relationships>
</file>

<file path=ppt/charts/_rels/chart12.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oleObject" Target="file:///C:\Users\64435\Desktop\&#19977;&#20998;&#37096;12&#26376;&#24066;&#22330;&#23567;&#32467;.xlsx" TargetMode="External"/></Relationships>
</file>

<file path=ppt/charts/_rels/chart13.xml.rels><?xml version="1.0" encoding="UTF-8" standalone="yes"?>
<Relationships xmlns="http://schemas.openxmlformats.org/package/2006/relationships"><Relationship Id="rId3" Type="http://schemas.microsoft.com/office/2011/relationships/chartColorStyle" Target="colors13.xml"/><Relationship Id="rId2" Type="http://schemas.microsoft.com/office/2011/relationships/chartStyle" Target="style13.xml"/><Relationship Id="rId1" Type="http://schemas.openxmlformats.org/officeDocument/2006/relationships/oleObject" Target="file:///C:\Users\64435\Desktop\&#19977;&#20998;&#37096;12&#26376;&#24066;&#22330;&#23567;&#32467;.xlsx" TargetMode="External"/></Relationships>
</file>

<file path=ppt/charts/_rels/chart14.xml.rels><?xml version="1.0" encoding="UTF-8" standalone="yes"?>
<Relationships xmlns="http://schemas.openxmlformats.org/package/2006/relationships"><Relationship Id="rId3" Type="http://schemas.microsoft.com/office/2011/relationships/chartColorStyle" Target="colors14.xml"/><Relationship Id="rId2" Type="http://schemas.microsoft.com/office/2011/relationships/chartStyle" Target="style14.xml"/><Relationship Id="rId1" Type="http://schemas.openxmlformats.org/officeDocument/2006/relationships/oleObject" Target="file:///C:\Users\64435\Desktop\&#19977;&#20998;&#37096;12&#26376;&#24066;&#22330;&#23567;&#3246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郑州南</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solidFill>
                  <a:schemeClr val="accent4">
                    <a:lumMod val="60000"/>
                    <a:lumOff val="40000"/>
                  </a:schemeClr>
                </a:solid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[三分部12月市场小结.xlsx]Sheet1!$H$3:$N$3</c:f>
              <c:strCache>
                <c:ptCount val="7"/>
                <c:pt idx="0">
                  <c:v>整体铺市率</c:v>
                </c:pt>
                <c:pt idx="1">
                  <c:v>口味王</c:v>
                </c:pt>
                <c:pt idx="2">
                  <c:v>和成天下</c:v>
                </c:pt>
                <c:pt idx="3">
                  <c:v>主竞品</c:v>
                </c:pt>
                <c:pt idx="6">
                  <c:v>高端铺市率</c:v>
                </c:pt>
              </c:strCache>
            </c:strRef>
          </c:cat>
          <c:val>
            <c:numRef>
              <c:f>[三分部12月市场小结.xlsx]Sheet1!$H$4:$N$4</c:f>
              <c:numCache>
                <c:formatCode>0.0%</c:formatCode>
                <c:ptCount val="7"/>
                <c:pt idx="0">
                  <c:v>0.975</c:v>
                </c:pt>
                <c:pt idx="1">
                  <c:v>0.975</c:v>
                </c:pt>
                <c:pt idx="2">
                  <c:v>0.975</c:v>
                </c:pt>
                <c:pt idx="3">
                  <c:v>0.725</c:v>
                </c:pt>
                <c:pt idx="6">
                  <c:v>0.825</c:v>
                </c:pt>
              </c:numCache>
            </c:numRef>
          </c:val>
        </c:ser>
        <c:dLbls>
          <c:showLegendKey val="0"/>
          <c:showVal val="1"/>
          <c:showCatName val="0"/>
          <c:showSerName val="0"/>
          <c:showPercent val="0"/>
          <c:showBubbleSize val="0"/>
        </c:dLbls>
        <c:gapWidth val="246"/>
        <c:overlap val="-28"/>
        <c:axId val="53859858"/>
        <c:axId val="520051062"/>
      </c:barChart>
      <c:catAx>
        <c:axId val="5385985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20051062"/>
        <c:crosses val="autoZero"/>
        <c:auto val="1"/>
        <c:lblAlgn val="ctr"/>
        <c:lblOffset val="100"/>
        <c:noMultiLvlLbl val="0"/>
      </c:catAx>
      <c:valAx>
        <c:axId val="520051062"/>
        <c:scaling>
          <c:orientation val="minMax"/>
        </c:scaling>
        <c:delete val="0"/>
        <c:axPos val="l"/>
        <c:majorGridlines>
          <c:spPr>
            <a:ln w="9525" cap="flat" cmpd="sng" algn="ctr">
              <a:solidFill>
                <a:schemeClr val="lt1">
                  <a:lumMod val="90200"/>
                </a:schemeClr>
              </a:solidFill>
              <a:round/>
            </a:ln>
            <a:effectLst/>
          </c:spPr>
        </c:majorGridlines>
        <c:numFmt formatCode="0.0%"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3859858"/>
        <c:crosses val="autoZero"/>
        <c:crossBetween val="between"/>
      </c:valAx>
      <c:spPr>
        <a:noFill/>
        <a:ln>
          <a:noFill/>
        </a:ln>
        <a:effectLst/>
      </c:spPr>
    </c:plotArea>
    <c:plotVisOnly val="1"/>
    <c:dispBlanksAs val="gap"/>
    <c:showDLblsOverMax val="0"/>
    <c:extLst>
      <c:ext uri="{0b15fc19-7d7d-44ad-8c2d-2c3a37ce22c3}">
        <chartProps xmlns="https://web.wps.cn/et/2018/main" chartId="{7ef73d45-6f47-41f0-8357-61f0c041c816}"/>
      </c:ext>
    </c:extLst>
  </c:chart>
  <c:spPr>
    <a:noFill/>
    <a:ln>
      <a:solidFill>
        <a:schemeClr val="accent4">
          <a:lumMod val="60000"/>
          <a:lumOff val="40000"/>
        </a:schemeClr>
      </a:solid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偃师</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dLbl>
              <c:idx val="0"/>
              <c:layout/>
              <c:dLblPos val="outEnd"/>
              <c:showLegendKey val="0"/>
              <c:showVal val="1"/>
              <c:showCatName val="0"/>
              <c:showSerName val="0"/>
              <c:showPercent val="0"/>
              <c:showBubbleSize val="0"/>
              <c:extLst>
                <c:ext xmlns:c15="http://schemas.microsoft.com/office/drawing/2012/chart" uri="{CE6537A1-D6FC-4f65-9D91-7224C49458BB}"/>
              </c:extLst>
            </c:dLbl>
            <c:dLbl>
              <c:idx val="1"/>
              <c:layout/>
              <c:dLblPos val="outEnd"/>
              <c:showLegendKey val="0"/>
              <c:showVal val="1"/>
              <c:showCatName val="0"/>
              <c:showSerName val="0"/>
              <c:showPercent val="0"/>
              <c:showBubbleSize val="0"/>
              <c:extLst>
                <c:ext xmlns:c15="http://schemas.microsoft.com/office/drawing/2012/chart" uri="{CE6537A1-D6FC-4f65-9D91-7224C49458BB}"/>
              </c:extLst>
            </c:dLbl>
            <c:dLbl>
              <c:idx val="2"/>
              <c:layout/>
              <c:dLblPos val="outEnd"/>
              <c:showLegendKey val="0"/>
              <c:showVal val="1"/>
              <c:showCatName val="0"/>
              <c:showSerName val="0"/>
              <c:showPercent val="0"/>
              <c:showBubbleSize val="0"/>
              <c:extLst>
                <c:ext xmlns:c15="http://schemas.microsoft.com/office/drawing/2012/chart" uri="{CE6537A1-D6FC-4f65-9D91-7224C49458BB}"/>
              </c:extLst>
            </c:dLbl>
            <c:dLbl>
              <c:idx val="3"/>
              <c:layout/>
              <c:dLblPos val="outEnd"/>
              <c:showLegendKey val="0"/>
              <c:showVal val="1"/>
              <c:showCatName val="0"/>
              <c:showSerName val="0"/>
              <c:showPercent val="0"/>
              <c:showBubbleSize val="0"/>
              <c:extLst>
                <c:ext xmlns:c15="http://schemas.microsoft.com/office/drawing/2012/chart" uri="{CE6537A1-D6FC-4f65-9D91-7224C49458BB}"/>
              </c:extLst>
            </c:dLbl>
            <c:dLbl>
              <c:idx val="4"/>
              <c:delete val="1"/>
            </c:dLbl>
            <c:dLbl>
              <c:idx val="5"/>
              <c:delete val="1"/>
            </c:dLbl>
            <c:dLbl>
              <c:idx val="6"/>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[三分部12月市场小结.xlsx]Sheet1!$D$34:$J$34</c:f>
              <c:strCache>
                <c:ptCount val="7"/>
                <c:pt idx="0">
                  <c:v>整体铺市率</c:v>
                </c:pt>
                <c:pt idx="1">
                  <c:v>口味王</c:v>
                </c:pt>
                <c:pt idx="2">
                  <c:v>和成天下</c:v>
                </c:pt>
                <c:pt idx="3">
                  <c:v>主竞品</c:v>
                </c:pt>
                <c:pt idx="6">
                  <c:v>高端铺市率</c:v>
                </c:pt>
              </c:strCache>
            </c:strRef>
          </c:cat>
          <c:val>
            <c:numRef>
              <c:f>[三分部12月市场小结.xlsx]Sheet1!$D$35:$J$35</c:f>
              <c:numCache>
                <c:formatCode>0%</c:formatCode>
                <c:ptCount val="7"/>
                <c:pt idx="0">
                  <c:v>0.9</c:v>
                </c:pt>
                <c:pt idx="1" c:formatCode="0.0%">
                  <c:v>0.775</c:v>
                </c:pt>
                <c:pt idx="2">
                  <c:v>0.9</c:v>
                </c:pt>
                <c:pt idx="3" c:formatCode="0.0%">
                  <c:v>0.625</c:v>
                </c:pt>
                <c:pt idx="6">
                  <c:v>0.6</c:v>
                </c:pt>
              </c:numCache>
            </c:numRef>
          </c:val>
        </c:ser>
        <c:dLbls>
          <c:showLegendKey val="0"/>
          <c:showVal val="0"/>
          <c:showCatName val="0"/>
          <c:showSerName val="0"/>
          <c:showPercent val="0"/>
          <c:showBubbleSize val="0"/>
        </c:dLbls>
        <c:gapWidth val="246"/>
        <c:overlap val="-28"/>
        <c:axId val="537904388"/>
        <c:axId val="940148310"/>
      </c:barChart>
      <c:catAx>
        <c:axId val="53790438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40148310"/>
        <c:crosses val="autoZero"/>
        <c:auto val="1"/>
        <c:lblAlgn val="ctr"/>
        <c:lblOffset val="100"/>
        <c:noMultiLvlLbl val="0"/>
      </c:catAx>
      <c:valAx>
        <c:axId val="940148310"/>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37904388"/>
        <c:crosses val="autoZero"/>
        <c:crossBetween val="between"/>
      </c:valAx>
      <c:spPr>
        <a:noFill/>
        <a:ln>
          <a:noFill/>
        </a:ln>
        <a:effectLst/>
      </c:spPr>
    </c:plotArea>
    <c:plotVisOnly val="1"/>
    <c:dispBlanksAs val="gap"/>
    <c:showDLblsOverMax val="0"/>
    <c:extLst>
      <c:ext uri="{0b15fc19-7d7d-44ad-8c2d-2c3a37ce22c3}">
        <chartProps xmlns="https://web.wps.cn/et/2018/main" chartId="{e664afaf-4803-42b9-89fc-544c6ff3d3e8}"/>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中原</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dLbl>
              <c:idx val="0"/>
              <c:layout/>
              <c:dLblPos val="outEnd"/>
              <c:showLegendKey val="0"/>
              <c:showVal val="1"/>
              <c:showCatName val="0"/>
              <c:showSerName val="0"/>
              <c:showPercent val="0"/>
              <c:showBubbleSize val="0"/>
              <c:extLst>
                <c:ext xmlns:c15="http://schemas.microsoft.com/office/drawing/2012/chart" uri="{CE6537A1-D6FC-4f65-9D91-7224C49458BB}"/>
              </c:extLst>
            </c:dLbl>
            <c:dLbl>
              <c:idx val="1"/>
              <c:layout/>
              <c:dLblPos val="outEnd"/>
              <c:showLegendKey val="0"/>
              <c:showVal val="1"/>
              <c:showCatName val="0"/>
              <c:showSerName val="0"/>
              <c:showPercent val="0"/>
              <c:showBubbleSize val="0"/>
              <c:extLst>
                <c:ext xmlns:c15="http://schemas.microsoft.com/office/drawing/2012/chart" uri="{CE6537A1-D6FC-4f65-9D91-7224C49458BB}"/>
              </c:extLst>
            </c:dLbl>
            <c:dLbl>
              <c:idx val="2"/>
              <c:layout/>
              <c:dLblPos val="outEnd"/>
              <c:showLegendKey val="0"/>
              <c:showVal val="1"/>
              <c:showCatName val="0"/>
              <c:showSerName val="0"/>
              <c:showPercent val="0"/>
              <c:showBubbleSize val="0"/>
              <c:extLst>
                <c:ext xmlns:c15="http://schemas.microsoft.com/office/drawing/2012/chart" uri="{CE6537A1-D6FC-4f65-9D91-7224C49458BB}"/>
              </c:extLst>
            </c:dLbl>
            <c:dLbl>
              <c:idx val="3"/>
              <c:layout/>
              <c:dLblPos val="outEnd"/>
              <c:showLegendKey val="0"/>
              <c:showVal val="1"/>
              <c:showCatName val="0"/>
              <c:showSerName val="0"/>
              <c:showPercent val="0"/>
              <c:showBubbleSize val="0"/>
              <c:extLst>
                <c:ext xmlns:c15="http://schemas.microsoft.com/office/drawing/2012/chart" uri="{CE6537A1-D6FC-4f65-9D91-7224C49458BB}"/>
              </c:extLst>
            </c:dLbl>
            <c:dLbl>
              <c:idx val="4"/>
              <c:delete val="1"/>
            </c:dLbl>
            <c:dLbl>
              <c:idx val="5"/>
              <c:delete val="1"/>
            </c:dLbl>
            <c:dLbl>
              <c:idx val="6"/>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[三分部12月市场小结.xlsx]Sheet1!$D$54:$J$54</c:f>
              <c:strCache>
                <c:ptCount val="7"/>
                <c:pt idx="0">
                  <c:v>整体铺市率</c:v>
                </c:pt>
                <c:pt idx="1">
                  <c:v>口味王</c:v>
                </c:pt>
                <c:pt idx="2">
                  <c:v>和成天下</c:v>
                </c:pt>
                <c:pt idx="3">
                  <c:v>主竞品</c:v>
                </c:pt>
                <c:pt idx="6">
                  <c:v>高端铺市率</c:v>
                </c:pt>
              </c:strCache>
            </c:strRef>
          </c:cat>
          <c:val>
            <c:numRef>
              <c:f>[三分部12月市场小结.xlsx]Sheet1!$D$55:$J$55</c:f>
              <c:numCache>
                <c:formatCode>0%</c:formatCode>
                <c:ptCount val="7"/>
                <c:pt idx="0">
                  <c:v>1</c:v>
                </c:pt>
                <c:pt idx="1">
                  <c:v>0.95</c:v>
                </c:pt>
                <c:pt idx="2" c:formatCode="0.0%">
                  <c:v>0.975</c:v>
                </c:pt>
                <c:pt idx="3" c:formatCode="0.0%">
                  <c:v>0.575</c:v>
                </c:pt>
                <c:pt idx="6" c:formatCode="0.0%">
                  <c:v>0.725</c:v>
                </c:pt>
              </c:numCache>
            </c:numRef>
          </c:val>
        </c:ser>
        <c:dLbls>
          <c:showLegendKey val="0"/>
          <c:showVal val="0"/>
          <c:showCatName val="0"/>
          <c:showSerName val="0"/>
          <c:showPercent val="0"/>
          <c:showBubbleSize val="0"/>
        </c:dLbls>
        <c:gapWidth val="246"/>
        <c:overlap val="-28"/>
        <c:axId val="226559689"/>
        <c:axId val="978454657"/>
      </c:barChart>
      <c:catAx>
        <c:axId val="22655968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78454657"/>
        <c:crosses val="autoZero"/>
        <c:auto val="1"/>
        <c:lblAlgn val="ctr"/>
        <c:lblOffset val="100"/>
        <c:noMultiLvlLbl val="0"/>
      </c:catAx>
      <c:valAx>
        <c:axId val="978454657"/>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26559689"/>
        <c:crosses val="autoZero"/>
        <c:crossBetween val="between"/>
      </c:valAx>
      <c:spPr>
        <a:noFill/>
        <a:ln>
          <a:noFill/>
        </a:ln>
        <a:effectLst/>
      </c:spPr>
    </c:plotArea>
    <c:plotVisOnly val="1"/>
    <c:dispBlanksAs val="gap"/>
    <c:showDLblsOverMax val="0"/>
    <c:extLst>
      <c:ext uri="{0b15fc19-7d7d-44ad-8c2d-2c3a37ce22c3}">
        <chartProps xmlns="https://web.wps.cn/et/2018/main" chartId="{4424a1dd-0754-4104-924d-6aabc6e714be}"/>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兰考</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[三分部12月市场小结.xlsx]Sheet1!$D$75:$J$75</c:f>
              <c:strCache>
                <c:ptCount val="7"/>
                <c:pt idx="0">
                  <c:v>整体铺市率</c:v>
                </c:pt>
                <c:pt idx="1">
                  <c:v>口味王</c:v>
                </c:pt>
                <c:pt idx="2">
                  <c:v>和成天下</c:v>
                </c:pt>
                <c:pt idx="3">
                  <c:v>主竞品</c:v>
                </c:pt>
                <c:pt idx="6">
                  <c:v>高端铺市率</c:v>
                </c:pt>
              </c:strCache>
            </c:strRef>
          </c:cat>
          <c:val>
            <c:numRef>
              <c:f>[三分部12月市场小结.xlsx]Sheet1!$D$76:$J$76</c:f>
              <c:numCache>
                <c:formatCode>0%</c:formatCode>
                <c:ptCount val="7"/>
                <c:pt idx="0">
                  <c:v>1</c:v>
                </c:pt>
                <c:pt idx="1">
                  <c:v>1</c:v>
                </c:pt>
                <c:pt idx="2">
                  <c:v>1</c:v>
                </c:pt>
                <c:pt idx="3" c:formatCode="0.0%">
                  <c:v>0.325</c:v>
                </c:pt>
                <c:pt idx="6" c:formatCode="0.0%">
                  <c:v>0.925</c:v>
                </c:pt>
              </c:numCache>
            </c:numRef>
          </c:val>
        </c:ser>
        <c:dLbls>
          <c:showLegendKey val="0"/>
          <c:showVal val="0"/>
          <c:showCatName val="0"/>
          <c:showSerName val="0"/>
          <c:showPercent val="0"/>
          <c:showBubbleSize val="0"/>
        </c:dLbls>
        <c:gapWidth val="246"/>
        <c:overlap val="-28"/>
        <c:axId val="703675344"/>
        <c:axId val="366924783"/>
      </c:barChart>
      <c:catAx>
        <c:axId val="70367534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66924783"/>
        <c:crosses val="autoZero"/>
        <c:auto val="1"/>
        <c:lblAlgn val="ctr"/>
        <c:lblOffset val="100"/>
        <c:noMultiLvlLbl val="0"/>
      </c:catAx>
      <c:valAx>
        <c:axId val="366924783"/>
        <c:scaling>
          <c:orientation val="minMax"/>
        </c:scaling>
        <c:delete val="0"/>
        <c:axPos val="l"/>
        <c:majorGridlines>
          <c:spPr>
            <a:ln w="9525" cap="flat" cmpd="sng" algn="ctr">
              <a:solidFill>
                <a:schemeClr val="lt1">
                  <a:lumMod val="90200"/>
                </a:schemeClr>
              </a:solidFill>
              <a:round/>
            </a:ln>
            <a:effectLst/>
          </c:spPr>
        </c:majorGridlines>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03675344"/>
        <c:crosses val="autoZero"/>
        <c:crossBetween val="between"/>
      </c:valAx>
      <c:spPr>
        <a:noFill/>
        <a:ln>
          <a:noFill/>
        </a:ln>
        <a:effectLst/>
      </c:spPr>
    </c:plotArea>
    <c:plotVisOnly val="1"/>
    <c:dispBlanksAs val="gap"/>
    <c:showDLblsOverMax val="0"/>
    <c:extLst>
      <c:ext uri="{0b15fc19-7d7d-44ad-8c2d-2c3a37ce22c3}">
        <chartProps xmlns="https://web.wps.cn/et/2018/main" chartId="{b3d4224e-03de-4119-8eea-00fe8bed62fc}"/>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通许</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[三分部12月市场小结.xlsx]Sheet1!$D$99:$J$99</c:f>
              <c:strCache>
                <c:ptCount val="7"/>
                <c:pt idx="0">
                  <c:v>整体铺市率</c:v>
                </c:pt>
                <c:pt idx="1">
                  <c:v>口味王</c:v>
                </c:pt>
                <c:pt idx="2">
                  <c:v>和成天下</c:v>
                </c:pt>
                <c:pt idx="3">
                  <c:v>主竞品</c:v>
                </c:pt>
                <c:pt idx="6">
                  <c:v>高端铺市率</c:v>
                </c:pt>
              </c:strCache>
            </c:strRef>
          </c:cat>
          <c:val>
            <c:numRef>
              <c:f>[三分部12月市场小结.xlsx]Sheet1!$D$100:$J$100</c:f>
              <c:numCache>
                <c:formatCode>0.0%</c:formatCode>
                <c:ptCount val="7"/>
                <c:pt idx="0">
                  <c:v>0.975</c:v>
                </c:pt>
                <c:pt idx="1">
                  <c:v>0.975</c:v>
                </c:pt>
                <c:pt idx="2" c:formatCode="0%">
                  <c:v>0.95</c:v>
                </c:pt>
                <c:pt idx="3">
                  <c:v>0.375</c:v>
                </c:pt>
                <c:pt idx="6">
                  <c:v>0.625</c:v>
                </c:pt>
              </c:numCache>
            </c:numRef>
          </c:val>
        </c:ser>
        <c:dLbls>
          <c:showLegendKey val="0"/>
          <c:showVal val="0"/>
          <c:showCatName val="0"/>
          <c:showSerName val="0"/>
          <c:showPercent val="0"/>
          <c:showBubbleSize val="0"/>
        </c:dLbls>
        <c:gapWidth val="246"/>
        <c:overlap val="-28"/>
        <c:axId val="805087245"/>
        <c:axId val="368194131"/>
      </c:barChart>
      <c:catAx>
        <c:axId val="80508724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68194131"/>
        <c:crosses val="autoZero"/>
        <c:auto val="1"/>
        <c:lblAlgn val="ctr"/>
        <c:lblOffset val="100"/>
        <c:noMultiLvlLbl val="0"/>
      </c:catAx>
      <c:valAx>
        <c:axId val="368194131"/>
        <c:scaling>
          <c:orientation val="minMax"/>
        </c:scaling>
        <c:delete val="0"/>
        <c:axPos val="l"/>
        <c:majorGridlines>
          <c:spPr>
            <a:ln w="9525" cap="flat" cmpd="sng" algn="ctr">
              <a:solidFill>
                <a:schemeClr val="lt1">
                  <a:lumMod val="90200"/>
                </a:schemeClr>
              </a:solidFill>
              <a:round/>
            </a:ln>
            <a:effectLst/>
          </c:spPr>
        </c:majorGridlines>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05087245"/>
        <c:crosses val="autoZero"/>
        <c:crossBetween val="between"/>
      </c:valAx>
      <c:spPr>
        <a:noFill/>
        <a:ln>
          <a:noFill/>
        </a:ln>
        <a:effectLst/>
      </c:spPr>
    </c:plotArea>
    <c:plotVisOnly val="1"/>
    <c:dispBlanksAs val="gap"/>
    <c:showDLblsOverMax val="0"/>
    <c:extLst>
      <c:ext uri="{0b15fc19-7d7d-44ad-8c2d-2c3a37ce22c3}">
        <chartProps xmlns="https://web.wps.cn/et/2018/main" chartId="{450b838c-1aac-4fbc-ab77-5ef6635d7d5b}"/>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淮阳</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[三分部12月市场小结.xlsx]Sheet1!$D$126:$J$126</c:f>
              <c:strCache>
                <c:ptCount val="7"/>
                <c:pt idx="0">
                  <c:v>整体铺市率</c:v>
                </c:pt>
                <c:pt idx="1">
                  <c:v>口味王</c:v>
                </c:pt>
                <c:pt idx="2">
                  <c:v>和成天下</c:v>
                </c:pt>
                <c:pt idx="3">
                  <c:v>主竞品</c:v>
                </c:pt>
                <c:pt idx="6">
                  <c:v>高端铺市率</c:v>
                </c:pt>
              </c:strCache>
            </c:strRef>
          </c:cat>
          <c:val>
            <c:numRef>
              <c:f>[三分部12月市场小结.xlsx]Sheet1!$D$127:$J$127</c:f>
              <c:numCache>
                <c:formatCode>0.0%</c:formatCode>
                <c:ptCount val="7"/>
                <c:pt idx="0">
                  <c:v>0.975</c:v>
                </c:pt>
                <c:pt idx="1">
                  <c:v>0.975</c:v>
                </c:pt>
                <c:pt idx="2">
                  <c:v>0.975</c:v>
                </c:pt>
                <c:pt idx="3" c:formatCode="0%">
                  <c:v>0.3</c:v>
                </c:pt>
                <c:pt idx="6">
                  <c:v>0.825</c:v>
                </c:pt>
              </c:numCache>
            </c:numRef>
          </c:val>
        </c:ser>
        <c:dLbls>
          <c:showLegendKey val="0"/>
          <c:showVal val="0"/>
          <c:showCatName val="0"/>
          <c:showSerName val="0"/>
          <c:showPercent val="0"/>
          <c:showBubbleSize val="0"/>
        </c:dLbls>
        <c:gapWidth val="246"/>
        <c:overlap val="-28"/>
        <c:axId val="397100584"/>
        <c:axId val="41686469"/>
      </c:barChart>
      <c:catAx>
        <c:axId val="39710058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41686469"/>
        <c:crosses val="autoZero"/>
        <c:auto val="1"/>
        <c:lblAlgn val="ctr"/>
        <c:lblOffset val="100"/>
        <c:noMultiLvlLbl val="0"/>
      </c:catAx>
      <c:valAx>
        <c:axId val="41686469"/>
        <c:scaling>
          <c:orientation val="minMax"/>
        </c:scaling>
        <c:delete val="0"/>
        <c:axPos val="l"/>
        <c:majorGridlines>
          <c:spPr>
            <a:ln w="9525" cap="flat" cmpd="sng" algn="ctr">
              <a:solidFill>
                <a:schemeClr val="lt1">
                  <a:lumMod val="90200"/>
                </a:schemeClr>
              </a:solidFill>
              <a:round/>
            </a:ln>
            <a:effectLst/>
          </c:spPr>
        </c:majorGridlines>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97100584"/>
        <c:crosses val="autoZero"/>
        <c:crossBetween val="between"/>
      </c:valAx>
      <c:spPr>
        <a:noFill/>
        <a:ln>
          <a:noFill/>
        </a:ln>
        <a:effectLst/>
      </c:spPr>
    </c:plotArea>
    <c:plotVisOnly val="1"/>
    <c:dispBlanksAs val="gap"/>
    <c:showDLblsOverMax val="0"/>
    <c:extLst>
      <c:ext uri="{0b15fc19-7d7d-44ad-8c2d-2c3a37ce22c3}">
        <chartProps xmlns="https://web.wps.cn/et/2018/main" chartId="{b18732f9-5597-4300-8d8e-a06baa1f5e9f}"/>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上蔡</a:t>
            </a:r>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chemeClr val="accent6">
                  <a:lumMod val="40000"/>
                  <a:lumOff val="60000"/>
                </a:schemeClr>
              </a:solidFill>
              <a:ln>
                <a:noFill/>
              </a:ln>
              <a:effectLst/>
            </c:spPr>
          </c:dPt>
          <c:dPt>
            <c:idx val="1"/>
            <c:invertIfNegative val="0"/>
            <c:bubble3D val="0"/>
            <c:spPr>
              <a:solidFill>
                <a:schemeClr val="accent4">
                  <a:lumMod val="40000"/>
                  <a:lumOff val="60000"/>
                </a:schemeClr>
              </a:solidFill>
              <a:ln>
                <a:noFill/>
              </a:ln>
              <a:effectLst/>
            </c:spPr>
          </c:dPt>
          <c:dPt>
            <c:idx val="2"/>
            <c:invertIfNegative val="0"/>
            <c:bubble3D val="0"/>
            <c:spPr>
              <a:solidFill>
                <a:schemeClr val="accent2">
                  <a:lumMod val="40000"/>
                  <a:lumOff val="60000"/>
                </a:schemeClr>
              </a:solidFill>
              <a:ln>
                <a:noFill/>
              </a:ln>
              <a:effectLst/>
            </c:spPr>
          </c:dPt>
          <c:dPt>
            <c:idx val="3"/>
            <c:invertIfNegative val="0"/>
            <c:bubble3D val="0"/>
            <c:spPr>
              <a:solidFill>
                <a:schemeClr val="bg2">
                  <a:lumMod val="75000"/>
                </a:schemeClr>
              </a:solidFill>
              <a:ln>
                <a:noFill/>
              </a:ln>
              <a:effectLst/>
            </c:spPr>
          </c:dPt>
          <c:dPt>
            <c:idx val="6"/>
            <c:invertIfNegative val="0"/>
            <c:bubble3D val="0"/>
            <c:spPr>
              <a:gradFill>
                <a:gsLst>
                  <a:gs pos="0">
                    <a:schemeClr val="bg1"/>
                  </a:gs>
                  <a:gs pos="42000">
                    <a:srgbClr val="6ACCF2"/>
                  </a:gs>
                  <a:gs pos="100000">
                    <a:srgbClr val="2497EA"/>
                  </a:gs>
                </a:gsLst>
                <a:lin ang="8100000" scaled="1"/>
              </a:gradFill>
              <a:ln>
                <a:no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[三分部12月市场小结.xlsx]Sheet1!$E$146:$K$146</c:f>
              <c:strCache>
                <c:ptCount val="7"/>
                <c:pt idx="0">
                  <c:v>整体铺市率</c:v>
                </c:pt>
                <c:pt idx="1">
                  <c:v>口味王</c:v>
                </c:pt>
                <c:pt idx="2">
                  <c:v>和成天下</c:v>
                </c:pt>
                <c:pt idx="3">
                  <c:v>主竞品</c:v>
                </c:pt>
                <c:pt idx="6">
                  <c:v>高端铺市率</c:v>
                </c:pt>
              </c:strCache>
            </c:strRef>
          </c:cat>
          <c:val>
            <c:numRef>
              <c:f>[三分部12月市场小结.xlsx]Sheet1!$E$147:$K$147</c:f>
              <c:numCache>
                <c:formatCode>0.0%</c:formatCode>
                <c:ptCount val="7"/>
                <c:pt idx="0">
                  <c:v>0.975</c:v>
                </c:pt>
                <c:pt idx="1" c:formatCode="0%">
                  <c:v>0.95</c:v>
                </c:pt>
                <c:pt idx="2">
                  <c:v>0.975</c:v>
                </c:pt>
                <c:pt idx="3">
                  <c:v>0.825</c:v>
                </c:pt>
                <c:pt idx="6">
                  <c:v>0.825</c:v>
                </c:pt>
              </c:numCache>
            </c:numRef>
          </c:val>
        </c:ser>
        <c:dLbls>
          <c:showLegendKey val="0"/>
          <c:showVal val="0"/>
          <c:showCatName val="0"/>
          <c:showSerName val="0"/>
          <c:showPercent val="0"/>
          <c:showBubbleSize val="0"/>
        </c:dLbls>
        <c:gapWidth val="246"/>
        <c:overlap val="-28"/>
        <c:axId val="140807625"/>
        <c:axId val="198055801"/>
      </c:barChart>
      <c:catAx>
        <c:axId val="14080762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98055801"/>
        <c:crosses val="autoZero"/>
        <c:auto val="1"/>
        <c:lblAlgn val="ctr"/>
        <c:lblOffset val="100"/>
        <c:noMultiLvlLbl val="0"/>
      </c:catAx>
      <c:valAx>
        <c:axId val="198055801"/>
        <c:scaling>
          <c:orientation val="minMax"/>
        </c:scaling>
        <c:delete val="0"/>
        <c:axPos val="l"/>
        <c:majorGridlines>
          <c:spPr>
            <a:ln w="9525" cap="flat" cmpd="sng" algn="ctr">
              <a:solidFill>
                <a:schemeClr val="lt1">
                  <a:lumMod val="90200"/>
                </a:schemeClr>
              </a:solidFill>
              <a:round/>
            </a:ln>
            <a:effectLst/>
          </c:spPr>
        </c:majorGridlines>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40807625"/>
        <c:crosses val="autoZero"/>
        <c:crossBetween val="between"/>
      </c:valAx>
      <c:spPr>
        <a:noFill/>
        <a:ln>
          <a:noFill/>
        </a:ln>
        <a:effectLst/>
      </c:spPr>
    </c:plotArea>
    <c:plotVisOnly val="1"/>
    <c:dispBlanksAs val="gap"/>
    <c:showDLblsOverMax val="0"/>
    <c:extLst>
      <c:ext uri="{0b15fc19-7d7d-44ad-8c2d-2c3a37ce22c3}">
        <chartProps xmlns="https://web.wps.cn/et/2018/main" chartId="{e270bb7f-4a3c-429f-b903-187f148ac6e9}"/>
      </c:ext>
    </c:extLst>
  </c:chart>
  <c:spPr>
    <a:solidFill>
      <a:schemeClr val="bg1"/>
    </a:solidFill>
    <a:ln w="9525" cap="flat" cmpd="sng" algn="ctr">
      <a:solidFill>
        <a:schemeClr val="accent4">
          <a:lumMod val="60000"/>
          <a:lumOff val="40000"/>
        </a:schemeClr>
      </a:solidFill>
      <a:round/>
    </a:ln>
    <a:effectLst/>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郑州南</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[三分部12月市场小结.xlsx]Sheet1!$F$172:$I$172</c:f>
              <c:strCache>
                <c:ptCount val="4"/>
                <c:pt idx="0">
                  <c:v>口味王</c:v>
                </c:pt>
                <c:pt idx="1">
                  <c:v>和成天下</c:v>
                </c:pt>
                <c:pt idx="2">
                  <c:v>主竞品</c:v>
                </c:pt>
                <c:pt idx="3">
                  <c:v>其他</c:v>
                </c:pt>
              </c:strCache>
            </c:strRef>
          </c:cat>
          <c:val>
            <c:numRef>
              <c:f>[三分部12月市场小结.xlsx]Sheet1!$F$173:$I$173</c:f>
              <c:numCache>
                <c:formatCode>0%</c:formatCode>
                <c:ptCount val="4"/>
                <c:pt idx="0">
                  <c:v>0.26</c:v>
                </c:pt>
                <c:pt idx="1">
                  <c:v>0.32</c:v>
                </c:pt>
                <c:pt idx="2">
                  <c:v>0.15</c:v>
                </c:pt>
                <c:pt idx="3">
                  <c:v>0.27</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f395944d-b96b-4a44-9e3a-950f9334f1ea}"/>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偃师</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[三分部12月市场小结.xlsx]Sheet1!$E$187:$H$187</c:f>
              <c:strCache>
                <c:ptCount val="4"/>
                <c:pt idx="0">
                  <c:v>口味王</c:v>
                </c:pt>
                <c:pt idx="1">
                  <c:v>和成天下</c:v>
                </c:pt>
                <c:pt idx="2">
                  <c:v>主竞品</c:v>
                </c:pt>
                <c:pt idx="3">
                  <c:v>其他</c:v>
                </c:pt>
              </c:strCache>
            </c:strRef>
          </c:cat>
          <c:val>
            <c:numRef>
              <c:f>[三分部12月市场小结.xlsx]Sheet1!$E$188:$H$188</c:f>
              <c:numCache>
                <c:formatCode>0%</c:formatCode>
                <c:ptCount val="4"/>
                <c:pt idx="0">
                  <c:v>0.15</c:v>
                </c:pt>
                <c:pt idx="1">
                  <c:v>0.35</c:v>
                </c:pt>
                <c:pt idx="2">
                  <c:v>0.4</c:v>
                </c:pt>
                <c:pt idx="3">
                  <c:v>0.1</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73ec254c-810e-4a80-b685-7a2c54355e3e}"/>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中原</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[三分部12月市场小结.xlsx]Sheet1!$E$201:$H$201</c:f>
              <c:strCache>
                <c:ptCount val="4"/>
                <c:pt idx="0">
                  <c:v>口味王</c:v>
                </c:pt>
                <c:pt idx="1">
                  <c:v>和成天下</c:v>
                </c:pt>
                <c:pt idx="2">
                  <c:v>主竞品</c:v>
                </c:pt>
                <c:pt idx="3">
                  <c:v>其他</c:v>
                </c:pt>
              </c:strCache>
            </c:strRef>
          </c:cat>
          <c:val>
            <c:numRef>
              <c:f>[三分部12月市场小结.xlsx]Sheet1!$E$202:$H$202</c:f>
              <c:numCache>
                <c:formatCode>0%</c:formatCode>
                <c:ptCount val="4"/>
                <c:pt idx="0">
                  <c:v>0.2</c:v>
                </c:pt>
                <c:pt idx="1">
                  <c:v>0.37</c:v>
                </c:pt>
                <c:pt idx="2">
                  <c:v>0.08</c:v>
                </c:pt>
                <c:pt idx="3">
                  <c:v>0.35</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f6926d06-0636-494b-b4c4-0c5162bf02b8}"/>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兰考</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[三分部12月市场小结.xlsx]Sheet1!$H$208:$K$208</c:f>
              <c:strCache>
                <c:ptCount val="4"/>
                <c:pt idx="0">
                  <c:v>口味王</c:v>
                </c:pt>
                <c:pt idx="1">
                  <c:v>和成天下</c:v>
                </c:pt>
                <c:pt idx="2">
                  <c:v>主竞品</c:v>
                </c:pt>
                <c:pt idx="3">
                  <c:v>其他</c:v>
                </c:pt>
              </c:strCache>
            </c:strRef>
          </c:cat>
          <c:val>
            <c:numRef>
              <c:f>[三分部12月市场小结.xlsx]Sheet1!$H$209:$K$209</c:f>
              <c:numCache>
                <c:formatCode>0%</c:formatCode>
                <c:ptCount val="4"/>
                <c:pt idx="0">
                  <c:v>0.39</c:v>
                </c:pt>
                <c:pt idx="1">
                  <c:v>0.23</c:v>
                </c:pt>
                <c:pt idx="2">
                  <c:v>0.08</c:v>
                </c:pt>
                <c:pt idx="3">
                  <c:v>0.3</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d6e47f45-bc1a-481b-a9d3-dd256b5354a4}"/>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通许</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[三分部12月市场小结.xlsx]Sheet1!$E$229:$H$229</c:f>
              <c:strCache>
                <c:ptCount val="4"/>
                <c:pt idx="0">
                  <c:v>口味王</c:v>
                </c:pt>
                <c:pt idx="1">
                  <c:v>和成天下</c:v>
                </c:pt>
                <c:pt idx="2">
                  <c:v>主竞品</c:v>
                </c:pt>
                <c:pt idx="3">
                  <c:v>其他</c:v>
                </c:pt>
              </c:strCache>
            </c:strRef>
          </c:cat>
          <c:val>
            <c:numRef>
              <c:f>[三分部12月市场小结.xlsx]Sheet1!$E$230:$H$230</c:f>
              <c:numCache>
                <c:formatCode>0%</c:formatCode>
                <c:ptCount val="4"/>
                <c:pt idx="0">
                  <c:v>0.4</c:v>
                </c:pt>
                <c:pt idx="1">
                  <c:v>0.25</c:v>
                </c:pt>
                <c:pt idx="2">
                  <c:v>0.08</c:v>
                </c:pt>
                <c:pt idx="3">
                  <c:v>0.27</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8664b7ed-3f98-4f91-b033-73219ec1959f}"/>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淮阳</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[三分部12月市场小结.xlsx]Sheet1!$E$238:$H$238</c:f>
              <c:strCache>
                <c:ptCount val="4"/>
                <c:pt idx="0">
                  <c:v>口味王</c:v>
                </c:pt>
                <c:pt idx="1">
                  <c:v>和成天下</c:v>
                </c:pt>
                <c:pt idx="2">
                  <c:v>主竞品</c:v>
                </c:pt>
                <c:pt idx="3">
                  <c:v>其他</c:v>
                </c:pt>
              </c:strCache>
            </c:strRef>
          </c:cat>
          <c:val>
            <c:numRef>
              <c:f>[三分部12月市场小结.xlsx]Sheet1!$E$239:$H$239</c:f>
              <c:numCache>
                <c:formatCode>0%</c:formatCode>
                <c:ptCount val="4"/>
                <c:pt idx="0">
                  <c:v>0.42</c:v>
                </c:pt>
                <c:pt idx="1">
                  <c:v>0.28</c:v>
                </c:pt>
                <c:pt idx="2">
                  <c:v>0.1</c:v>
                </c:pt>
                <c:pt idx="3">
                  <c:v>0.2</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5280dada-2005-467a-aaad-7bbd820bd49f}"/>
      </c:ext>
    </c:extLst>
  </c:chart>
  <c:spPr>
    <a:no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forceAA="0"/>
          <a:lstStyle/>
          <a:p>
            <a:pPr defTabSz="914400">
              <a:defRPr lang="zh-CN" sz="1400" b="0" i="0" u="none" strike="noStrike" kern="1200" spc="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b="1">
                <a:latin typeface="+mn-lt"/>
                <a:ea typeface="+mn-lt"/>
              </a:rPr>
              <a:t>上蔡</a:t>
            </a:r>
            <a:endParaRPr b="1">
              <a:latin typeface="+mn-lt"/>
              <a:ea typeface="+mn-lt"/>
            </a:endParaRPr>
          </a:p>
        </c:rich>
      </c:tx>
      <c:layout/>
      <c:overlay val="0"/>
      <c:spPr>
        <a:noFill/>
        <a:ln>
          <a:noFill/>
        </a:ln>
        <a:effectLst/>
      </c:spPr>
    </c:title>
    <c:autoTitleDeleted val="0"/>
    <c:plotArea>
      <c:layout/>
      <c:pieChart>
        <c:varyColors val="1"/>
        <c:ser>
          <c:idx val="0"/>
          <c:order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explosion val="0"/>
          <c:dPt>
            <c:idx val="0"/>
            <c:bubble3D val="0"/>
            <c:spPr>
              <a:gradFill>
                <a:gsLst>
                  <a:gs pos="0">
                    <a:schemeClr val="accent1">
                      <a:lumMod val="60000"/>
                      <a:lumOff val="40000"/>
                    </a:schemeClr>
                  </a:gs>
                  <a:gs pos="100000">
                    <a:schemeClr val="accent1">
                      <a:lumMod val="75000"/>
                    </a:schemeClr>
                  </a:gs>
                </a:gsLst>
                <a:lin ang="5400000" scaled="1"/>
              </a:gradFill>
              <a:ln w="25400">
                <a:solidFill>
                  <a:schemeClr val="accent1"/>
                </a:solidFill>
              </a:ln>
              <a:effectLst>
                <a:outerShdw blurRad="50800" dist="38100" dir="2700000" algn="tl" rotWithShape="0">
                  <a:schemeClr val="accent1">
                    <a:alpha val="40000"/>
                  </a:schemeClr>
                </a:outerShdw>
              </a:effectLst>
            </c:spPr>
          </c:dPt>
          <c:dPt>
            <c:idx val="1"/>
            <c:bubble3D val="0"/>
            <c:spPr>
              <a:gradFill>
                <a:gsLst>
                  <a:gs pos="0">
                    <a:schemeClr val="accent2">
                      <a:lumMod val="60000"/>
                      <a:lumOff val="40000"/>
                    </a:schemeClr>
                  </a:gs>
                  <a:gs pos="100000">
                    <a:schemeClr val="accent2">
                      <a:lumMod val="75000"/>
                    </a:schemeClr>
                  </a:gs>
                </a:gsLst>
                <a:lin ang="5400000" scaled="1"/>
              </a:gradFill>
              <a:ln w="25400">
                <a:solidFill>
                  <a:schemeClr val="accent2"/>
                </a:solidFill>
              </a:ln>
              <a:effectLst>
                <a:outerShdw blurRad="50800" dist="38100" dir="2700000" algn="tl" rotWithShape="0">
                  <a:schemeClr val="accent2">
                    <a:alpha val="40000"/>
                  </a:schemeClr>
                </a:outerShdw>
              </a:effectLst>
            </c:spPr>
          </c:dPt>
          <c:dPt>
            <c:idx val="2"/>
            <c:bubble3D val="0"/>
            <c:spPr>
              <a:gradFill>
                <a:gsLst>
                  <a:gs pos="0">
                    <a:schemeClr val="accent3">
                      <a:lumMod val="40000"/>
                      <a:lumOff val="60000"/>
                    </a:schemeClr>
                  </a:gs>
                  <a:gs pos="100000">
                    <a:schemeClr val="accent3">
                      <a:lumMod val="75000"/>
                    </a:schemeClr>
                  </a:gs>
                </a:gsLst>
                <a:lin ang="5400000" scaled="1"/>
              </a:gradFill>
              <a:ln w="25400">
                <a:solidFill>
                  <a:schemeClr val="accent3"/>
                </a:solidFill>
              </a:ln>
              <a:effectLst>
                <a:outerShdw blurRad="50800" dist="38100" dir="2700000" algn="tl" rotWithShape="0">
                  <a:schemeClr val="accent3">
                    <a:alpha val="40000"/>
                  </a:schemeClr>
                </a:outerShdw>
              </a:effectLst>
            </c:spPr>
          </c:dPt>
          <c:dPt>
            <c:idx val="3"/>
            <c:bubble3D val="0"/>
            <c:spPr>
              <a:gradFill>
                <a:gsLst>
                  <a:gs pos="0">
                    <a:schemeClr val="accent4">
                      <a:lumMod val="40000"/>
                      <a:lumOff val="60000"/>
                    </a:schemeClr>
                  </a:gs>
                  <a:gs pos="100000">
                    <a:schemeClr val="accent4">
                      <a:lumMod val="75000"/>
                    </a:schemeClr>
                  </a:gs>
                </a:gsLst>
                <a:lin ang="5400000" scaled="1"/>
              </a:gradFill>
              <a:ln w="25400">
                <a:solidFill>
                  <a:schemeClr val="accent4"/>
                </a:solidFill>
              </a:ln>
              <a:effectLst>
                <a:outerShdw blurRad="50800" dist="38100" dir="2700000" algn="tl" rotWithShape="0">
                  <a:schemeClr val="accent4">
                    <a:alpha val="40000"/>
                  </a:schemeClr>
                </a:outerShdw>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cap="none" spc="0" normalizeH="0" baseline="0">
                    <a:solidFill>
                      <a:schemeClr val="tx1"/>
                    </a:solidFill>
                    <a:uFill>
                      <a:solidFill>
                        <a:schemeClr val="bg1"/>
                      </a:solidFill>
                    </a:uFill>
                    <a:latin typeface="宋体" panose="02010600030101010101" pitchFamily="2" charset="-122"/>
                    <a:ea typeface="宋体" panose="02010600030101010101" pitchFamily="2" charset="-122"/>
                    <a:cs typeface="微软雅黑" panose="020B0503020204020204" pitchFamily="34" charset="-122"/>
                    <a:sym typeface="微软雅黑" panose="020B0503020204020204" pitchFamily="34" charset="-122"/>
                  </a:defRPr>
                </a:pPr>
              </a:p>
            </c:txPr>
            <c:dLblPos val="inEnd"/>
            <c:showLegendKey val="0"/>
            <c:showVal val="1"/>
            <c:showCatName val="1"/>
            <c:showSerName val="0"/>
            <c:showPercent val="0"/>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[三分部12月市场小结.xlsx]Sheet1!$E$249:$H$249</c:f>
              <c:strCache>
                <c:ptCount val="4"/>
                <c:pt idx="0">
                  <c:v>口味王</c:v>
                </c:pt>
                <c:pt idx="1">
                  <c:v>和成天下</c:v>
                </c:pt>
                <c:pt idx="2">
                  <c:v>主竞品</c:v>
                </c:pt>
                <c:pt idx="3">
                  <c:v>其他</c:v>
                </c:pt>
              </c:strCache>
            </c:strRef>
          </c:cat>
          <c:val>
            <c:numRef>
              <c:f>[三分部12月市场小结.xlsx]Sheet1!$E$250:$H$250</c:f>
              <c:numCache>
                <c:formatCode>0%</c:formatCode>
                <c:ptCount val="4"/>
                <c:pt idx="0">
                  <c:v>0.32</c:v>
                </c:pt>
                <c:pt idx="1">
                  <c:v>0.33</c:v>
                </c:pt>
                <c:pt idx="2">
                  <c:v>0.23</c:v>
                </c:pt>
                <c:pt idx="3">
                  <c:v>0.12</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e9d6ff2c-abdb-4939-993c-275ccd93edac}"/>
      </c:ext>
    </c:extLst>
  </c:chart>
  <c:spPr>
    <a:solidFill>
      <a:schemeClr val="bg1"/>
    </a:solidFill>
    <a:ln w="6350"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4810B7-C3EC-4590-9CDD-57AB5697FE3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D7F19B-21FF-427A-B452-A9722EBD246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2250" y="809625"/>
            <a:ext cx="7183438" cy="40401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63622BD-B18B-4F1D-8806-94D26F57713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CF1AEF6-6C3F-49C7-80B5-E4DC430996DD}"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000000"/>
              </a:solidFill>
              <a:effectLst/>
              <a:uLnTx/>
              <a:uFillTx/>
              <a:latin typeface="Calibri" panose="020F050202020403020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幻灯片图像占位符 1"/>
          <p:cNvSpPr>
            <a:spLocks noGrp="1" noRot="1"/>
          </p:cNvSpPr>
          <p:nvPr>
            <p:ph type="sldImg"/>
          </p:nvPr>
        </p:nvSpPr>
        <p:spPr/>
      </p:sp>
      <p:sp>
        <p:nvSpPr>
          <p:cNvPr id="27650" name="文本占位符 2"/>
          <p:cNvSpPr>
            <a:spLocks noGrp="1"/>
          </p:cNvSpPr>
          <p:nvPr>
            <p:ph type="body"/>
          </p:nvPr>
        </p:nvSpPr>
        <p:spPr/>
        <p:txBody>
          <a:bodyPr wrap="square" lIns="91367" tIns="45683" rIns="91367" bIns="45683" anchor="t" anchorCtr="0"/>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pic>
        <p:nvPicPr>
          <p:cNvPr id="2097187" name="Picture 3" descr="C:\Users\Administrator\Desktop\无题会话5919.jpg"/>
          <p:cNvPicPr>
            <a:picLocks noChangeAspect="1" noChangeArrowheads="1"/>
          </p:cNvPicPr>
          <p:nvPr userDrawn="1"/>
        </p:nvPicPr>
        <p:blipFill>
          <a:blip r:embed="rId2" cstate="print"/>
          <a:srcRect t="12500" b="6868"/>
          <a:stretch>
            <a:fillRect/>
          </a:stretch>
        </p:blipFill>
        <p:spPr bwMode="auto">
          <a:xfrm>
            <a:off x="1" y="0"/>
            <a:ext cx="12192000" cy="6553200"/>
          </a:xfrm>
          <a:prstGeom prst="rect">
            <a:avLst/>
          </a:prstGeom>
          <a:noFill/>
        </p:spPr>
      </p:pic>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9621299-E2ED-4F60-914D-98EA46D4DE5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630585F-DF6D-4B2F-861D-CDE367FB6F8F}"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pic>
        <p:nvPicPr>
          <p:cNvPr id="2097187" name="Picture 3" descr="C:\Users\Administrator\Desktop\无题会话5919.jpg"/>
          <p:cNvPicPr>
            <a:picLocks noChangeAspect="1" noChangeArrowheads="1"/>
          </p:cNvPicPr>
          <p:nvPr userDrawn="1"/>
        </p:nvPicPr>
        <p:blipFill>
          <a:blip r:embed="rId2" cstate="print"/>
          <a:srcRect t="12500" b="6868"/>
          <a:stretch>
            <a:fillRect/>
          </a:stretch>
        </p:blipFill>
        <p:spPr bwMode="auto">
          <a:xfrm>
            <a:off x="1" y="0"/>
            <a:ext cx="12192000" cy="6553200"/>
          </a:xfrm>
          <a:prstGeom prst="rect">
            <a:avLst/>
          </a:prstGeom>
          <a:noFill/>
        </p:spPr>
      </p:pic>
    </p:spTree>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5" Type="http://schemas.openxmlformats.org/officeDocument/2006/relationships/theme" Target="../theme/theme2.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621299-E2ED-4F60-914D-98EA46D4DE5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30585F-DF6D-4B2F-861D-CDE367FB6F8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621299-E2ED-4F60-914D-98EA46D4DE5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30585F-DF6D-4B2F-861D-CDE367FB6F8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6.png"/><Relationship Id="rId7" Type="http://schemas.openxmlformats.org/officeDocument/2006/relationships/chart" Target="../charts/chart7.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7" Type="http://schemas.openxmlformats.org/officeDocument/2006/relationships/slideLayout" Target="../slideLayouts/slideLayout13.xml"/><Relationship Id="rId16" Type="http://schemas.openxmlformats.org/officeDocument/2006/relationships/image" Target="../media/image7.jpeg"/><Relationship Id="rId15" Type="http://schemas.openxmlformats.org/officeDocument/2006/relationships/tags" Target="../tags/tag8.xml"/><Relationship Id="rId14" Type="http://schemas.openxmlformats.org/officeDocument/2006/relationships/image" Target="../media/image2.png"/><Relationship Id="rId13" Type="http://schemas.openxmlformats.org/officeDocument/2006/relationships/tags" Target="../tags/tag7.xml"/><Relationship Id="rId12" Type="http://schemas.openxmlformats.org/officeDocument/2006/relationships/tags" Target="../tags/tag6.xml"/><Relationship Id="rId11" Type="http://schemas.openxmlformats.org/officeDocument/2006/relationships/tags" Target="../tags/tag5.xml"/><Relationship Id="rId10" Type="http://schemas.openxmlformats.org/officeDocument/2006/relationships/tags" Target="../tags/tag4.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image" Target="../media/image6.png"/><Relationship Id="rId7" Type="http://schemas.openxmlformats.org/officeDocument/2006/relationships/chart" Target="../charts/chart14.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chart" Target="../charts/chart11.xml"/><Relationship Id="rId3" Type="http://schemas.openxmlformats.org/officeDocument/2006/relationships/chart" Target="../charts/chart10.xml"/><Relationship Id="rId2" Type="http://schemas.openxmlformats.org/officeDocument/2006/relationships/chart" Target="../charts/chart9.xml"/><Relationship Id="rId17" Type="http://schemas.openxmlformats.org/officeDocument/2006/relationships/slideLayout" Target="../slideLayouts/slideLayout13.xml"/><Relationship Id="rId16" Type="http://schemas.openxmlformats.org/officeDocument/2006/relationships/image" Target="../media/image7.jpeg"/><Relationship Id="rId15" Type="http://schemas.openxmlformats.org/officeDocument/2006/relationships/tags" Target="../tags/tag14.xml"/><Relationship Id="rId14" Type="http://schemas.openxmlformats.org/officeDocument/2006/relationships/image" Target="../media/image2.png"/><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chart" Target="../charts/chart8.xml"/></Relationships>
</file>

<file path=ppt/slides/_rels/slide6.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tags" Target="../tags/tag20.xml"/><Relationship Id="rId7" Type="http://schemas.openxmlformats.org/officeDocument/2006/relationships/image" Target="../media/image2.png"/><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0" Type="http://schemas.openxmlformats.org/officeDocument/2006/relationships/slideLayout" Target="../slideLayouts/slideLayout13.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tags" Target="../tags/tag26.xml"/><Relationship Id="rId7" Type="http://schemas.openxmlformats.org/officeDocument/2006/relationships/image" Target="../media/image2.png"/><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0" Type="http://schemas.openxmlformats.org/officeDocument/2006/relationships/slideLayout" Target="../slideLayouts/slideLayout1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image" Target="../media/image2.png"/><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image" Target="../media/image2.png"/><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2.png"/><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2" Type="http://schemas.openxmlformats.org/officeDocument/2006/relationships/slideLayout" Target="../slideLayouts/slideLayout13.xml"/><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2.png"/><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2.png"/><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2.png"/><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2.png"/><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6.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21.xml"/><Relationship Id="rId7" Type="http://schemas.openxmlformats.org/officeDocument/2006/relationships/image" Target="../media/image2.png"/><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image" Target="../media/image2.png"/><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5.xml"/><Relationship Id="rId2" Type="http://schemas.openxmlformats.org/officeDocument/2006/relationships/image" Target="../media/image13.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5"/>
          <p:cNvSpPr/>
          <p:nvPr/>
        </p:nvSpPr>
        <p:spPr>
          <a:xfrm>
            <a:off x="4333557" y="5735538"/>
            <a:ext cx="3197225" cy="274955"/>
          </a:xfrm>
          <a:prstGeom prst="rect">
            <a:avLst/>
          </a:prstGeom>
          <a:noFill/>
          <a:ln>
            <a:noFill/>
          </a:ln>
        </p:spPr>
        <p:txBody>
          <a:bodyPr vert="horz" wrap="square" lIns="36000" tIns="18000" rIns="36000" bIns="18000" anchor="ctr">
            <a:spAutoFit/>
          </a:bodyPr>
          <a:lstStyle>
            <a:lvl1pPr marL="342900" indent="-342900" algn="l" rtl="0" fontAlgn="base" latinLnBrk="1">
              <a:lnSpc>
                <a:spcPct val="100000"/>
              </a:lnSpc>
              <a:spcBef>
                <a:spcPct val="20000"/>
              </a:spcBef>
              <a:spcAft>
                <a:spcPct val="0"/>
              </a:spcAft>
              <a:buSzPct val="100000"/>
              <a:buFont typeface="Arial" panose="020B0604020202020204" pitchFamily="34" charset="0"/>
              <a:buChar char="•"/>
              <a:defRPr sz="3200" b="0" i="0" u="none" baseline="0">
                <a:solidFill>
                  <a:schemeClr val="dk1"/>
                </a:solidFill>
                <a:latin typeface="Calibri" panose="020F0502020204030204" charset="0"/>
                <a:ea typeface="宋体" panose="02010600030101010101" pitchFamily="2" charset="-122"/>
                <a:sym typeface="Arial" panose="020B0604020202020204" pitchFamily="34" charset="0"/>
              </a:defRPr>
            </a:lvl1pPr>
            <a:lvl2pPr marL="742950" indent="-285750" algn="l" rtl="0" fontAlgn="base" latinLnBrk="1">
              <a:lnSpc>
                <a:spcPct val="100000"/>
              </a:lnSpc>
              <a:spcBef>
                <a:spcPct val="20000"/>
              </a:spcBef>
              <a:spcAft>
                <a:spcPct val="0"/>
              </a:spcAft>
              <a:buSzPct val="100000"/>
              <a:buFont typeface="Arial" panose="020B0604020202020204" pitchFamily="34" charset="0"/>
              <a:buChar char="–"/>
              <a:defRPr sz="2800" b="0" i="0" u="none" baseline="0">
                <a:solidFill>
                  <a:schemeClr val="dk1"/>
                </a:solidFill>
                <a:latin typeface="Calibri" panose="020F0502020204030204" charset="0"/>
                <a:ea typeface="宋体" panose="02010600030101010101" pitchFamily="2" charset="-122"/>
                <a:sym typeface="Arial" panose="020B0604020202020204" pitchFamily="34" charset="0"/>
              </a:defRPr>
            </a:lvl2pPr>
            <a:lvl3pPr marL="1143000" indent="-228600" algn="l" rtl="0" fontAlgn="base" latinLnBrk="1">
              <a:lnSpc>
                <a:spcPct val="100000"/>
              </a:lnSpc>
              <a:spcBef>
                <a:spcPct val="20000"/>
              </a:spcBef>
              <a:spcAft>
                <a:spcPct val="0"/>
              </a:spcAft>
              <a:buSzPct val="100000"/>
              <a:buFont typeface="Arial" panose="020B0604020202020204" pitchFamily="34" charset="0"/>
              <a:buChar char="•"/>
              <a:defRPr sz="2400" b="0" i="0" u="none" baseline="0">
                <a:solidFill>
                  <a:schemeClr val="dk1"/>
                </a:solidFill>
                <a:latin typeface="Calibri" panose="020F0502020204030204" charset="0"/>
                <a:ea typeface="宋体" panose="02010600030101010101" pitchFamily="2" charset="-122"/>
                <a:sym typeface="Arial" panose="020B0604020202020204" pitchFamily="34" charset="0"/>
              </a:defRPr>
            </a:lvl3pPr>
            <a:lvl4pPr marL="1600200" indent="-228600" algn="l" rtl="0" fontAlgn="base" latinLnBrk="1">
              <a:lnSpc>
                <a:spcPct val="100000"/>
              </a:lnSpc>
              <a:spcBef>
                <a:spcPct val="20000"/>
              </a:spcBef>
              <a:spcAft>
                <a:spcPct val="0"/>
              </a:spcAft>
              <a:buSzPct val="100000"/>
              <a:buFont typeface="Arial" panose="020B0604020202020204" pitchFamily="34" charset="0"/>
              <a:buChar char="–"/>
              <a:defRPr sz="2000" b="0" i="0" u="none" baseline="0">
                <a:solidFill>
                  <a:schemeClr val="dk1"/>
                </a:solidFill>
                <a:latin typeface="Calibri" panose="020F0502020204030204" charset="0"/>
                <a:ea typeface="宋体" panose="02010600030101010101" pitchFamily="2" charset="-122"/>
                <a:sym typeface="Arial" panose="020B0604020202020204" pitchFamily="34" charset="0"/>
              </a:defRPr>
            </a:lvl4pPr>
            <a:lvl5pPr marL="2057400" indent="-228600" algn="l" rtl="0" fontAlgn="base" latinLnBrk="1">
              <a:lnSpc>
                <a:spcPct val="100000"/>
              </a:lnSpc>
              <a:spcBef>
                <a:spcPct val="20000"/>
              </a:spcBef>
              <a:spcAft>
                <a:spcPct val="0"/>
              </a:spcAft>
              <a:buSzPct val="100000"/>
              <a:buFont typeface="Arial" panose="020B0604020202020204" pitchFamily="34" charset="0"/>
              <a:buChar char="»"/>
              <a:defRPr sz="2000" b="0" i="0" u="none" baseline="0">
                <a:solidFill>
                  <a:schemeClr val="dk1"/>
                </a:solidFill>
                <a:latin typeface="Calibri" panose="020F0502020204030204" charset="0"/>
                <a:ea typeface="宋体" panose="02010600030101010101" pitchFamily="2" charset="-122"/>
                <a:sym typeface="Arial" panose="020B0604020202020204" pitchFamily="34" charset="0"/>
              </a:defRPr>
            </a:lvl5pPr>
          </a:lstStyle>
          <a:p>
            <a:pPr marL="0" lvl="0" indent="0" algn="ctr">
              <a:spcBef>
                <a:spcPct val="0"/>
              </a:spcBef>
              <a:buFontTx/>
              <a:buNone/>
            </a:pPr>
            <a:r>
              <a:rPr lang="zh-CN" altLang="en-US" sz="2400" b="1" baseline="-25000" dirty="0">
                <a:latin typeface="微软雅黑" panose="020B0503020204020204" pitchFamily="34" charset="-122"/>
                <a:ea typeface="微软雅黑" panose="020B0503020204020204" pitchFamily="34" charset="-122"/>
              </a:rPr>
              <a:t>汇报人：宋振</a:t>
            </a:r>
            <a:r>
              <a:rPr lang="zh-CN" altLang="en-US" sz="2400" b="1" baseline="-25000" dirty="0">
                <a:latin typeface="微软雅黑" panose="020B0503020204020204" pitchFamily="34" charset="-122"/>
                <a:ea typeface="微软雅黑" panose="020B0503020204020204" pitchFamily="34" charset="-122"/>
              </a:rPr>
              <a:t>桥</a:t>
            </a:r>
            <a:endParaRPr lang="zh-CN" altLang="en-US" sz="2400" b="1" baseline="-25000" dirty="0">
              <a:latin typeface="微软雅黑" panose="020B0503020204020204" pitchFamily="34" charset="-122"/>
              <a:ea typeface="微软雅黑" panose="020B0503020204020204" pitchFamily="34" charset="-122"/>
            </a:endParaRPr>
          </a:p>
        </p:txBody>
      </p:sp>
      <p:sp>
        <p:nvSpPr>
          <p:cNvPr id="8" name="矩形 15"/>
          <p:cNvSpPr/>
          <p:nvPr/>
        </p:nvSpPr>
        <p:spPr>
          <a:xfrm>
            <a:off x="0" y="2456180"/>
            <a:ext cx="12192000" cy="2348230"/>
          </a:xfrm>
          <a:prstGeom prst="rect">
            <a:avLst/>
          </a:prstGeom>
          <a:solidFill>
            <a:srgbClr val="CC2000"/>
          </a:solidFill>
          <a:ln w="12700" cap="flat" cmpd="sng" algn="ctr">
            <a:noFill/>
            <a:prstDash val="solid"/>
          </a:ln>
        </p:spPr>
        <p:txBody>
          <a:bodyPr rot="0" spcFirstLastPara="0" vertOverflow="overflow" horzOverflow="overflow" vert="horz" wrap="square" lIns="121920" tIns="324000" rIns="121920" bIns="60960" numCol="1" spcCol="0" rtlCol="0" fromWordArt="0" anchor="t" anchorCtr="0" forceAA="0" compatLnSpc="1">
            <a:noAutofit/>
          </a:bodyPr>
          <a:lstStyle/>
          <a:p>
            <a:pPr algn="ctr" defTabSz="1218565" fontAlgn="base">
              <a:lnSpc>
                <a:spcPts val="6880"/>
              </a:lnSpc>
              <a:spcBef>
                <a:spcPct val="0"/>
              </a:spcBef>
              <a:spcAft>
                <a:spcPct val="0"/>
              </a:spcAft>
            </a:pPr>
            <a:endParaRPr lang="en-US" altLang="zh-CN" sz="3600" b="1" dirty="0">
              <a:solidFill>
                <a:schemeClr val="bg1"/>
              </a:solidFill>
              <a:latin typeface="黑体" panose="02010609060101010101" charset="-122"/>
              <a:ea typeface="黑体" panose="02010609060101010101" charset="-122"/>
              <a:cs typeface="黑体" panose="02010609060101010101" charset="-122"/>
            </a:endParaRPr>
          </a:p>
          <a:p>
            <a:pPr algn="ctr" defTabSz="1218565" fontAlgn="base">
              <a:lnSpc>
                <a:spcPts val="6880"/>
              </a:lnSpc>
              <a:spcBef>
                <a:spcPct val="0"/>
              </a:spcBef>
              <a:spcAft>
                <a:spcPct val="0"/>
              </a:spcAft>
            </a:pPr>
            <a:r>
              <a:rPr lang="zh-CN" altLang="en-US" sz="3600" b="1" dirty="0">
                <a:solidFill>
                  <a:schemeClr val="bg1"/>
                </a:solidFill>
                <a:latin typeface="黑体" panose="02010609060101010101" charset="-122"/>
                <a:ea typeface="黑体" panose="02010609060101010101" charset="-122"/>
                <a:cs typeface="黑体" panose="02010609060101010101" charset="-122"/>
              </a:rPr>
              <a:t>2026财年集团市场“砺剑·护航”专项大检查复盘汇报</a:t>
            </a:r>
            <a:endParaRPr lang="zh-CN" altLang="en-US" sz="3600" b="1" dirty="0">
              <a:solidFill>
                <a:schemeClr val="bg1"/>
              </a:solidFill>
              <a:latin typeface="黑体" panose="02010609060101010101" charset="-122"/>
              <a:ea typeface="黑体" panose="02010609060101010101" charset="-122"/>
              <a:cs typeface="黑体" panose="02010609060101010101" charset="-122"/>
            </a:endParaRPr>
          </a:p>
        </p:txBody>
      </p:sp>
      <p:pic>
        <p:nvPicPr>
          <p:cNvPr id="102" name="图片 101" descr="微信图片_20210702102959"/>
          <p:cNvPicPr>
            <a:picLocks noChangeAspect="1"/>
          </p:cNvPicPr>
          <p:nvPr/>
        </p:nvPicPr>
        <p:blipFill>
          <a:blip r:embed="rId1"/>
          <a:stretch>
            <a:fillRect/>
          </a:stretch>
        </p:blipFill>
        <p:spPr>
          <a:xfrm>
            <a:off x="3812540" y="173355"/>
            <a:ext cx="4239260" cy="3613785"/>
          </a:xfrm>
          <a:prstGeom prst="rect">
            <a:avLst/>
          </a:prstGeom>
        </p:spPr>
      </p:pic>
      <p:sp>
        <p:nvSpPr>
          <p:cNvPr id="2" name="文本框 1"/>
          <p:cNvSpPr txBox="1"/>
          <p:nvPr/>
        </p:nvSpPr>
        <p:spPr>
          <a:xfrm>
            <a:off x="6189045" y="4938585"/>
            <a:ext cx="3583940" cy="460375"/>
          </a:xfrm>
          <a:prstGeom prst="rect">
            <a:avLst/>
          </a:prstGeom>
          <a:noFill/>
        </p:spPr>
        <p:txBody>
          <a:bodyPr wrap="none" rtlCol="0">
            <a:spAutoFit/>
          </a:bodyPr>
          <a:lstStyle/>
          <a:p>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第五组（</a:t>
            </a:r>
            <a:r>
              <a:rPr lang="zh-CN" altLang="en-US" sz="2400" b="1" dirty="0">
                <a:latin typeface="微软雅黑" panose="020B0503020204020204" pitchFamily="34" charset="-122"/>
                <a:ea typeface="微软雅黑" panose="020B0503020204020204" pitchFamily="34" charset="-122"/>
              </a:rPr>
              <a:t>河南地区）</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91"/>
          <p:cNvSpPr>
            <a:spLocks noChangeArrowheads="1"/>
          </p:cNvSpPr>
          <p:nvPr/>
        </p:nvSpPr>
        <p:spPr bwMode="auto">
          <a:xfrm flipV="1">
            <a:off x="10513060" y="2277745"/>
            <a:ext cx="1678940" cy="2200275"/>
          </a:xfrm>
          <a:custGeom>
            <a:avLst/>
            <a:gdLst/>
            <a:ahLst/>
            <a:cxnLst/>
            <a:rect l="l" t="t" r="r" b="b"/>
            <a:pathLst>
              <a:path w="1752600" h="1295400">
                <a:moveTo>
                  <a:pt x="0" y="1295400"/>
                </a:moveTo>
                <a:lnTo>
                  <a:pt x="1752600" y="1295400"/>
                </a:lnTo>
                <a:lnTo>
                  <a:pt x="1752600" y="0"/>
                </a:lnTo>
                <a:lnTo>
                  <a:pt x="714154" y="0"/>
                </a:lnTo>
                <a:close/>
              </a:path>
            </a:pathLst>
          </a:custGeom>
          <a:solidFill>
            <a:srgbClr val="CC2000"/>
          </a:solidFill>
          <a:ln>
            <a:noFill/>
          </a:ln>
          <a:effectLst/>
        </p:spPr>
        <p:txBody>
          <a:bodyPr wrap="none" anchor="ctr"/>
          <a:lstStyle/>
          <a:p>
            <a:endParaRPr lang="zh-CN" altLang="en-US" sz="2160" dirty="0">
              <a:solidFill>
                <a:schemeClr val="bg1"/>
              </a:solidFill>
              <a:ea typeface="微软雅黑" panose="020B0503020204020204" pitchFamily="34" charset="-122"/>
            </a:endParaRPr>
          </a:p>
        </p:txBody>
      </p:sp>
      <p:sp>
        <p:nvSpPr>
          <p:cNvPr id="3" name="AutoShape 292"/>
          <p:cNvSpPr>
            <a:spLocks noChangeArrowheads="1"/>
          </p:cNvSpPr>
          <p:nvPr/>
        </p:nvSpPr>
        <p:spPr bwMode="auto">
          <a:xfrm flipV="1">
            <a:off x="0" y="2305050"/>
            <a:ext cx="4353560" cy="2200275"/>
          </a:xfrm>
          <a:custGeom>
            <a:avLst/>
            <a:gdLst/>
            <a:ahLst/>
            <a:cxnLst/>
            <a:rect l="l" t="t" r="r" b="b"/>
            <a:pathLst>
              <a:path w="4191000" h="1295400">
                <a:moveTo>
                  <a:pt x="0" y="1295400"/>
                </a:moveTo>
                <a:lnTo>
                  <a:pt x="3476846" y="1295400"/>
                </a:lnTo>
                <a:lnTo>
                  <a:pt x="4191000" y="0"/>
                </a:lnTo>
                <a:lnTo>
                  <a:pt x="0" y="0"/>
                </a:lnTo>
                <a:close/>
              </a:path>
            </a:pathLst>
          </a:custGeom>
          <a:solidFill>
            <a:srgbClr val="CC2000"/>
          </a:solidFill>
          <a:ln>
            <a:noFill/>
          </a:ln>
          <a:effectLst/>
        </p:spPr>
        <p:txBody>
          <a:bodyPr wrap="none" anchor="ctr"/>
          <a:lstStyle/>
          <a:p>
            <a:endParaRPr lang="zh-CN" altLang="en-US" sz="2160" dirty="0">
              <a:solidFill>
                <a:schemeClr val="bg1"/>
              </a:solidFill>
              <a:ea typeface="微软雅黑" panose="020B0503020204020204" pitchFamily="34" charset="-122"/>
            </a:endParaRPr>
          </a:p>
        </p:txBody>
      </p:sp>
      <p:sp>
        <p:nvSpPr>
          <p:cNvPr id="4" name="WordArt 293"/>
          <p:cNvSpPr>
            <a:spLocks noChangeArrowheads="1" noChangeShapeType="1" noTextEdit="1"/>
          </p:cNvSpPr>
          <p:nvPr/>
        </p:nvSpPr>
        <p:spPr bwMode="auto">
          <a:xfrm>
            <a:off x="699483" y="2644916"/>
            <a:ext cx="2419469" cy="951042"/>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nchor="ctr"/>
          <a:lstStyle/>
          <a:p>
            <a:pPr algn="ctr"/>
            <a:r>
              <a:rPr lang="zh-CN" altLang="en-US" sz="8800" kern="10" spc="840" dirty="0">
                <a:solidFill>
                  <a:schemeClr val="bg1"/>
                </a:solidFill>
                <a:latin typeface="黑体" panose="02010609060101010101" charset="-122"/>
                <a:ea typeface="黑体" panose="02010609060101010101" charset="-122"/>
                <a:cs typeface="黑体" panose="02010609060101010101" charset="-122"/>
              </a:rPr>
              <a:t>目</a:t>
            </a:r>
            <a:r>
              <a:rPr lang="en-US" altLang="zh-CN" sz="2000" kern="10" spc="840" dirty="0">
                <a:solidFill>
                  <a:schemeClr val="bg1"/>
                </a:solidFill>
                <a:latin typeface="黑体" panose="02010609060101010101" charset="-122"/>
                <a:ea typeface="黑体" panose="02010609060101010101" charset="-122"/>
                <a:cs typeface="黑体" panose="02010609060101010101" charset="-122"/>
              </a:rPr>
              <a:t> </a:t>
            </a:r>
            <a:r>
              <a:rPr lang="zh-CN" altLang="en-US" sz="8800" kern="10" spc="840" dirty="0">
                <a:solidFill>
                  <a:schemeClr val="bg1"/>
                </a:solidFill>
                <a:latin typeface="黑体" panose="02010609060101010101" charset="-122"/>
                <a:ea typeface="黑体" panose="02010609060101010101" charset="-122"/>
                <a:cs typeface="黑体" panose="02010609060101010101" charset="-122"/>
              </a:rPr>
              <a:t>录</a:t>
            </a:r>
            <a:endParaRPr lang="zh-CN" altLang="en-US" sz="8800" kern="10" spc="840" dirty="0">
              <a:solidFill>
                <a:schemeClr val="bg1"/>
              </a:solidFill>
              <a:latin typeface="黑体" panose="02010609060101010101" charset="-122"/>
              <a:ea typeface="黑体" panose="02010609060101010101" charset="-122"/>
              <a:cs typeface="黑体" panose="02010609060101010101" charset="-122"/>
            </a:endParaRPr>
          </a:p>
        </p:txBody>
      </p:sp>
      <p:sp>
        <p:nvSpPr>
          <p:cNvPr id="5" name="WordArt 294"/>
          <p:cNvSpPr>
            <a:spLocks noChangeArrowheads="1" noChangeShapeType="1" noTextEdit="1"/>
          </p:cNvSpPr>
          <p:nvPr/>
        </p:nvSpPr>
        <p:spPr bwMode="auto">
          <a:xfrm>
            <a:off x="1317739" y="3811419"/>
            <a:ext cx="2678842" cy="498982"/>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nchor="ctr"/>
          <a:lstStyle/>
          <a:p>
            <a:pPr algn="ctr"/>
            <a:r>
              <a:rPr lang="en-US" altLang="zh-CN" sz="3360" kern="10" dirty="0">
                <a:solidFill>
                  <a:schemeClr val="bg1"/>
                </a:solidFill>
                <a:latin typeface="微软雅黑" panose="020B0503020204020204" pitchFamily="34" charset="-122"/>
                <a:ea typeface="微软雅黑" panose="020B0503020204020204" pitchFamily="34" charset="-122"/>
              </a:rPr>
              <a:t>   </a:t>
            </a:r>
            <a:r>
              <a:rPr lang="en-US" altLang="zh-CN" sz="3200" kern="10" dirty="0">
                <a:solidFill>
                  <a:schemeClr val="bg1"/>
                </a:solidFill>
                <a:latin typeface="微软雅黑" panose="020B0503020204020204" pitchFamily="34" charset="-122"/>
                <a:ea typeface="微软雅黑" panose="020B0503020204020204" pitchFamily="34" charset="-122"/>
              </a:rPr>
              <a:t>CONTENTS   </a:t>
            </a:r>
            <a:endParaRPr lang="en-US" altLang="zh-CN" sz="3200" kern="10" dirty="0">
              <a:solidFill>
                <a:schemeClr val="bg1"/>
              </a:solidFill>
              <a:latin typeface="微软雅黑" panose="020B0503020204020204" pitchFamily="34" charset="-122"/>
              <a:ea typeface="微软雅黑" panose="020B0503020204020204" pitchFamily="34" charset="-122"/>
            </a:endParaRPr>
          </a:p>
        </p:txBody>
      </p:sp>
      <p:sp>
        <p:nvSpPr>
          <p:cNvPr id="14" name="灯片编号占位符 13"/>
          <p:cNvSpPr>
            <a:spLocks noGrp="1"/>
          </p:cNvSpPr>
          <p:nvPr>
            <p:ph type="sldNum" sz="quarter" idx="4294967295"/>
          </p:nvPr>
        </p:nvSpPr>
        <p:spPr>
          <a:xfrm>
            <a:off x="9357995" y="6059001"/>
            <a:ext cx="2743200" cy="365125"/>
          </a:xfrm>
        </p:spPr>
        <p:txBody>
          <a:bodyPr/>
          <a:lstStyle/>
          <a:p>
            <a:fld id="{B71D9F64-F3E7-47CB-8C4E-3862B61F6E20}" type="slidenum">
              <a:rPr lang="zh-CN" altLang="en-US" smtClean="0"/>
            </a:fld>
            <a:endParaRPr lang="zh-CN" altLang="en-US"/>
          </a:p>
        </p:txBody>
      </p:sp>
      <p:sp>
        <p:nvSpPr>
          <p:cNvPr id="9" name="Rectangle 22"/>
          <p:cNvSpPr>
            <a:spLocks noChangeArrowheads="1"/>
          </p:cNvSpPr>
          <p:nvPr/>
        </p:nvSpPr>
        <p:spPr bwMode="auto">
          <a:xfrm>
            <a:off x="4476750" y="2042160"/>
            <a:ext cx="549656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2.</a:t>
            </a:r>
            <a:r>
              <a:rPr lang="zh-CN" altLang="en-US" sz="2800" b="1" dirty="0">
                <a:latin typeface="微软雅黑" panose="020B0503020204020204" pitchFamily="34" charset="-122"/>
                <a:ea typeface="微软雅黑" panose="020B0503020204020204" pitchFamily="34" charset="-122"/>
                <a:sym typeface="+mn-ea"/>
              </a:rPr>
              <a:t>市场检查结果通报</a:t>
            </a:r>
            <a:endParaRPr lang="zh-CN" altLang="en-US" sz="2800" b="1" dirty="0">
              <a:latin typeface="微软雅黑" panose="020B0503020204020204" pitchFamily="34" charset="-122"/>
              <a:ea typeface="微软雅黑" panose="020B0503020204020204" pitchFamily="34" charset="-122"/>
              <a:sym typeface="+mn-ea"/>
            </a:endParaRPr>
          </a:p>
        </p:txBody>
      </p:sp>
      <p:pic>
        <p:nvPicPr>
          <p:cNvPr id="13" name="图片 12" descr="微信图片_202105200954034"/>
          <p:cNvPicPr>
            <a:picLocks noChangeAspect="1"/>
          </p:cNvPicPr>
          <p:nvPr/>
        </p:nvPicPr>
        <p:blipFill>
          <a:blip r:embed="rId1"/>
          <a:stretch>
            <a:fillRect/>
          </a:stretch>
        </p:blipFill>
        <p:spPr>
          <a:xfrm>
            <a:off x="424815" y="4768215"/>
            <a:ext cx="2493010" cy="1842135"/>
          </a:xfrm>
          <a:prstGeom prst="rect">
            <a:avLst/>
          </a:prstGeom>
        </p:spPr>
      </p:pic>
      <p:pic>
        <p:nvPicPr>
          <p:cNvPr id="15" name="图片 14" descr="微信图片_20210702103005"/>
          <p:cNvPicPr>
            <a:picLocks noChangeAspect="1"/>
          </p:cNvPicPr>
          <p:nvPr/>
        </p:nvPicPr>
        <p:blipFill>
          <a:blip r:embed="rId2"/>
          <a:stretch>
            <a:fillRect/>
          </a:stretch>
        </p:blipFill>
        <p:spPr>
          <a:xfrm>
            <a:off x="10456545" y="161290"/>
            <a:ext cx="1237615" cy="1055370"/>
          </a:xfrm>
          <a:prstGeom prst="rect">
            <a:avLst/>
          </a:prstGeom>
        </p:spPr>
      </p:pic>
      <p:sp>
        <p:nvSpPr>
          <p:cNvPr id="6" name="Rectangle 22"/>
          <p:cNvSpPr>
            <a:spLocks noChangeArrowheads="1"/>
          </p:cNvSpPr>
          <p:nvPr/>
        </p:nvSpPr>
        <p:spPr bwMode="auto">
          <a:xfrm>
            <a:off x="5268595" y="3811270"/>
            <a:ext cx="551370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4.</a:t>
            </a:r>
            <a:r>
              <a:rPr lang="zh-CN" altLang="en-US" sz="2800" b="1" dirty="0">
                <a:latin typeface="微软雅黑" panose="020B0503020204020204" pitchFamily="34" charset="-122"/>
                <a:ea typeface="微软雅黑" panose="020B0503020204020204" pitchFamily="34" charset="-122"/>
                <a:sym typeface="+mn-ea"/>
              </a:rPr>
              <a:t>战区共识意见（初稿）</a:t>
            </a:r>
            <a:endParaRPr lang="zh-CN" altLang="en-US" sz="2800" b="1" dirty="0">
              <a:latin typeface="微软雅黑" panose="020B0503020204020204" pitchFamily="34" charset="-122"/>
              <a:ea typeface="微软雅黑" panose="020B0503020204020204" pitchFamily="34" charset="-122"/>
              <a:sym typeface="+mn-ea"/>
            </a:endParaRPr>
          </a:p>
        </p:txBody>
      </p:sp>
      <p:sp>
        <p:nvSpPr>
          <p:cNvPr id="8" name="Rectangle 22"/>
          <p:cNvSpPr>
            <a:spLocks noChangeArrowheads="1"/>
          </p:cNvSpPr>
          <p:nvPr>
            <p:custDataLst>
              <p:tags r:id="rId3"/>
            </p:custDataLst>
          </p:nvPr>
        </p:nvSpPr>
        <p:spPr bwMode="auto">
          <a:xfrm>
            <a:off x="4823405" y="2945495"/>
            <a:ext cx="610552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3.</a:t>
            </a:r>
            <a:r>
              <a:rPr lang="zh-CN" altLang="en-US" sz="2800" b="1" dirty="0">
                <a:latin typeface="微软雅黑" panose="020B0503020204020204" pitchFamily="34" charset="-122"/>
                <a:ea typeface="微软雅黑" panose="020B0503020204020204" pitchFamily="34" charset="-122"/>
                <a:sym typeface="+mn-ea"/>
              </a:rPr>
              <a:t>市场重点问题及改善建议</a:t>
            </a:r>
            <a:endParaRPr lang="zh-CN" altLang="en-US" sz="2800" b="1" dirty="0">
              <a:latin typeface="微软雅黑" panose="020B0503020204020204" pitchFamily="34" charset="-122"/>
              <a:ea typeface="微软雅黑" panose="020B0503020204020204" pitchFamily="34" charset="-122"/>
              <a:sym typeface="+mn-ea"/>
            </a:endParaRPr>
          </a:p>
        </p:txBody>
      </p:sp>
      <p:sp>
        <p:nvSpPr>
          <p:cNvPr id="10" name="Rectangle 22"/>
          <p:cNvSpPr>
            <a:spLocks noChangeArrowheads="1"/>
          </p:cNvSpPr>
          <p:nvPr>
            <p:custDataLst>
              <p:tags r:id="rId4"/>
            </p:custDataLst>
          </p:nvPr>
        </p:nvSpPr>
        <p:spPr bwMode="auto">
          <a:xfrm>
            <a:off x="3977585" y="1138285"/>
            <a:ext cx="610552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1.</a:t>
            </a:r>
            <a:r>
              <a:rPr lang="zh-CN" altLang="en-US" sz="2800" b="1" dirty="0">
                <a:latin typeface="微软雅黑" panose="020B0503020204020204" pitchFamily="34" charset="-122"/>
                <a:ea typeface="微软雅黑" panose="020B0503020204020204" pitchFamily="34" charset="-122"/>
                <a:sym typeface="+mn-ea"/>
              </a:rPr>
              <a:t>市场概况与检查概览</a:t>
            </a:r>
            <a:endParaRPr lang="zh-CN" altLang="en-US" sz="2800" b="1" dirty="0">
              <a:latin typeface="微软雅黑" panose="020B0503020204020204" pitchFamily="34" charset="-122"/>
              <a:ea typeface="微软雅黑" panose="020B0503020204020204" pitchFamily="34" charset="-122"/>
              <a:sym typeface="+mn-ea"/>
            </a:endParaRPr>
          </a:p>
        </p:txBody>
      </p:sp>
      <p:sp>
        <p:nvSpPr>
          <p:cNvPr id="7" name="Rectangle 22"/>
          <p:cNvSpPr>
            <a:spLocks noChangeArrowheads="1"/>
          </p:cNvSpPr>
          <p:nvPr/>
        </p:nvSpPr>
        <p:spPr bwMode="auto">
          <a:xfrm>
            <a:off x="5664835" y="4704080"/>
            <a:ext cx="551370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en-US" altLang="zh-CN" sz="4400" b="1" dirty="0">
                <a:latin typeface="微软雅黑" panose="020B0503020204020204" pitchFamily="34" charset="-122"/>
                <a:ea typeface="微软雅黑" panose="020B0503020204020204" pitchFamily="34" charset="-122"/>
                <a:sym typeface="+mn-ea"/>
              </a:rPr>
              <a:t>5.</a:t>
            </a:r>
            <a:r>
              <a:rPr lang="zh-CN" altLang="en-US" sz="2800" b="1" dirty="0">
                <a:latin typeface="微软雅黑" panose="020B0503020204020204" pitchFamily="34" charset="-122"/>
                <a:ea typeface="微软雅黑" panose="020B0503020204020204" pitchFamily="34" charset="-122"/>
                <a:sym typeface="+mn-ea"/>
              </a:rPr>
              <a:t>总结与探讨建议</a:t>
            </a:r>
            <a:endParaRPr lang="zh-CN" altLang="en-US" sz="2800" b="1" dirty="0">
              <a:latin typeface="微软雅黑" panose="020B0503020204020204" pitchFamily="34" charset="-122"/>
              <a:ea typeface="微软雅黑" panose="020B0503020204020204" pitchFamily="34" charset="-122"/>
              <a:sym typeface="+mn-ea"/>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1.</a:t>
            </a:r>
            <a:r>
              <a:rPr lang="zh-CN" altLang="en-US" sz="5400" b="1" dirty="0">
                <a:latin typeface="微软雅黑" panose="020B0503020204020204" pitchFamily="34" charset="-122"/>
                <a:ea typeface="微软雅黑" panose="020B0503020204020204" pitchFamily="34" charset="-122"/>
                <a:sym typeface="+mn-ea"/>
              </a:rPr>
              <a:t>市场概况与检查概览</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408495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河南市场铺市</a:t>
            </a:r>
            <a:r>
              <a:rPr lang="zh-CN" altLang="en-US" sz="3600" dirty="0">
                <a:solidFill>
                  <a:srgbClr val="C00000"/>
                </a:solidFill>
                <a:latin typeface="微软雅黑" panose="020B0503020204020204" pitchFamily="34" charset="-122"/>
                <a:ea typeface="微软雅黑" panose="020B0503020204020204" pitchFamily="34" charset="-122"/>
                <a:sym typeface="+mn-ea"/>
              </a:rPr>
              <a:t>情况</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9"/>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10"/>
            </p:custDataLst>
          </p:nvPr>
        </p:nvSpPr>
        <p:spPr>
          <a:xfrm>
            <a:off x="6341110" y="36576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11"/>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12"/>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13"/>
            </p:custDataLst>
          </p:nvPr>
        </p:nvPicPr>
        <p:blipFill>
          <a:blip r:embed="rId14"/>
          <a:stretch>
            <a:fillRect/>
          </a:stretch>
        </p:blipFill>
        <p:spPr>
          <a:xfrm>
            <a:off x="11398250" y="6079490"/>
            <a:ext cx="414655" cy="353695"/>
          </a:xfrm>
          <a:prstGeom prst="rect">
            <a:avLst/>
          </a:prstGeom>
        </p:spPr>
      </p:pic>
      <p:pic>
        <p:nvPicPr>
          <p:cNvPr id="9" name="图片 8" descr="ai_picture_ai_change_1787726306650"/>
          <p:cNvPicPr>
            <a:picLocks noChangeAspect="1"/>
          </p:cNvPicPr>
          <p:nvPr>
            <p:custDataLst>
              <p:tags r:id="rId15"/>
            </p:custDataLst>
          </p:nvPr>
        </p:nvPicPr>
        <p:blipFill>
          <a:blip r:embed="rId16"/>
          <a:srcRect t="9" b="9"/>
          <a:stretch>
            <a:fillRect/>
          </a:stretch>
        </p:blipFill>
        <p:spPr>
          <a:xfrm>
            <a:off x="4003040" y="2235200"/>
            <a:ext cx="3366135" cy="4488815"/>
          </a:xfrm>
          <a:prstGeom prst="rect">
            <a:avLst/>
          </a:prstGeom>
        </p:spPr>
      </p:pic>
      <p:graphicFrame>
        <p:nvGraphicFramePr>
          <p:cNvPr id="10" name="图表 9" descr="7b0a202020202263686172745265734964223a20223530303733323735220a7d0a"/>
          <p:cNvGraphicFramePr/>
          <p:nvPr/>
        </p:nvGraphicFramePr>
        <p:xfrm>
          <a:off x="732155" y="1163320"/>
          <a:ext cx="3168015" cy="175196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 name="图表 10"/>
          <p:cNvGraphicFramePr/>
          <p:nvPr/>
        </p:nvGraphicFramePr>
        <p:xfrm>
          <a:off x="741680" y="3058160"/>
          <a:ext cx="3167380" cy="160401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图表 11"/>
          <p:cNvGraphicFramePr/>
          <p:nvPr/>
        </p:nvGraphicFramePr>
        <p:xfrm>
          <a:off x="732155" y="4840605"/>
          <a:ext cx="3176905" cy="17513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图表 12"/>
          <p:cNvGraphicFramePr/>
          <p:nvPr/>
        </p:nvGraphicFramePr>
        <p:xfrm>
          <a:off x="4124960" y="1172845"/>
          <a:ext cx="3167380" cy="17424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图表 13"/>
          <p:cNvGraphicFramePr/>
          <p:nvPr/>
        </p:nvGraphicFramePr>
        <p:xfrm>
          <a:off x="7517130" y="1163320"/>
          <a:ext cx="3167380" cy="17430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图表 14"/>
          <p:cNvGraphicFramePr/>
          <p:nvPr/>
        </p:nvGraphicFramePr>
        <p:xfrm>
          <a:off x="7517130" y="3063875"/>
          <a:ext cx="3175635" cy="175069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图表 15"/>
          <p:cNvGraphicFramePr/>
          <p:nvPr/>
        </p:nvGraphicFramePr>
        <p:xfrm>
          <a:off x="7517765" y="4972050"/>
          <a:ext cx="3166745" cy="1751965"/>
        </p:xfrm>
        <a:graphic>
          <a:graphicData uri="http://schemas.openxmlformats.org/drawingml/2006/chart">
            <c:chart xmlns:c="http://schemas.openxmlformats.org/drawingml/2006/chart" xmlns:r="http://schemas.openxmlformats.org/officeDocument/2006/relationships" r:id="rId7"/>
          </a:graphicData>
        </a:graphic>
      </p:graphicFrame>
      <p:sp>
        <p:nvSpPr>
          <p:cNvPr id="17" name="椭圆 16"/>
          <p:cNvSpPr/>
          <p:nvPr/>
        </p:nvSpPr>
        <p:spPr>
          <a:xfrm>
            <a:off x="5376545" y="4255770"/>
            <a:ext cx="530225" cy="23495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8" name="直接箭头连接符 17"/>
          <p:cNvCxnSpPr>
            <a:stCxn id="17" idx="1"/>
          </p:cNvCxnSpPr>
          <p:nvPr/>
        </p:nvCxnSpPr>
        <p:spPr>
          <a:xfrm flipH="1" flipV="1">
            <a:off x="3957955" y="2950210"/>
            <a:ext cx="1496060" cy="13398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17" idx="3"/>
          </p:cNvCxnSpPr>
          <p:nvPr/>
        </p:nvCxnSpPr>
        <p:spPr>
          <a:xfrm flipH="1">
            <a:off x="3983990" y="4456430"/>
            <a:ext cx="1470025" cy="99123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0" name="椭圆 19"/>
          <p:cNvSpPr/>
          <p:nvPr/>
        </p:nvSpPr>
        <p:spPr>
          <a:xfrm>
            <a:off x="4636770" y="4446905"/>
            <a:ext cx="513080" cy="27813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1" name="直接箭头连接符 20"/>
          <p:cNvCxnSpPr>
            <a:stCxn id="20" idx="1"/>
          </p:cNvCxnSpPr>
          <p:nvPr/>
        </p:nvCxnSpPr>
        <p:spPr>
          <a:xfrm flipH="1" flipV="1">
            <a:off x="3983990" y="3985260"/>
            <a:ext cx="727710" cy="50228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2" name="椭圆 21"/>
          <p:cNvSpPr/>
          <p:nvPr/>
        </p:nvSpPr>
        <p:spPr>
          <a:xfrm>
            <a:off x="5976620" y="4316095"/>
            <a:ext cx="426720" cy="20066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3" name="直接箭头连接符 22"/>
          <p:cNvCxnSpPr>
            <a:stCxn id="22" idx="0"/>
          </p:cNvCxnSpPr>
          <p:nvPr/>
        </p:nvCxnSpPr>
        <p:spPr>
          <a:xfrm flipH="1" flipV="1">
            <a:off x="6011545" y="3002280"/>
            <a:ext cx="178435" cy="13138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a:stCxn id="22" idx="7"/>
          </p:cNvCxnSpPr>
          <p:nvPr/>
        </p:nvCxnSpPr>
        <p:spPr>
          <a:xfrm flipV="1">
            <a:off x="6341110" y="2906395"/>
            <a:ext cx="1167765" cy="143891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5" name="椭圆 24"/>
          <p:cNvSpPr/>
          <p:nvPr/>
        </p:nvSpPr>
        <p:spPr>
          <a:xfrm>
            <a:off x="6098540" y="4829810"/>
            <a:ext cx="582930" cy="21780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6" name="直接箭头连接符 25"/>
          <p:cNvCxnSpPr>
            <a:stCxn id="25" idx="7"/>
          </p:cNvCxnSpPr>
          <p:nvPr/>
        </p:nvCxnSpPr>
        <p:spPr>
          <a:xfrm flipV="1">
            <a:off x="6596380" y="4229100"/>
            <a:ext cx="851535" cy="6324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7" name="椭圆 26"/>
          <p:cNvSpPr/>
          <p:nvPr/>
        </p:nvSpPr>
        <p:spPr>
          <a:xfrm>
            <a:off x="5628640" y="5351780"/>
            <a:ext cx="704850" cy="23495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8" name="直接箭头连接符 27"/>
          <p:cNvCxnSpPr>
            <a:stCxn id="27" idx="6"/>
          </p:cNvCxnSpPr>
          <p:nvPr/>
        </p:nvCxnSpPr>
        <p:spPr>
          <a:xfrm>
            <a:off x="6333490" y="5469255"/>
            <a:ext cx="1131570" cy="6540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436435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河南市场份额</a:t>
            </a:r>
            <a:r>
              <a:rPr lang="zh-CN" altLang="en-US" sz="3600" dirty="0">
                <a:solidFill>
                  <a:srgbClr val="C00000"/>
                </a:solidFill>
                <a:latin typeface="微软雅黑" panose="020B0503020204020204" pitchFamily="34" charset="-122"/>
                <a:ea typeface="微软雅黑" panose="020B0503020204020204" pitchFamily="34" charset="-122"/>
                <a:sym typeface="+mn-ea"/>
              </a:rPr>
              <a:t>情况</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9"/>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10"/>
            </p:custDataLst>
          </p:nvPr>
        </p:nvSpPr>
        <p:spPr>
          <a:xfrm>
            <a:off x="637286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11"/>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12"/>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13"/>
            </p:custDataLst>
          </p:nvPr>
        </p:nvPicPr>
        <p:blipFill>
          <a:blip r:embed="rId14"/>
          <a:stretch>
            <a:fillRect/>
          </a:stretch>
        </p:blipFill>
        <p:spPr>
          <a:xfrm>
            <a:off x="11398250" y="6079490"/>
            <a:ext cx="414655" cy="353695"/>
          </a:xfrm>
          <a:prstGeom prst="rect">
            <a:avLst/>
          </a:prstGeom>
        </p:spPr>
      </p:pic>
      <p:pic>
        <p:nvPicPr>
          <p:cNvPr id="9" name="图片 8" descr="ai_picture_ai_change_1787726306650"/>
          <p:cNvPicPr>
            <a:picLocks noChangeAspect="1"/>
          </p:cNvPicPr>
          <p:nvPr>
            <p:custDataLst>
              <p:tags r:id="rId15"/>
            </p:custDataLst>
          </p:nvPr>
        </p:nvPicPr>
        <p:blipFill>
          <a:blip r:embed="rId16"/>
          <a:srcRect t="9" b="9"/>
          <a:stretch>
            <a:fillRect/>
          </a:stretch>
        </p:blipFill>
        <p:spPr>
          <a:xfrm>
            <a:off x="4012565" y="1664970"/>
            <a:ext cx="3937000" cy="5250180"/>
          </a:xfrm>
          <a:prstGeom prst="rect">
            <a:avLst/>
          </a:prstGeom>
        </p:spPr>
      </p:pic>
      <p:graphicFrame>
        <p:nvGraphicFramePr>
          <p:cNvPr id="3" name="图表 2"/>
          <p:cNvGraphicFramePr/>
          <p:nvPr/>
        </p:nvGraphicFramePr>
        <p:xfrm>
          <a:off x="1450975" y="1294130"/>
          <a:ext cx="3517265" cy="173545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图表 6"/>
          <p:cNvGraphicFramePr/>
          <p:nvPr/>
        </p:nvGraphicFramePr>
        <p:xfrm>
          <a:off x="239395" y="3029585"/>
          <a:ext cx="3517900" cy="1803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0" name="图表 29"/>
          <p:cNvGraphicFramePr/>
          <p:nvPr/>
        </p:nvGraphicFramePr>
        <p:xfrm>
          <a:off x="1194435" y="4894580"/>
          <a:ext cx="3517265" cy="174561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1" name="图表 30"/>
          <p:cNvGraphicFramePr/>
          <p:nvPr/>
        </p:nvGraphicFramePr>
        <p:xfrm>
          <a:off x="4288155" y="989330"/>
          <a:ext cx="3506470" cy="17348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2" name="图表 31"/>
          <p:cNvGraphicFramePr/>
          <p:nvPr/>
        </p:nvGraphicFramePr>
        <p:xfrm>
          <a:off x="7303135" y="1372870"/>
          <a:ext cx="3524885" cy="173545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图表 34"/>
          <p:cNvGraphicFramePr/>
          <p:nvPr/>
        </p:nvGraphicFramePr>
        <p:xfrm>
          <a:off x="8444230" y="2924810"/>
          <a:ext cx="3505835" cy="180022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6" name="图表 35"/>
          <p:cNvGraphicFramePr/>
          <p:nvPr/>
        </p:nvGraphicFramePr>
        <p:xfrm>
          <a:off x="7561580" y="4829810"/>
          <a:ext cx="3508375" cy="1810385"/>
        </p:xfrm>
        <a:graphic>
          <a:graphicData uri="http://schemas.openxmlformats.org/drawingml/2006/chart">
            <c:chart xmlns:c="http://schemas.openxmlformats.org/drawingml/2006/chart" xmlns:r="http://schemas.openxmlformats.org/officeDocument/2006/relationships" r:id="rId7"/>
          </a:graphicData>
        </a:graphic>
      </p:graphicFrame>
      <p:sp>
        <p:nvSpPr>
          <p:cNvPr id="38" name="椭圆 37"/>
          <p:cNvSpPr/>
          <p:nvPr/>
        </p:nvSpPr>
        <p:spPr>
          <a:xfrm>
            <a:off x="5680710" y="4048760"/>
            <a:ext cx="522605" cy="19177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椭圆 38"/>
          <p:cNvSpPr/>
          <p:nvPr/>
        </p:nvSpPr>
        <p:spPr>
          <a:xfrm>
            <a:off x="5889625" y="5284470"/>
            <a:ext cx="835660" cy="23558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nvSpPr>
        <p:spPr>
          <a:xfrm>
            <a:off x="4740910" y="4344670"/>
            <a:ext cx="591820" cy="18288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椭圆 40"/>
          <p:cNvSpPr/>
          <p:nvPr/>
        </p:nvSpPr>
        <p:spPr>
          <a:xfrm>
            <a:off x="6490335" y="4719320"/>
            <a:ext cx="617855" cy="21717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椭圆 41"/>
          <p:cNvSpPr/>
          <p:nvPr/>
        </p:nvSpPr>
        <p:spPr>
          <a:xfrm>
            <a:off x="6333490" y="4101465"/>
            <a:ext cx="478790" cy="22606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3" name="直接箭头连接符 42"/>
          <p:cNvCxnSpPr>
            <a:stCxn id="38" idx="1"/>
          </p:cNvCxnSpPr>
          <p:nvPr/>
        </p:nvCxnSpPr>
        <p:spPr>
          <a:xfrm flipH="1" flipV="1">
            <a:off x="3879215" y="2717165"/>
            <a:ext cx="1878330" cy="135953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4" name="直接箭头连接符 43"/>
          <p:cNvCxnSpPr>
            <a:stCxn id="38" idx="4"/>
          </p:cNvCxnSpPr>
          <p:nvPr/>
        </p:nvCxnSpPr>
        <p:spPr>
          <a:xfrm flipH="1">
            <a:off x="3722370" y="4240530"/>
            <a:ext cx="2219960" cy="14535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5" name="直接箭头连接符 44"/>
          <p:cNvCxnSpPr>
            <a:stCxn id="40" idx="2"/>
          </p:cNvCxnSpPr>
          <p:nvPr/>
        </p:nvCxnSpPr>
        <p:spPr>
          <a:xfrm flipH="1" flipV="1">
            <a:off x="2948305" y="4135755"/>
            <a:ext cx="1792605" cy="30035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6" name="直接箭头连接符 45"/>
          <p:cNvCxnSpPr>
            <a:stCxn id="42" idx="0"/>
            <a:endCxn id="31" idx="2"/>
          </p:cNvCxnSpPr>
          <p:nvPr/>
        </p:nvCxnSpPr>
        <p:spPr>
          <a:xfrm flipH="1" flipV="1">
            <a:off x="6041390" y="2724150"/>
            <a:ext cx="531495" cy="13773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7" name="直接箭头连接符 46"/>
          <p:cNvCxnSpPr>
            <a:stCxn id="42" idx="7"/>
          </p:cNvCxnSpPr>
          <p:nvPr/>
        </p:nvCxnSpPr>
        <p:spPr>
          <a:xfrm flipV="1">
            <a:off x="6742430" y="2830830"/>
            <a:ext cx="1775460" cy="130365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8" name="直接箭头连接符 47"/>
          <p:cNvCxnSpPr>
            <a:stCxn id="41" idx="7"/>
          </p:cNvCxnSpPr>
          <p:nvPr/>
        </p:nvCxnSpPr>
        <p:spPr>
          <a:xfrm flipV="1">
            <a:off x="7018020" y="4092575"/>
            <a:ext cx="2474595" cy="65849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39" idx="6"/>
          </p:cNvCxnSpPr>
          <p:nvPr/>
        </p:nvCxnSpPr>
        <p:spPr>
          <a:xfrm>
            <a:off x="6725285" y="5402580"/>
            <a:ext cx="1801495" cy="3867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687959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市场经营</a:t>
            </a:r>
            <a:r>
              <a:rPr lang="zh-CN" altLang="en-US" sz="3600" dirty="0">
                <a:solidFill>
                  <a:srgbClr val="C00000"/>
                </a:solidFill>
                <a:latin typeface="微软雅黑" panose="020B0503020204020204" pitchFamily="34" charset="-122"/>
                <a:ea typeface="微软雅黑" panose="020B0503020204020204" pitchFamily="34" charset="-122"/>
                <a:sym typeface="+mn-ea"/>
              </a:rPr>
              <a:t>现状</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546163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pic>
        <p:nvPicPr>
          <p:cNvPr id="9" name="图片 8" descr="ai_picture_ai_change_1787726306650"/>
          <p:cNvPicPr>
            <a:picLocks noChangeAspect="1"/>
          </p:cNvPicPr>
          <p:nvPr>
            <p:custDataLst>
              <p:tags r:id="rId8"/>
            </p:custDataLst>
          </p:nvPr>
        </p:nvPicPr>
        <p:blipFill>
          <a:blip r:embed="rId9"/>
          <a:srcRect t="9" b="9"/>
          <a:stretch>
            <a:fillRect/>
          </a:stretch>
        </p:blipFill>
        <p:spPr>
          <a:xfrm>
            <a:off x="3742690" y="1295400"/>
            <a:ext cx="3937000" cy="5250180"/>
          </a:xfrm>
          <a:prstGeom prst="rect">
            <a:avLst/>
          </a:prstGeom>
        </p:spPr>
      </p:pic>
      <p:sp>
        <p:nvSpPr>
          <p:cNvPr id="2" name="文本框 1"/>
          <p:cNvSpPr txBox="1"/>
          <p:nvPr/>
        </p:nvSpPr>
        <p:spPr>
          <a:xfrm>
            <a:off x="589915" y="1644650"/>
            <a:ext cx="2984500" cy="3969385"/>
          </a:xfrm>
          <a:prstGeom prst="rect">
            <a:avLst/>
          </a:prstGeom>
          <a:noFill/>
        </p:spPr>
        <p:txBody>
          <a:bodyPr wrap="square" rtlCol="0">
            <a:spAutoFit/>
          </a:bodyPr>
          <a:p>
            <a:r>
              <a:rPr lang="zh-CN" altLang="en-US" b="1">
                <a:solidFill>
                  <a:srgbClr val="FF0000"/>
                </a:solidFill>
              </a:rPr>
              <a:t>郑州南、中原市场</a:t>
            </a:r>
            <a:r>
              <a:rPr lang="zh-CN" altLang="en-US"/>
              <a:t>：</a:t>
            </a:r>
            <a:endParaRPr lang="zh-CN" altLang="en-US"/>
          </a:p>
          <a:p>
            <a:r>
              <a:rPr lang="zh-CN" altLang="en-US"/>
              <a:t>郑州地区作为省会，槟榔氛围及销量相比周边区域存在一定优势，竞品品类繁多，本品在市场虽处于第一品牌，但仍存在较多不足之处，例不同辖区基础工作差异较大，对于地处偏远、动销缓慢的辖区管理有所松懈（陈列位置、饱满度等）。同时市场管理者深居其位也应时刻保持危机意识和加强自身专业性，避免竞品进攻时出现手足无措的</a:t>
            </a:r>
            <a:r>
              <a:rPr lang="zh-CN" altLang="en-US"/>
              <a:t>现象。</a:t>
            </a:r>
            <a:endParaRPr lang="zh-CN" altLang="en-US"/>
          </a:p>
        </p:txBody>
      </p:sp>
      <p:sp>
        <p:nvSpPr>
          <p:cNvPr id="4" name="椭圆 3"/>
          <p:cNvSpPr/>
          <p:nvPr/>
        </p:nvSpPr>
        <p:spPr>
          <a:xfrm>
            <a:off x="5367655" y="3698240"/>
            <a:ext cx="643890" cy="16573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 name="直接箭头连接符 4"/>
          <p:cNvCxnSpPr>
            <a:stCxn id="4" idx="1"/>
          </p:cNvCxnSpPr>
          <p:nvPr/>
        </p:nvCxnSpPr>
        <p:spPr>
          <a:xfrm flipH="1" flipV="1">
            <a:off x="3696335" y="2932430"/>
            <a:ext cx="1765300" cy="7899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7997825" y="1644650"/>
            <a:ext cx="3744595" cy="3138170"/>
          </a:xfrm>
          <a:prstGeom prst="rect">
            <a:avLst/>
          </a:prstGeom>
          <a:noFill/>
        </p:spPr>
        <p:txBody>
          <a:bodyPr wrap="square" rtlCol="0">
            <a:spAutoFit/>
          </a:bodyPr>
          <a:p>
            <a:r>
              <a:rPr lang="zh-CN" altLang="en-US" b="1">
                <a:solidFill>
                  <a:srgbClr val="FF0000"/>
                </a:solidFill>
              </a:rPr>
              <a:t>偃师市场</a:t>
            </a:r>
            <a:r>
              <a:rPr lang="zh-CN" altLang="en-US"/>
              <a:t>：</a:t>
            </a:r>
            <a:endParaRPr lang="zh-CN" altLang="en-US"/>
          </a:p>
          <a:p>
            <a:r>
              <a:rPr lang="zh-CN" altLang="en-US"/>
              <a:t>该市场经销商及市场经理管理经验相对稚嫩，主竞品胖哥在该市场</a:t>
            </a:r>
            <a:r>
              <a:rPr lang="zh-CN" altLang="en-US"/>
              <a:t>极其强势，主城区偃师县已基本沦陷，各项基础工作均不如胖哥，且存在多家终端陈列盒</a:t>
            </a:r>
            <a:r>
              <a:rPr lang="en-US" altLang="zh-CN"/>
              <a:t>/</a:t>
            </a:r>
            <a:r>
              <a:rPr lang="zh-CN" altLang="en-US"/>
              <a:t>架未更新（带有</a:t>
            </a:r>
            <a:r>
              <a:rPr lang="en-US" altLang="zh-CN"/>
              <a:t>“</a:t>
            </a:r>
            <a:r>
              <a:rPr lang="zh-CN" altLang="en-US"/>
              <a:t>槟榔、提神快</a:t>
            </a:r>
            <a:r>
              <a:rPr lang="en-US" altLang="zh-CN"/>
              <a:t>”</a:t>
            </a:r>
            <a:r>
              <a:rPr lang="zh-CN" altLang="en-US"/>
              <a:t>字样），但仓库陈列道具库存相对充足。另外，多家终端反馈各类竞品均有物料发放，例购物袋等，但本品无类似动作，客情关系与竞品相比有所</a:t>
            </a:r>
            <a:r>
              <a:rPr lang="zh-CN" altLang="en-US"/>
              <a:t>不及。</a:t>
            </a:r>
            <a:endParaRPr lang="zh-CN" altLang="en-US"/>
          </a:p>
        </p:txBody>
      </p:sp>
      <p:sp>
        <p:nvSpPr>
          <p:cNvPr id="10" name="椭圆 9"/>
          <p:cNvSpPr/>
          <p:nvPr/>
        </p:nvSpPr>
        <p:spPr>
          <a:xfrm>
            <a:off x="4479925" y="3933190"/>
            <a:ext cx="582930" cy="26098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1" name="直接箭头连接符 10"/>
          <p:cNvCxnSpPr>
            <a:stCxn id="10" idx="7"/>
          </p:cNvCxnSpPr>
          <p:nvPr/>
        </p:nvCxnSpPr>
        <p:spPr>
          <a:xfrm flipV="1">
            <a:off x="4977765" y="3776980"/>
            <a:ext cx="2783205" cy="19431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687959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市场经营</a:t>
            </a:r>
            <a:r>
              <a:rPr lang="zh-CN" altLang="en-US" sz="3600" dirty="0">
                <a:solidFill>
                  <a:srgbClr val="C00000"/>
                </a:solidFill>
                <a:latin typeface="微软雅黑" panose="020B0503020204020204" pitchFamily="34" charset="-122"/>
                <a:ea typeface="微软雅黑" panose="020B0503020204020204" pitchFamily="34" charset="-122"/>
                <a:sym typeface="+mn-ea"/>
              </a:rPr>
              <a:t>现状</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537146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pic>
        <p:nvPicPr>
          <p:cNvPr id="9" name="图片 8" descr="ai_picture_ai_change_1787726306650"/>
          <p:cNvPicPr>
            <a:picLocks noChangeAspect="1"/>
          </p:cNvPicPr>
          <p:nvPr>
            <p:custDataLst>
              <p:tags r:id="rId8"/>
            </p:custDataLst>
          </p:nvPr>
        </p:nvPicPr>
        <p:blipFill>
          <a:blip r:embed="rId9"/>
          <a:srcRect t="9" b="9"/>
          <a:stretch>
            <a:fillRect/>
          </a:stretch>
        </p:blipFill>
        <p:spPr>
          <a:xfrm>
            <a:off x="3742690" y="1295400"/>
            <a:ext cx="3937000" cy="5250180"/>
          </a:xfrm>
          <a:prstGeom prst="rect">
            <a:avLst/>
          </a:prstGeom>
        </p:spPr>
      </p:pic>
      <p:sp>
        <p:nvSpPr>
          <p:cNvPr id="2" name="文本框 1"/>
          <p:cNvSpPr txBox="1"/>
          <p:nvPr/>
        </p:nvSpPr>
        <p:spPr>
          <a:xfrm>
            <a:off x="589915" y="1644650"/>
            <a:ext cx="2984500" cy="3692525"/>
          </a:xfrm>
          <a:prstGeom prst="rect">
            <a:avLst/>
          </a:prstGeom>
          <a:noFill/>
        </p:spPr>
        <p:txBody>
          <a:bodyPr wrap="square" rtlCol="0">
            <a:spAutoFit/>
          </a:bodyPr>
          <a:p>
            <a:r>
              <a:rPr lang="zh-CN" altLang="en-US" b="1">
                <a:solidFill>
                  <a:srgbClr val="FF0000"/>
                </a:solidFill>
              </a:rPr>
              <a:t>兰考、通许、</a:t>
            </a:r>
            <a:r>
              <a:rPr lang="zh-CN" altLang="en-US" b="1">
                <a:solidFill>
                  <a:srgbClr val="FF0000"/>
                </a:solidFill>
              </a:rPr>
              <a:t>淮阳市场</a:t>
            </a:r>
            <a:r>
              <a:rPr lang="zh-CN" altLang="en-US"/>
              <a:t>：</a:t>
            </a:r>
            <a:endParaRPr lang="zh-CN" altLang="en-US"/>
          </a:p>
          <a:p>
            <a:r>
              <a:rPr lang="zh-CN" altLang="en-US"/>
              <a:t>这三个市场同属豫东分部，市场情况类似，本品一家独大，竞品主要以各类低端杂牌为主，主销</a:t>
            </a:r>
            <a:r>
              <a:rPr lang="en-US" altLang="zh-CN"/>
              <a:t>10</a:t>
            </a:r>
            <a:r>
              <a:rPr lang="zh-CN" altLang="en-US"/>
              <a:t>元及以下产品，无法对本品造成实质性影响。但因无竞争对手，决定了本品在市场的上限，市场管理者应尽快破局。另外，这三个市场现阶段均属于口味王市场，和成份额相对</a:t>
            </a:r>
            <a:r>
              <a:rPr lang="zh-CN" altLang="en-US"/>
              <a:t>较低，与公司高端战略存在偏差。</a:t>
            </a:r>
            <a:endParaRPr lang="zh-CN" altLang="en-US"/>
          </a:p>
        </p:txBody>
      </p:sp>
      <p:sp>
        <p:nvSpPr>
          <p:cNvPr id="6" name="文本框 5"/>
          <p:cNvSpPr txBox="1"/>
          <p:nvPr/>
        </p:nvSpPr>
        <p:spPr>
          <a:xfrm>
            <a:off x="7997825" y="1644650"/>
            <a:ext cx="3744595" cy="2861310"/>
          </a:xfrm>
          <a:prstGeom prst="rect">
            <a:avLst/>
          </a:prstGeom>
          <a:noFill/>
        </p:spPr>
        <p:txBody>
          <a:bodyPr wrap="square" rtlCol="0">
            <a:spAutoFit/>
          </a:bodyPr>
          <a:p>
            <a:r>
              <a:rPr lang="zh-CN" altLang="en-US" b="1">
                <a:solidFill>
                  <a:srgbClr val="FF0000"/>
                </a:solidFill>
              </a:rPr>
              <a:t>上蔡市场</a:t>
            </a:r>
            <a:r>
              <a:rPr lang="zh-CN" altLang="en-US"/>
              <a:t>：</a:t>
            </a:r>
            <a:endParaRPr lang="zh-CN" altLang="en-US"/>
          </a:p>
          <a:p>
            <a:r>
              <a:rPr lang="zh-CN" altLang="en-US"/>
              <a:t>市场品宣竞争尤为激烈，大型核心物料（店招、雨棚等）随处可见，本竞品基本处于五五开局面，本品仅在小型辅助物料上稍占优势。其次，该市场多以大型陈列架为主，但平常月份与春节期间相比销量相差较大，故导致平常月份仅能保证城区饱满度，而春节期间较为热闹的乡镇区域，饱满度</a:t>
            </a:r>
            <a:r>
              <a:rPr lang="zh-CN" altLang="en-US"/>
              <a:t>较差。</a:t>
            </a:r>
            <a:endParaRPr lang="zh-CN" altLang="en-US"/>
          </a:p>
        </p:txBody>
      </p:sp>
      <p:sp>
        <p:nvSpPr>
          <p:cNvPr id="3" name="椭圆 2"/>
          <p:cNvSpPr/>
          <p:nvPr/>
        </p:nvSpPr>
        <p:spPr>
          <a:xfrm>
            <a:off x="5602605" y="4951730"/>
            <a:ext cx="913765" cy="2000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椭圆 6"/>
          <p:cNvSpPr/>
          <p:nvPr/>
        </p:nvSpPr>
        <p:spPr>
          <a:xfrm>
            <a:off x="6177280" y="4351020"/>
            <a:ext cx="661035" cy="24384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椭圆 11"/>
          <p:cNvSpPr/>
          <p:nvPr/>
        </p:nvSpPr>
        <p:spPr>
          <a:xfrm>
            <a:off x="6037580" y="3742055"/>
            <a:ext cx="522605" cy="19113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3" name="直接箭头连接符 12"/>
          <p:cNvCxnSpPr>
            <a:stCxn id="3" idx="6"/>
          </p:cNvCxnSpPr>
          <p:nvPr/>
        </p:nvCxnSpPr>
        <p:spPr>
          <a:xfrm flipV="1">
            <a:off x="6516370" y="3707130"/>
            <a:ext cx="1348740" cy="134493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a:stCxn id="12" idx="1"/>
          </p:cNvCxnSpPr>
          <p:nvPr/>
        </p:nvCxnSpPr>
        <p:spPr>
          <a:xfrm flipH="1" flipV="1">
            <a:off x="3749040" y="3010535"/>
            <a:ext cx="2365375" cy="75946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7" idx="1"/>
          </p:cNvCxnSpPr>
          <p:nvPr/>
        </p:nvCxnSpPr>
        <p:spPr>
          <a:xfrm flipH="1" flipV="1">
            <a:off x="3749040" y="3158490"/>
            <a:ext cx="2524760" cy="12280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2.</a:t>
            </a:r>
            <a:r>
              <a:rPr lang="zh-CN" altLang="en-US" sz="5400" b="1" dirty="0">
                <a:latin typeface="微软雅黑" panose="020B0503020204020204" pitchFamily="34" charset="-122"/>
                <a:ea typeface="微软雅黑" panose="020B0503020204020204" pitchFamily="34" charset="-122"/>
                <a:sym typeface="+mn-ea"/>
              </a:rPr>
              <a:t>市场检查结果通报</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422656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市场检查结果通报</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637222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graphicFrame>
        <p:nvGraphicFramePr>
          <p:cNvPr id="2" name="表格 1"/>
          <p:cNvGraphicFramePr/>
          <p:nvPr/>
        </p:nvGraphicFramePr>
        <p:xfrm>
          <a:off x="500380" y="1389380"/>
          <a:ext cx="10897870" cy="3345815"/>
        </p:xfrm>
        <a:graphic>
          <a:graphicData uri="http://schemas.openxmlformats.org/drawingml/2006/table">
            <a:tbl>
              <a:tblPr/>
              <a:tblGrid>
                <a:gridCol w="673735"/>
                <a:gridCol w="763905"/>
                <a:gridCol w="401320"/>
                <a:gridCol w="401320"/>
                <a:gridCol w="4714875"/>
                <a:gridCol w="1074420"/>
                <a:gridCol w="2247900"/>
                <a:gridCol w="620395"/>
              </a:tblGrid>
              <a:tr h="908050">
                <a:tc>
                  <a:txBody>
                    <a:bodyPr/>
                    <a:p>
                      <a:pPr algn="ctr" fontAlgn="ctr"/>
                      <a:r>
                        <a:rPr lang="zh-CN" altLang="en-US" sz="1400" b="0" i="0">
                          <a:solidFill>
                            <a:srgbClr val="000000"/>
                          </a:solidFill>
                          <a:ea typeface="+mn-lt"/>
                        </a:rPr>
                        <a:t>市场名</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检核得分</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加分</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减分</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加减分原因</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市场月均销量</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市场辖区</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c>
                  <a:txBody>
                    <a:bodyPr/>
                    <a:p>
                      <a:pPr algn="ctr" fontAlgn="ctr"/>
                      <a:r>
                        <a:rPr lang="zh-CN" altLang="en-US" sz="1400" b="0" i="0">
                          <a:solidFill>
                            <a:srgbClr val="000000"/>
                          </a:solidFill>
                          <a:ea typeface="+mn-lt"/>
                        </a:rPr>
                        <a:t>最终得分</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0000"/>
                    </a:solidFill>
                  </a:tcPr>
                </a:tc>
              </a:tr>
              <a:tr h="313690">
                <a:tc>
                  <a:txBody>
                    <a:bodyPr/>
                    <a:p>
                      <a:pPr algn="ctr" fontAlgn="ctr"/>
                      <a:r>
                        <a:rPr lang="zh-CN" altLang="en-US" sz="1400" b="0" i="0">
                          <a:solidFill>
                            <a:srgbClr val="000000"/>
                          </a:solidFill>
                          <a:ea typeface="+mn-lt"/>
                        </a:rPr>
                        <a:t>中原</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89.6</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700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中原区及荥阳、上街区</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89.6</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3690">
                <a:tc>
                  <a:txBody>
                    <a:bodyPr/>
                    <a:p>
                      <a:pPr algn="ctr" fontAlgn="ctr"/>
                      <a:r>
                        <a:rPr lang="zh-CN" altLang="en-US" sz="1400" b="0" i="0">
                          <a:solidFill>
                            <a:srgbClr val="000000"/>
                          </a:solidFill>
                          <a:ea typeface="+mn-lt"/>
                        </a:rPr>
                        <a:t>淮阳</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87</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2</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高考送考活动为市场独有特色、经销商尽职尽责亲自管理市场</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520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淮阳、太康</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89</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4325">
                <a:tc>
                  <a:txBody>
                    <a:bodyPr/>
                    <a:p>
                      <a:pPr algn="ctr" fontAlgn="ctr"/>
                      <a:r>
                        <a:rPr lang="zh-CN" altLang="en-US" sz="1400" b="0" i="0">
                          <a:solidFill>
                            <a:srgbClr val="000000"/>
                          </a:solidFill>
                          <a:ea typeface="+mn-lt"/>
                        </a:rPr>
                        <a:t>郑州南</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88.9</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1000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二七区、郑东新区、管城回族区</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88.9</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3690">
                <a:tc>
                  <a:txBody>
                    <a:bodyPr/>
                    <a:p>
                      <a:pPr algn="ctr" fontAlgn="ctr"/>
                      <a:r>
                        <a:rPr lang="zh-CN" altLang="en-US" sz="1400" b="0" i="0">
                          <a:solidFill>
                            <a:srgbClr val="000000"/>
                          </a:solidFill>
                          <a:ea typeface="+mn-lt"/>
                        </a:rPr>
                        <a:t>兰考</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90.8</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2</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cs typeface="+mn-lt"/>
                        </a:rPr>
                        <a:t>仓库库存为</a:t>
                      </a:r>
                      <a:r>
                        <a:rPr lang="en-US" altLang="zh-CN" sz="1400" b="0" i="0">
                          <a:solidFill>
                            <a:srgbClr val="000000"/>
                          </a:solidFill>
                          <a:ea typeface="+mn-lt"/>
                          <a:cs typeface="+mn-lt"/>
                        </a:rPr>
                        <a:t>0</a:t>
                      </a:r>
                      <a:r>
                        <a:rPr lang="zh-CN" altLang="en-US" sz="1400" b="0" i="0">
                          <a:solidFill>
                            <a:srgbClr val="000000"/>
                          </a:solidFill>
                          <a:ea typeface="+mn-lt"/>
                          <a:cs typeface="+mn-lt"/>
                        </a:rPr>
                        <a:t>，属于不正常现象</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460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兰考县、杞县</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88.8</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3690">
                <a:tc>
                  <a:txBody>
                    <a:bodyPr/>
                    <a:p>
                      <a:pPr algn="ctr" fontAlgn="ctr"/>
                      <a:r>
                        <a:rPr lang="zh-CN" altLang="en-US" sz="1400" b="0" i="0">
                          <a:solidFill>
                            <a:srgbClr val="000000"/>
                          </a:solidFill>
                          <a:ea typeface="+mn-lt"/>
                        </a:rPr>
                        <a:t>通许</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90.7</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2</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cs typeface="+mn-lt"/>
                        </a:rPr>
                        <a:t>仓库库存为</a:t>
                      </a:r>
                      <a:r>
                        <a:rPr lang="en-US" altLang="zh-CN" sz="1400" b="0" i="0">
                          <a:solidFill>
                            <a:srgbClr val="000000"/>
                          </a:solidFill>
                          <a:ea typeface="+mn-lt"/>
                          <a:cs typeface="+mn-lt"/>
                        </a:rPr>
                        <a:t>0</a:t>
                      </a:r>
                      <a:r>
                        <a:rPr lang="zh-CN" altLang="en-US" sz="1400" b="0" i="0">
                          <a:solidFill>
                            <a:srgbClr val="000000"/>
                          </a:solidFill>
                          <a:ea typeface="+mn-lt"/>
                          <a:cs typeface="+mn-lt"/>
                        </a:rPr>
                        <a:t>，属于不正常现象</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410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祥符区、通许县</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88.7</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4325">
                <a:tc>
                  <a:txBody>
                    <a:bodyPr/>
                    <a:p>
                      <a:pPr algn="ctr" fontAlgn="ctr"/>
                      <a:r>
                        <a:rPr lang="zh-CN" altLang="en-US" sz="1400" b="0" i="0">
                          <a:solidFill>
                            <a:srgbClr val="000000"/>
                          </a:solidFill>
                          <a:ea typeface="+mn-lt"/>
                        </a:rPr>
                        <a:t>上蔡</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86.5</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270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上蔡县</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86.5</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3690">
                <a:tc>
                  <a:txBody>
                    <a:bodyPr/>
                    <a:p>
                      <a:pPr algn="ctr" fontAlgn="ctr"/>
                      <a:r>
                        <a:rPr lang="zh-CN" altLang="en-US" sz="1400" b="0" i="0">
                          <a:solidFill>
                            <a:srgbClr val="000000"/>
                          </a:solidFill>
                          <a:ea typeface="+mn-lt"/>
                        </a:rPr>
                        <a:t>偃师</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75.1</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cs typeface="+mn-lt"/>
                        </a:rPr>
                        <a:t>150</a:t>
                      </a:r>
                      <a:r>
                        <a:rPr lang="zh-CN" altLang="en-US" sz="1400" b="0" i="0">
                          <a:solidFill>
                            <a:srgbClr val="000000"/>
                          </a:solidFill>
                          <a:ea typeface="+mn-lt"/>
                          <a:cs typeface="+mn-lt"/>
                        </a:rPr>
                        <a:t>万左右</a:t>
                      </a:r>
                      <a:endParaRPr lang="zh-CN" altLang="en-US" sz="1400" b="0" i="0">
                        <a:solidFill>
                          <a:srgbClr val="000000"/>
                        </a:solidFill>
                        <a:ea typeface="+mn-lt"/>
                        <a:cs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000000"/>
                          </a:solidFill>
                          <a:ea typeface="+mn-lt"/>
                        </a:rPr>
                        <a:t>偃师、伊川县</a:t>
                      </a:r>
                      <a:endParaRPr lang="zh-CN" altLang="en-US"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000000"/>
                          </a:solidFill>
                          <a:ea typeface="+mn-lt"/>
                        </a:rPr>
                        <a:t>75.1</a:t>
                      </a:r>
                      <a:endParaRPr lang="en-US" altLang="zh-CN" sz="1400" b="0" i="0">
                        <a:solidFill>
                          <a:srgbClr val="000000"/>
                        </a:solidFill>
                        <a:ea typeface="+mn-lt"/>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21" name="文本框 20"/>
          <p:cNvSpPr txBox="1"/>
          <p:nvPr/>
        </p:nvSpPr>
        <p:spPr>
          <a:xfrm>
            <a:off x="500380" y="5031105"/>
            <a:ext cx="10822940" cy="1487170"/>
          </a:xfrm>
          <a:prstGeom prst="rect">
            <a:avLst/>
          </a:prstGeom>
          <a:noFill/>
        </p:spPr>
        <p:txBody>
          <a:bodyPr wrap="square" rtlCol="0">
            <a:noAutofit/>
          </a:bodyPr>
          <a:p>
            <a:pPr marL="285750" indent="-285750">
              <a:buFont typeface="Wingdings" panose="05000000000000000000" charset="0"/>
              <a:buChar char="u"/>
            </a:pPr>
            <a:r>
              <a:rPr lang="zh-CN" altLang="en-US"/>
              <a:t>本次检查中</a:t>
            </a:r>
            <a:r>
              <a:rPr lang="zh-CN" altLang="en-US">
                <a:highlight>
                  <a:srgbClr val="00FF00"/>
                </a:highlight>
              </a:rPr>
              <a:t>中原市场</a:t>
            </a:r>
            <a:r>
              <a:rPr lang="zh-CN" altLang="en-US"/>
              <a:t>得分最高</a:t>
            </a:r>
            <a:r>
              <a:rPr lang="en-US" altLang="zh-CN"/>
              <a:t>89.6</a:t>
            </a:r>
            <a:r>
              <a:rPr lang="zh-CN" altLang="en-US"/>
              <a:t>分，</a:t>
            </a:r>
            <a:r>
              <a:rPr lang="zh-CN" altLang="en-US">
                <a:highlight>
                  <a:srgbClr val="FF0000"/>
                </a:highlight>
              </a:rPr>
              <a:t>偃师市场</a:t>
            </a:r>
            <a:r>
              <a:rPr lang="zh-CN" altLang="en-US"/>
              <a:t>得分最低</a:t>
            </a:r>
            <a:r>
              <a:rPr lang="en-US" altLang="zh-CN"/>
              <a:t>75.1</a:t>
            </a:r>
            <a:r>
              <a:rPr lang="zh-CN" altLang="en-US"/>
              <a:t>分；</a:t>
            </a:r>
            <a:endParaRPr lang="zh-CN" altLang="en-US"/>
          </a:p>
          <a:p>
            <a:pPr marL="285750" indent="-285750">
              <a:buFont typeface="Wingdings" panose="05000000000000000000" charset="0"/>
              <a:buChar char="u"/>
            </a:pPr>
            <a:endParaRPr lang="zh-CN" altLang="en-US"/>
          </a:p>
          <a:p>
            <a:pPr marL="285750" indent="-285750">
              <a:buFont typeface="Wingdings" panose="05000000000000000000" charset="0"/>
              <a:buChar char="u"/>
            </a:pPr>
            <a:r>
              <a:rPr lang="zh-CN" altLang="en-US"/>
              <a:t>本次检查中仅有</a:t>
            </a:r>
            <a:r>
              <a:rPr lang="zh-CN" altLang="en-US">
                <a:highlight>
                  <a:srgbClr val="00FF00"/>
                </a:highlight>
              </a:rPr>
              <a:t>淮阳市场</a:t>
            </a:r>
            <a:r>
              <a:rPr lang="zh-CN" altLang="en-US"/>
              <a:t>为经销商亲自管理市场，其余市场多为</a:t>
            </a:r>
            <a:r>
              <a:rPr lang="en-US" altLang="zh-CN"/>
              <a:t>“</a:t>
            </a:r>
            <a:r>
              <a:rPr lang="zh-CN" altLang="en-US"/>
              <a:t>口二代</a:t>
            </a:r>
            <a:r>
              <a:rPr lang="en-US" altLang="zh-CN"/>
              <a:t>”</a:t>
            </a:r>
            <a:r>
              <a:rPr lang="zh-CN" altLang="en-US"/>
              <a:t>或市场经理代管</a:t>
            </a:r>
            <a:r>
              <a:rPr lang="zh-CN" altLang="en-US"/>
              <a:t>市场。</a:t>
            </a:r>
            <a:endParaRPr lang="zh-CN" altLang="en-US"/>
          </a:p>
          <a:p>
            <a:pPr marL="285750" indent="-285750">
              <a:buFont typeface="Wingdings" panose="05000000000000000000" charset="0"/>
              <a:buChar char="u"/>
            </a:pPr>
            <a:endParaRPr lang="zh-CN" altLang="en-US"/>
          </a:p>
          <a:p>
            <a:pPr marL="285750" indent="-285750">
              <a:buFont typeface="Wingdings" panose="05000000000000000000" charset="0"/>
              <a:buChar char="u"/>
            </a:pPr>
            <a:r>
              <a:rPr lang="zh-CN" altLang="en-US"/>
              <a:t>在面谈</a:t>
            </a:r>
            <a:r>
              <a:rPr lang="zh-CN" altLang="en-US">
                <a:highlight>
                  <a:srgbClr val="FF0000"/>
                </a:highlight>
              </a:rPr>
              <a:t>兰考、通许</a:t>
            </a:r>
            <a:r>
              <a:rPr lang="zh-CN" altLang="en-US"/>
              <a:t>市场时发现，两个市场属亲戚关系，且仓库均已无库存，属不正常</a:t>
            </a:r>
            <a:r>
              <a:rPr lang="zh-CN" altLang="en-US"/>
              <a:t>现象。</a:t>
            </a:r>
            <a:endParaRPr lang="zh-CN" alt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3.</a:t>
            </a:r>
            <a:r>
              <a:rPr lang="zh-CN" altLang="en-US" sz="5400" b="1" dirty="0">
                <a:latin typeface="微软雅黑" panose="020B0503020204020204" pitchFamily="34" charset="-122"/>
                <a:ea typeface="微软雅黑" panose="020B0503020204020204" pitchFamily="34" charset="-122"/>
                <a:sym typeface="+mn-ea"/>
              </a:rPr>
              <a:t>市场重点问题及改善建议</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业务员存在工作不检点行为，影响公司品牌</a:t>
            </a:r>
            <a:r>
              <a:rPr lang="zh-CN" altLang="en-US"/>
              <a:t>形象</a:t>
            </a:r>
            <a:endParaRPr lang="zh-CN" altLang="en-US"/>
          </a:p>
        </p:txBody>
      </p:sp>
      <p:sp>
        <p:nvSpPr>
          <p:cNvPr id="7" name="文本框 6"/>
          <p:cNvSpPr txBox="1"/>
          <p:nvPr/>
        </p:nvSpPr>
        <p:spPr>
          <a:xfrm>
            <a:off x="408940" y="2427605"/>
            <a:ext cx="9817100" cy="41148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p:txBody>
      </p:sp>
      <p:sp>
        <p:nvSpPr>
          <p:cNvPr id="113" name="Rectangle 112"/>
          <p:cNvSpPr/>
          <p:nvPr/>
        </p:nvSpPr>
        <p:spPr>
          <a:xfrm>
            <a:off x="411480" y="2852928"/>
            <a:ext cx="9820656" cy="82296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Isosceles Triangle 113"/>
          <p:cNvSpPr/>
          <p:nvPr/>
        </p:nvSpPr>
        <p:spPr>
          <a:xfrm rot="5400000">
            <a:off x="694944" y="3108960"/>
            <a:ext cx="274320" cy="310896"/>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207008" y="2944368"/>
            <a:ext cx="8732520" cy="640080"/>
          </a:xfrm>
          <a:prstGeom prst="rect">
            <a:avLst/>
          </a:prstGeom>
          <a:noFill/>
        </p:spPr>
        <p:txBody>
          <a:bodyPr wrap="square" lIns="0" tIns="0" rIns="0" bIns="0" anchor="ctr">
            <a:spAutoFit/>
          </a:bodyPr>
          <a:lstStyle/>
          <a:p>
            <a:pPr>
              <a:lnSpc>
                <a:spcPct val="125000"/>
              </a:lnSpc>
            </a:pPr>
            <a:r>
              <a:rPr sz="1400" b="0">
                <a:solidFill>
                  <a:srgbClr val="404040"/>
                </a:solidFill>
                <a:latin typeface="微软雅黑" panose="020B0503020204020204" pitchFamily="34" charset="-122"/>
              </a:rPr>
              <a:t>本次检查过程中有店家反馈业务员存在缺斤少两现象，调换产品时故意少换一至两小包，导致终端老板对此业务员信任度下降，并在终端老板群内传播。</a:t>
            </a:r>
            <a:endParaRPr sz="1400" b="0">
              <a:solidFill>
                <a:srgbClr val="404040"/>
              </a:solidFill>
              <a:latin typeface="微软雅黑" panose="020B0503020204020204" pitchFamily="34" charset="-122"/>
            </a:endParaRPr>
          </a:p>
        </p:txBody>
      </p:sp>
      <p:sp>
        <p:nvSpPr>
          <p:cNvPr id="116" name="TextBox 115"/>
          <p:cNvSpPr txBox="1"/>
          <p:nvPr/>
        </p:nvSpPr>
        <p:spPr>
          <a:xfrm>
            <a:off x="411480" y="3895344"/>
            <a:ext cx="3657600" cy="365760"/>
          </a:xfrm>
          <a:prstGeom prst="rect">
            <a:avLst/>
          </a:prstGeom>
          <a:noFill/>
        </p:spPr>
        <p:txBody>
          <a:bodyPr wrap="square" lIns="0" tIns="0" rIns="0" bIns="0" anchor="t">
            <a:spAutoFit/>
          </a:bodyPr>
          <a:lstStyle/>
          <a:p>
            <a:r>
              <a:rPr sz="1600" b="1">
                <a:solidFill>
                  <a:srgbClr val="FF0000"/>
                </a:solidFill>
                <a:latin typeface="微软雅黑" panose="020B0503020204020204" pitchFamily="34" charset="-122"/>
              </a:rPr>
              <a:t>改善建议：</a:t>
            </a:r>
            <a:endParaRPr sz="1600" b="1">
              <a:solidFill>
                <a:srgbClr val="FF0000"/>
              </a:solidFill>
              <a:latin typeface="微软雅黑" panose="020B0503020204020204" pitchFamily="34" charset="-122"/>
            </a:endParaRPr>
          </a:p>
        </p:txBody>
      </p:sp>
      <p:sp>
        <p:nvSpPr>
          <p:cNvPr id="117" name="Rectangle 116"/>
          <p:cNvSpPr/>
          <p:nvPr/>
        </p:nvSpPr>
        <p:spPr>
          <a:xfrm>
            <a:off x="411480" y="4334256"/>
            <a:ext cx="9820656" cy="694944"/>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594360" y="4489704"/>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1</a:t>
            </a:r>
            <a:endParaRPr sz="1600" b="1">
              <a:solidFill>
                <a:srgbClr val="FFFFFF"/>
              </a:solidFill>
              <a:latin typeface="微软雅黑" panose="020B0503020204020204" pitchFamily="34" charset="-122"/>
            </a:endParaRPr>
          </a:p>
        </p:txBody>
      </p:sp>
      <p:sp>
        <p:nvSpPr>
          <p:cNvPr id="119" name="TextBox 118"/>
          <p:cNvSpPr txBox="1"/>
          <p:nvPr/>
        </p:nvSpPr>
        <p:spPr>
          <a:xfrm>
            <a:off x="1124712" y="4379976"/>
            <a:ext cx="1298448" cy="603504"/>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自查自纠</a:t>
            </a:r>
            <a:endParaRPr sz="1500" b="1">
              <a:solidFill>
                <a:srgbClr val="C00000"/>
              </a:solidFill>
              <a:latin typeface="微软雅黑" panose="020B0503020204020204" pitchFamily="34" charset="-122"/>
            </a:endParaRPr>
          </a:p>
        </p:txBody>
      </p:sp>
      <p:sp>
        <p:nvSpPr>
          <p:cNvPr id="120" name="Rectangle 119"/>
          <p:cNvSpPr/>
          <p:nvPr/>
        </p:nvSpPr>
        <p:spPr>
          <a:xfrm>
            <a:off x="2532888" y="4498848"/>
            <a:ext cx="12801" cy="36576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752344" y="4425696"/>
            <a:ext cx="7251192" cy="512064"/>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市场团队自查自纠，及时淘汰劣迹业务员</a:t>
            </a:r>
            <a:endParaRPr sz="1400" b="0">
              <a:solidFill>
                <a:srgbClr val="404040"/>
              </a:solidFill>
              <a:latin typeface="微软雅黑" panose="020B0503020204020204" pitchFamily="34" charset="-122"/>
            </a:endParaRPr>
          </a:p>
        </p:txBody>
      </p:sp>
      <p:sp>
        <p:nvSpPr>
          <p:cNvPr id="122" name="Rectangle 121"/>
          <p:cNvSpPr/>
          <p:nvPr/>
        </p:nvSpPr>
        <p:spPr>
          <a:xfrm>
            <a:off x="411480" y="5102352"/>
            <a:ext cx="9820656" cy="694944"/>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594360" y="5257800"/>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2</a:t>
            </a:r>
            <a:endParaRPr sz="1600" b="1">
              <a:solidFill>
                <a:srgbClr val="FFFFFF"/>
              </a:solidFill>
              <a:latin typeface="微软雅黑" panose="020B0503020204020204" pitchFamily="34" charset="-122"/>
            </a:endParaRPr>
          </a:p>
        </p:txBody>
      </p:sp>
      <p:sp>
        <p:nvSpPr>
          <p:cNvPr id="124" name="TextBox 123"/>
          <p:cNvSpPr txBox="1"/>
          <p:nvPr/>
        </p:nvSpPr>
        <p:spPr>
          <a:xfrm>
            <a:off x="1124712" y="5148072"/>
            <a:ext cx="1298448" cy="603504"/>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安抚客情</a:t>
            </a:r>
            <a:endParaRPr sz="1500" b="1">
              <a:solidFill>
                <a:srgbClr val="C00000"/>
              </a:solidFill>
              <a:latin typeface="微软雅黑" panose="020B0503020204020204" pitchFamily="34" charset="-122"/>
            </a:endParaRPr>
          </a:p>
        </p:txBody>
      </p:sp>
      <p:sp>
        <p:nvSpPr>
          <p:cNvPr id="125" name="Rectangle 124"/>
          <p:cNvSpPr/>
          <p:nvPr/>
        </p:nvSpPr>
        <p:spPr>
          <a:xfrm>
            <a:off x="2532888" y="5266944"/>
            <a:ext cx="12801" cy="36576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752344" y="5193792"/>
            <a:ext cx="7251192" cy="512064"/>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对受牵连的终端做出合理赔偿，维护客情</a:t>
            </a:r>
            <a:endParaRPr sz="1400" b="0">
              <a:solidFill>
                <a:srgbClr val="404040"/>
              </a:solidFill>
              <a:latin typeface="微软雅黑" panose="020B0503020204020204" pitchFamily="34" charset="-122"/>
            </a:endParaRPr>
          </a:p>
        </p:txBody>
      </p:sp>
      <p:sp>
        <p:nvSpPr>
          <p:cNvPr id="127" name="Rectangle 126"/>
          <p:cNvSpPr/>
          <p:nvPr/>
        </p:nvSpPr>
        <p:spPr>
          <a:xfrm>
            <a:off x="411480" y="5870448"/>
            <a:ext cx="9820656" cy="694944"/>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594360" y="602589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3</a:t>
            </a:r>
            <a:endParaRPr sz="1600" b="1">
              <a:solidFill>
                <a:srgbClr val="FFFFFF"/>
              </a:solidFill>
              <a:latin typeface="微软雅黑" panose="020B0503020204020204" pitchFamily="34" charset="-122"/>
            </a:endParaRPr>
          </a:p>
        </p:txBody>
      </p:sp>
      <p:sp>
        <p:nvSpPr>
          <p:cNvPr id="129" name="TextBox 128"/>
          <p:cNvSpPr txBox="1"/>
          <p:nvPr/>
        </p:nvSpPr>
        <p:spPr>
          <a:xfrm>
            <a:off x="1124712" y="5916168"/>
            <a:ext cx="1298448" cy="603504"/>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完善制度</a:t>
            </a:r>
            <a:endParaRPr sz="1500" b="1">
              <a:solidFill>
                <a:srgbClr val="C00000"/>
              </a:solidFill>
              <a:latin typeface="微软雅黑" panose="020B0503020204020204" pitchFamily="34" charset="-122"/>
            </a:endParaRPr>
          </a:p>
        </p:txBody>
      </p:sp>
      <p:sp>
        <p:nvSpPr>
          <p:cNvPr id="130" name="Rectangle 129"/>
          <p:cNvSpPr/>
          <p:nvPr/>
        </p:nvSpPr>
        <p:spPr>
          <a:xfrm>
            <a:off x="2532888" y="6035040"/>
            <a:ext cx="12801" cy="36576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752344" y="5961888"/>
            <a:ext cx="7251192" cy="512064"/>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建立健康的市场秩序，完善奖惩制度，定期进行相关培训</a:t>
            </a:r>
            <a:endParaRPr sz="1400" b="0">
              <a:solidFill>
                <a:srgbClr val="404040"/>
              </a:solidFill>
              <a:latin typeface="微软雅黑" panose="020B0503020204020204" pitchFamily="34"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过期标语未及时撤除，</a:t>
            </a:r>
            <a:r>
              <a:rPr lang="zh-CN" altLang="en-US"/>
              <a:t>易造成经营</a:t>
            </a:r>
            <a:r>
              <a:rPr lang="zh-CN" altLang="en-US"/>
              <a:t>风险</a:t>
            </a:r>
            <a:endParaRPr lang="zh-CN" altLang="en-US"/>
          </a:p>
        </p:txBody>
      </p:sp>
      <p:sp>
        <p:nvSpPr>
          <p:cNvPr id="7" name="文本框 6"/>
          <p:cNvSpPr txBox="1"/>
          <p:nvPr/>
        </p:nvSpPr>
        <p:spPr>
          <a:xfrm>
            <a:off x="408940" y="2081530"/>
            <a:ext cx="9817100" cy="960120"/>
          </a:xfrm>
          <a:prstGeom prst="rect">
            <a:avLst/>
          </a:prstGeom>
          <a:noFill/>
        </p:spPr>
        <p:txBody>
          <a:bodyPr wrap="square" rtlCol="0">
            <a:spAutoFit/>
          </a:bodyPr>
          <a:p>
            <a:pPr algn="l"/>
            <a:r>
              <a:rPr lang="zh-CN" altLang="en-US" b="1">
                <a:solidFill>
                  <a:srgbClr val="FF0000"/>
                </a:solidFill>
              </a:rPr>
              <a:t>问题点：</a:t>
            </a:r>
            <a:endParaRPr lang="zh-CN" altLang="en-US" b="1">
              <a:solidFill>
                <a:srgbClr val="FF0000"/>
              </a:solidFill>
            </a:endParaRPr>
          </a:p>
          <a:p>
            <a:pPr algn="l">
              <a:lnSpc>
                <a:spcPct val="120000"/>
              </a:lnSpc>
            </a:pPr>
            <a:r>
              <a:rPr sz="1600">
                <a:solidFill>
                  <a:srgbClr val="404040"/>
                </a:solidFill>
                <a:latin typeface="微软雅黑" panose="020B0503020204020204" pitchFamily="34" charset="-122"/>
              </a:rPr>
              <a:t>过期标语仍在市场运用（提神快、十包高端槟榔七包和成天下），未及时撤除。其中偃师市场情况较为严重，包含陈列盒/架以及终端品宣。</a:t>
            </a:r>
            <a:endParaRPr sz="1600">
              <a:solidFill>
                <a:srgbClr val="404040"/>
              </a:solidFill>
              <a:latin typeface="微软雅黑" panose="020B0503020204020204" pitchFamily="34" charset="-122"/>
            </a:endParaRPr>
          </a:p>
        </p:txBody>
      </p:sp>
      <p:pic>
        <p:nvPicPr>
          <p:cNvPr id="2" name="图片 1"/>
          <p:cNvPicPr>
            <a:picLocks noChangeAspect="1"/>
          </p:cNvPicPr>
          <p:nvPr/>
        </p:nvPicPr>
        <p:blipFill>
          <a:blip r:embed="rId8"/>
          <a:stretch>
            <a:fillRect/>
          </a:stretch>
        </p:blipFill>
        <p:spPr>
          <a:xfrm>
            <a:off x="506730" y="3023870"/>
            <a:ext cx="3009265" cy="2256790"/>
          </a:xfrm>
          <a:prstGeom prst="rect">
            <a:avLst/>
          </a:prstGeom>
          <a:ln w="12700">
            <a:solidFill>
              <a:srgbClr val="D9D9D9"/>
            </a:solidFill>
          </a:ln>
        </p:spPr>
      </p:pic>
      <p:pic>
        <p:nvPicPr>
          <p:cNvPr id="3" name="图片 2"/>
          <p:cNvPicPr>
            <a:picLocks noChangeAspect="1"/>
          </p:cNvPicPr>
          <p:nvPr/>
        </p:nvPicPr>
        <p:blipFill>
          <a:blip r:embed="rId9"/>
          <a:stretch>
            <a:fillRect/>
          </a:stretch>
        </p:blipFill>
        <p:spPr>
          <a:xfrm>
            <a:off x="9290685" y="2867978"/>
            <a:ext cx="1854835" cy="2475865"/>
          </a:xfrm>
          <a:prstGeom prst="rect">
            <a:avLst/>
          </a:prstGeom>
          <a:ln w="12700">
            <a:solidFill>
              <a:srgbClr val="D9D9D9"/>
            </a:solidFill>
          </a:ln>
        </p:spPr>
      </p:pic>
      <p:pic>
        <p:nvPicPr>
          <p:cNvPr id="4" name="图片 3"/>
          <p:cNvPicPr>
            <a:picLocks noChangeAspect="1"/>
          </p:cNvPicPr>
          <p:nvPr/>
        </p:nvPicPr>
        <p:blipFill>
          <a:blip r:embed="rId10"/>
          <a:stretch>
            <a:fillRect/>
          </a:stretch>
        </p:blipFill>
        <p:spPr>
          <a:xfrm>
            <a:off x="7131685" y="2867978"/>
            <a:ext cx="1855470" cy="2475865"/>
          </a:xfrm>
          <a:prstGeom prst="rect">
            <a:avLst/>
          </a:prstGeom>
          <a:ln w="12700">
            <a:solidFill>
              <a:srgbClr val="D9D9D9"/>
            </a:solidFill>
          </a:ln>
        </p:spPr>
      </p:pic>
      <p:pic>
        <p:nvPicPr>
          <p:cNvPr id="5" name="图片 4"/>
          <p:cNvPicPr>
            <a:picLocks noChangeAspect="1"/>
          </p:cNvPicPr>
          <p:nvPr/>
        </p:nvPicPr>
        <p:blipFill>
          <a:blip r:embed="rId11"/>
          <a:stretch>
            <a:fillRect/>
          </a:stretch>
        </p:blipFill>
        <p:spPr>
          <a:xfrm flipH="1">
            <a:off x="3819525" y="3028315"/>
            <a:ext cx="3008630" cy="2257200"/>
          </a:xfrm>
          <a:prstGeom prst="rect">
            <a:avLst/>
          </a:prstGeom>
          <a:ln w="12700">
            <a:solidFill>
              <a:srgbClr val="D9D9D9"/>
            </a:solidFill>
          </a:ln>
        </p:spPr>
      </p:pic>
      <p:sp>
        <p:nvSpPr>
          <p:cNvPr id="110" name="TextBox 109"/>
          <p:cNvSpPr txBox="1"/>
          <p:nvPr/>
        </p:nvSpPr>
        <p:spPr>
          <a:xfrm>
            <a:off x="411480" y="5340350"/>
            <a:ext cx="3657600" cy="323215"/>
          </a:xfrm>
          <a:prstGeom prst="rect">
            <a:avLst/>
          </a:prstGeom>
          <a:noFill/>
        </p:spPr>
        <p:txBody>
          <a:bodyPr wrap="square" lIns="0" tIns="0" rIns="0" bIns="0" anchor="t">
            <a:noAutofit/>
          </a:bodyPr>
          <a:lstStyle/>
          <a:p>
            <a:pPr algn="l"/>
            <a:r>
              <a:rPr sz="1600" b="1">
                <a:solidFill>
                  <a:srgbClr val="FF0000"/>
                </a:solidFill>
                <a:latin typeface="微软雅黑" panose="020B0503020204020204" pitchFamily="34" charset="-122"/>
              </a:rPr>
              <a:t>改善建议：</a:t>
            </a:r>
            <a:endParaRPr sz="1600" b="1">
              <a:solidFill>
                <a:srgbClr val="FF0000"/>
              </a:solidFill>
              <a:latin typeface="微软雅黑" panose="020B0503020204020204" pitchFamily="34" charset="-122"/>
            </a:endParaRPr>
          </a:p>
        </p:txBody>
      </p:sp>
      <p:sp>
        <p:nvSpPr>
          <p:cNvPr id="111" name="Rectangle 110"/>
          <p:cNvSpPr/>
          <p:nvPr/>
        </p:nvSpPr>
        <p:spPr>
          <a:xfrm>
            <a:off x="411480" y="5644515"/>
            <a:ext cx="4819015" cy="96520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124712" y="5595238"/>
            <a:ext cx="1298448" cy="969263"/>
          </a:xfrm>
          <a:prstGeom prst="rect">
            <a:avLst/>
          </a:prstGeom>
          <a:noFill/>
        </p:spPr>
        <p:txBody>
          <a:bodyPr wrap="square" lIns="0" tIns="0" rIns="0" bIns="0" anchor="ctr">
            <a:spAutoFit/>
          </a:bodyPr>
          <a:lstStyle/>
          <a:p>
            <a:r>
              <a:rPr sz="1400" b="1">
                <a:solidFill>
                  <a:srgbClr val="C00000"/>
                </a:solidFill>
                <a:latin typeface="微软雅黑" panose="020B0503020204020204" pitchFamily="34" charset="-122"/>
              </a:rPr>
              <a:t>全面清洗</a:t>
            </a:r>
            <a:endParaRPr sz="1400" b="1">
              <a:solidFill>
                <a:srgbClr val="C00000"/>
              </a:solidFill>
              <a:latin typeface="微软雅黑" panose="020B0503020204020204" pitchFamily="34" charset="-122"/>
            </a:endParaRPr>
          </a:p>
        </p:txBody>
      </p:sp>
      <p:sp>
        <p:nvSpPr>
          <p:cNvPr id="114" name="Rectangle 113"/>
          <p:cNvSpPr/>
          <p:nvPr/>
        </p:nvSpPr>
        <p:spPr>
          <a:xfrm>
            <a:off x="2532888" y="5705855"/>
            <a:ext cx="12801" cy="731519"/>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752344" y="5640958"/>
            <a:ext cx="2249424" cy="877824"/>
          </a:xfrm>
          <a:prstGeom prst="rect">
            <a:avLst/>
          </a:prstGeom>
          <a:noFill/>
        </p:spPr>
        <p:txBody>
          <a:bodyPr wrap="square" lIns="0" tIns="0" rIns="0" bIns="0" anchor="ctr">
            <a:spAutoFit/>
          </a:bodyPr>
          <a:lstStyle/>
          <a:p>
            <a:pPr>
              <a:lnSpc>
                <a:spcPct val="120000"/>
              </a:lnSpc>
            </a:pPr>
            <a:r>
              <a:rPr sz="1200" b="0">
                <a:solidFill>
                  <a:srgbClr val="404040"/>
                </a:solidFill>
                <a:latin typeface="微软雅黑" panose="020B0503020204020204" pitchFamily="34" charset="-122"/>
              </a:rPr>
              <a:t>市场全面大清洗，动员市场所有人员全面撤除过期品宣</a:t>
            </a:r>
            <a:endParaRPr sz="1200" b="0">
              <a:solidFill>
                <a:srgbClr val="404040"/>
              </a:solidFill>
              <a:latin typeface="微软雅黑" panose="020B0503020204020204" pitchFamily="34" charset="-122"/>
            </a:endParaRPr>
          </a:p>
        </p:txBody>
      </p:sp>
      <p:sp>
        <p:nvSpPr>
          <p:cNvPr id="116" name="Rectangle 115"/>
          <p:cNvSpPr/>
          <p:nvPr/>
        </p:nvSpPr>
        <p:spPr>
          <a:xfrm>
            <a:off x="5516245" y="5640705"/>
            <a:ext cx="4819015" cy="96520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5596128" y="5879592"/>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2</a:t>
            </a:r>
            <a:endParaRPr sz="1600" b="1">
              <a:solidFill>
                <a:srgbClr val="FFFFFF"/>
              </a:solidFill>
              <a:latin typeface="微软雅黑" panose="020B0503020204020204" pitchFamily="34" charset="-122"/>
            </a:endParaRPr>
          </a:p>
        </p:txBody>
      </p:sp>
      <p:sp>
        <p:nvSpPr>
          <p:cNvPr id="118" name="TextBox 117"/>
          <p:cNvSpPr txBox="1"/>
          <p:nvPr/>
        </p:nvSpPr>
        <p:spPr>
          <a:xfrm>
            <a:off x="6126480" y="5595238"/>
            <a:ext cx="1298448" cy="969263"/>
          </a:xfrm>
          <a:prstGeom prst="rect">
            <a:avLst/>
          </a:prstGeom>
          <a:noFill/>
        </p:spPr>
        <p:txBody>
          <a:bodyPr wrap="square" lIns="0" tIns="0" rIns="0" bIns="0" anchor="ctr">
            <a:spAutoFit/>
          </a:bodyPr>
          <a:lstStyle/>
          <a:p>
            <a:r>
              <a:rPr sz="1400" b="1">
                <a:solidFill>
                  <a:srgbClr val="C00000"/>
                </a:solidFill>
                <a:latin typeface="微软雅黑" panose="020B0503020204020204" pitchFamily="34" charset="-122"/>
              </a:rPr>
              <a:t>重点扶持</a:t>
            </a:r>
            <a:endParaRPr sz="1400" b="1">
              <a:solidFill>
                <a:srgbClr val="C00000"/>
              </a:solidFill>
              <a:latin typeface="微软雅黑" panose="020B0503020204020204" pitchFamily="34" charset="-122"/>
            </a:endParaRPr>
          </a:p>
        </p:txBody>
      </p:sp>
      <p:sp>
        <p:nvSpPr>
          <p:cNvPr id="119" name="Rectangle 118"/>
          <p:cNvSpPr/>
          <p:nvPr/>
        </p:nvSpPr>
        <p:spPr>
          <a:xfrm>
            <a:off x="7534656" y="5705855"/>
            <a:ext cx="12801" cy="731519"/>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7754112" y="5640958"/>
            <a:ext cx="2249424" cy="877824"/>
          </a:xfrm>
          <a:prstGeom prst="rect">
            <a:avLst/>
          </a:prstGeom>
          <a:noFill/>
        </p:spPr>
        <p:txBody>
          <a:bodyPr wrap="square" lIns="0" tIns="0" rIns="0" bIns="0" anchor="ctr">
            <a:spAutoFit/>
          </a:bodyPr>
          <a:lstStyle/>
          <a:p>
            <a:pPr>
              <a:lnSpc>
                <a:spcPct val="120000"/>
              </a:lnSpc>
            </a:pPr>
            <a:r>
              <a:rPr sz="1200" b="0">
                <a:solidFill>
                  <a:srgbClr val="404040"/>
                </a:solidFill>
                <a:latin typeface="微软雅黑" panose="020B0503020204020204" pitchFamily="34" charset="-122"/>
              </a:rPr>
              <a:t>对人员密集、地理位置优越（景区、十字路口、步行街等）的终端给予大品宣费用支持</a:t>
            </a:r>
            <a:endParaRPr sz="1200" b="0">
              <a:solidFill>
                <a:srgbClr val="404040"/>
              </a:solidFill>
              <a:latin typeface="微软雅黑" panose="020B0503020204020204" pitchFamily="34" charset="-122"/>
            </a:endParaRPr>
          </a:p>
        </p:txBody>
      </p:sp>
      <p:sp>
        <p:nvSpPr>
          <p:cNvPr id="121" name="Rounded Rectangle 120"/>
          <p:cNvSpPr/>
          <p:nvPr/>
        </p:nvSpPr>
        <p:spPr>
          <a:xfrm>
            <a:off x="594360" y="5887847"/>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1</a:t>
            </a:r>
            <a:endParaRPr sz="1600" b="1">
              <a:solidFill>
                <a:srgbClr val="FFFFFF"/>
              </a:solidFill>
              <a:latin typeface="微软雅黑" panose="020B0503020204020204" pitchFamily="34"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骄阳行动颁奖进度缓慢，线上舆论</a:t>
            </a:r>
            <a:r>
              <a:rPr lang="zh-CN" altLang="en-US"/>
              <a:t>增加</a:t>
            </a:r>
            <a:endParaRPr lang="zh-CN" altLang="en-US"/>
          </a:p>
        </p:txBody>
      </p:sp>
      <p:sp>
        <p:nvSpPr>
          <p:cNvPr id="7" name="文本框 6"/>
          <p:cNvSpPr txBox="1"/>
          <p:nvPr/>
        </p:nvSpPr>
        <p:spPr>
          <a:xfrm>
            <a:off x="408940" y="2427605"/>
            <a:ext cx="9817100" cy="41148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p:txBody>
      </p:sp>
      <p:sp>
        <p:nvSpPr>
          <p:cNvPr id="113" name="Rectangle 112"/>
          <p:cNvSpPr/>
          <p:nvPr/>
        </p:nvSpPr>
        <p:spPr>
          <a:xfrm>
            <a:off x="411480" y="2852928"/>
            <a:ext cx="9820656" cy="82296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Isosceles Triangle 113"/>
          <p:cNvSpPr/>
          <p:nvPr/>
        </p:nvSpPr>
        <p:spPr>
          <a:xfrm rot="5400000">
            <a:off x="694944" y="3108960"/>
            <a:ext cx="274320" cy="310896"/>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207008" y="2944368"/>
            <a:ext cx="8732520" cy="640080"/>
          </a:xfrm>
          <a:prstGeom prst="rect">
            <a:avLst/>
          </a:prstGeom>
          <a:noFill/>
        </p:spPr>
        <p:txBody>
          <a:bodyPr wrap="square" lIns="0" tIns="0" rIns="0" bIns="0" anchor="ctr">
            <a:spAutoFit/>
          </a:bodyPr>
          <a:lstStyle/>
          <a:p>
            <a:pPr>
              <a:lnSpc>
                <a:spcPct val="125000"/>
              </a:lnSpc>
            </a:pPr>
            <a:r>
              <a:rPr sz="1400" b="0">
                <a:solidFill>
                  <a:srgbClr val="404040"/>
                </a:solidFill>
                <a:latin typeface="微软雅黑" panose="020B0503020204020204" pitchFamily="34" charset="-122"/>
              </a:rPr>
              <a:t>奖品（电动车、手机）到达市场时间较长，市场颁奖进度缓慢，导致中奖客户在线上发布不实信息，给予市场较大压力。</a:t>
            </a:r>
            <a:endParaRPr sz="1400" b="0">
              <a:solidFill>
                <a:srgbClr val="404040"/>
              </a:solidFill>
              <a:latin typeface="微软雅黑" panose="020B0503020204020204" pitchFamily="34" charset="-122"/>
            </a:endParaRPr>
          </a:p>
        </p:txBody>
      </p:sp>
      <p:sp>
        <p:nvSpPr>
          <p:cNvPr id="116" name="TextBox 115"/>
          <p:cNvSpPr txBox="1"/>
          <p:nvPr/>
        </p:nvSpPr>
        <p:spPr>
          <a:xfrm>
            <a:off x="411480" y="3895344"/>
            <a:ext cx="3657600" cy="365760"/>
          </a:xfrm>
          <a:prstGeom prst="rect">
            <a:avLst/>
          </a:prstGeom>
          <a:noFill/>
        </p:spPr>
        <p:txBody>
          <a:bodyPr wrap="square" lIns="0" tIns="0" rIns="0" bIns="0" anchor="t">
            <a:spAutoFit/>
          </a:bodyPr>
          <a:lstStyle/>
          <a:p>
            <a:r>
              <a:rPr sz="1600" b="1">
                <a:solidFill>
                  <a:srgbClr val="FF0000"/>
                </a:solidFill>
                <a:latin typeface="微软雅黑" panose="020B0503020204020204" pitchFamily="34" charset="-122"/>
              </a:rPr>
              <a:t>改善建议：</a:t>
            </a:r>
            <a:endParaRPr sz="1600" b="1">
              <a:solidFill>
                <a:srgbClr val="FF0000"/>
              </a:solidFill>
              <a:latin typeface="微软雅黑" panose="020B0503020204020204" pitchFamily="34" charset="-122"/>
            </a:endParaRPr>
          </a:p>
        </p:txBody>
      </p:sp>
      <p:sp>
        <p:nvSpPr>
          <p:cNvPr id="117" name="Rectangle 116"/>
          <p:cNvSpPr/>
          <p:nvPr/>
        </p:nvSpPr>
        <p:spPr>
          <a:xfrm>
            <a:off x="411480" y="4334256"/>
            <a:ext cx="9820656" cy="1024128"/>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594360" y="465429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1</a:t>
            </a:r>
            <a:endParaRPr sz="1600" b="1">
              <a:solidFill>
                <a:srgbClr val="FFFFFF"/>
              </a:solidFill>
              <a:latin typeface="微软雅黑" panose="020B0503020204020204" pitchFamily="34" charset="-122"/>
            </a:endParaRPr>
          </a:p>
        </p:txBody>
      </p:sp>
      <p:sp>
        <p:nvSpPr>
          <p:cNvPr id="119" name="TextBox 118"/>
          <p:cNvSpPr txBox="1"/>
          <p:nvPr/>
        </p:nvSpPr>
        <p:spPr>
          <a:xfrm>
            <a:off x="1124712" y="4379976"/>
            <a:ext cx="1298448" cy="932688"/>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提前备货</a:t>
            </a:r>
            <a:endParaRPr sz="1500" b="1">
              <a:solidFill>
                <a:srgbClr val="C00000"/>
              </a:solidFill>
              <a:latin typeface="微软雅黑" panose="020B0503020204020204" pitchFamily="34" charset="-122"/>
            </a:endParaRPr>
          </a:p>
        </p:txBody>
      </p:sp>
      <p:sp>
        <p:nvSpPr>
          <p:cNvPr id="120" name="Rectangle 119"/>
          <p:cNvSpPr/>
          <p:nvPr/>
        </p:nvSpPr>
        <p:spPr>
          <a:xfrm>
            <a:off x="2532888" y="4498848"/>
            <a:ext cx="12801" cy="694944"/>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752344" y="4425696"/>
            <a:ext cx="7251192" cy="841248"/>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确定市场奖品数量并提前发往市场，保证颁奖质量的同时减少复杂流程</a:t>
            </a:r>
            <a:endParaRPr sz="1400" b="0">
              <a:solidFill>
                <a:srgbClr val="404040"/>
              </a:solidFill>
              <a:latin typeface="微软雅黑" panose="020B0503020204020204" pitchFamily="34" charset="-122"/>
            </a:endParaRPr>
          </a:p>
        </p:txBody>
      </p:sp>
      <p:sp>
        <p:nvSpPr>
          <p:cNvPr id="122" name="Rectangle 121"/>
          <p:cNvSpPr/>
          <p:nvPr/>
        </p:nvSpPr>
        <p:spPr>
          <a:xfrm>
            <a:off x="411480" y="5486400"/>
            <a:ext cx="9820656" cy="1024128"/>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594360" y="5806440"/>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2</a:t>
            </a:r>
            <a:endParaRPr sz="1600" b="1">
              <a:solidFill>
                <a:srgbClr val="FFFFFF"/>
              </a:solidFill>
              <a:latin typeface="微软雅黑" panose="020B0503020204020204" pitchFamily="34" charset="-122"/>
            </a:endParaRPr>
          </a:p>
        </p:txBody>
      </p:sp>
      <p:sp>
        <p:nvSpPr>
          <p:cNvPr id="124" name="TextBox 123"/>
          <p:cNvSpPr txBox="1"/>
          <p:nvPr/>
        </p:nvSpPr>
        <p:spPr>
          <a:xfrm>
            <a:off x="1124712" y="5532120"/>
            <a:ext cx="1298448" cy="932688"/>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话术安抚</a:t>
            </a:r>
            <a:endParaRPr sz="1500" b="1">
              <a:solidFill>
                <a:srgbClr val="C00000"/>
              </a:solidFill>
              <a:latin typeface="微软雅黑" panose="020B0503020204020204" pitchFamily="34" charset="-122"/>
            </a:endParaRPr>
          </a:p>
        </p:txBody>
      </p:sp>
      <p:sp>
        <p:nvSpPr>
          <p:cNvPr id="125" name="Rectangle 124"/>
          <p:cNvSpPr/>
          <p:nvPr/>
        </p:nvSpPr>
        <p:spPr>
          <a:xfrm>
            <a:off x="2532888" y="5650992"/>
            <a:ext cx="12801" cy="694944"/>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752344" y="5577840"/>
            <a:ext cx="7251192" cy="841248"/>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制定相关话术，业务员灵活使用话术安抚中奖客户情绪，减少相关舆论，维护本品形象</a:t>
            </a:r>
            <a:endParaRPr sz="1400" b="0">
              <a:solidFill>
                <a:srgbClr val="404040"/>
              </a:solidFill>
              <a:latin typeface="微软雅黑" panose="020B0503020204020204" pitchFamily="34"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市场档案未及时更新，影响工作</a:t>
            </a:r>
            <a:r>
              <a:rPr lang="zh-CN" altLang="en-US"/>
              <a:t>效率</a:t>
            </a:r>
            <a:endParaRPr lang="zh-CN" altLang="en-US"/>
          </a:p>
        </p:txBody>
      </p:sp>
      <p:sp>
        <p:nvSpPr>
          <p:cNvPr id="7" name="文本框 6"/>
          <p:cNvSpPr txBox="1"/>
          <p:nvPr/>
        </p:nvSpPr>
        <p:spPr>
          <a:xfrm>
            <a:off x="408940" y="2427605"/>
            <a:ext cx="9817100" cy="41148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p:txBody>
      </p:sp>
      <p:sp>
        <p:nvSpPr>
          <p:cNvPr id="113" name="Rectangle 112"/>
          <p:cNvSpPr/>
          <p:nvPr/>
        </p:nvSpPr>
        <p:spPr>
          <a:xfrm>
            <a:off x="411480" y="2852928"/>
            <a:ext cx="9820656" cy="91440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Isosceles Triangle 113"/>
          <p:cNvSpPr/>
          <p:nvPr/>
        </p:nvSpPr>
        <p:spPr>
          <a:xfrm rot="5400000">
            <a:off x="694944" y="3154680"/>
            <a:ext cx="274320" cy="310896"/>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207008" y="2944368"/>
            <a:ext cx="8732520" cy="731520"/>
          </a:xfrm>
          <a:prstGeom prst="rect">
            <a:avLst/>
          </a:prstGeom>
          <a:noFill/>
        </p:spPr>
        <p:txBody>
          <a:bodyPr wrap="square" lIns="0" tIns="0" rIns="0" bIns="0" anchor="ctr">
            <a:spAutoFit/>
          </a:bodyPr>
          <a:lstStyle/>
          <a:p>
            <a:pPr>
              <a:lnSpc>
                <a:spcPct val="125000"/>
              </a:lnSpc>
            </a:pPr>
            <a:r>
              <a:rPr sz="1400" b="0">
                <a:solidFill>
                  <a:srgbClr val="404040"/>
                </a:solidFill>
                <a:latin typeface="微软雅黑" panose="020B0503020204020204" pitchFamily="34" charset="-122"/>
              </a:rPr>
              <a:t>本次检查所收到通许市场的辖区为“开封县、通许县”，但通过市场走访及经销商面谈发现，“开封县”早于2014年更名为“祥符区”，现已无“开封县”该地名，对本次检核任务造成一定影响。</a:t>
            </a:r>
            <a:endParaRPr sz="1400" b="0">
              <a:solidFill>
                <a:srgbClr val="404040"/>
              </a:solidFill>
              <a:latin typeface="微软雅黑" panose="020B0503020204020204" pitchFamily="34" charset="-122"/>
            </a:endParaRPr>
          </a:p>
        </p:txBody>
      </p:sp>
      <p:sp>
        <p:nvSpPr>
          <p:cNvPr id="116" name="TextBox 115"/>
          <p:cNvSpPr txBox="1"/>
          <p:nvPr/>
        </p:nvSpPr>
        <p:spPr>
          <a:xfrm>
            <a:off x="411480" y="3986784"/>
            <a:ext cx="3657600" cy="365760"/>
          </a:xfrm>
          <a:prstGeom prst="rect">
            <a:avLst/>
          </a:prstGeom>
          <a:noFill/>
        </p:spPr>
        <p:txBody>
          <a:bodyPr wrap="square" lIns="0" tIns="0" rIns="0" bIns="0" anchor="t">
            <a:spAutoFit/>
          </a:bodyPr>
          <a:lstStyle/>
          <a:p>
            <a:r>
              <a:rPr sz="1600" b="1">
                <a:solidFill>
                  <a:srgbClr val="FF0000"/>
                </a:solidFill>
                <a:latin typeface="微软雅黑" panose="020B0503020204020204" pitchFamily="34" charset="-122"/>
              </a:rPr>
              <a:t>改善建议：</a:t>
            </a:r>
            <a:endParaRPr sz="1600" b="1">
              <a:solidFill>
                <a:srgbClr val="FF0000"/>
              </a:solidFill>
              <a:latin typeface="微软雅黑" panose="020B0503020204020204" pitchFamily="34" charset="-122"/>
            </a:endParaRPr>
          </a:p>
        </p:txBody>
      </p:sp>
      <p:sp>
        <p:nvSpPr>
          <p:cNvPr id="117" name="Rectangle 116"/>
          <p:cNvSpPr/>
          <p:nvPr/>
        </p:nvSpPr>
        <p:spPr>
          <a:xfrm>
            <a:off x="411480" y="4425696"/>
            <a:ext cx="9820656" cy="100584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594360" y="4736592"/>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1</a:t>
            </a:r>
            <a:endParaRPr sz="1600" b="1">
              <a:solidFill>
                <a:srgbClr val="FFFFFF"/>
              </a:solidFill>
              <a:latin typeface="微软雅黑" panose="020B0503020204020204" pitchFamily="34" charset="-122"/>
            </a:endParaRPr>
          </a:p>
        </p:txBody>
      </p:sp>
      <p:sp>
        <p:nvSpPr>
          <p:cNvPr id="119" name="TextBox 118"/>
          <p:cNvSpPr txBox="1"/>
          <p:nvPr/>
        </p:nvSpPr>
        <p:spPr>
          <a:xfrm>
            <a:off x="1124712" y="4471416"/>
            <a:ext cx="1298448" cy="91440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及时报备</a:t>
            </a:r>
            <a:endParaRPr sz="1500" b="1">
              <a:solidFill>
                <a:srgbClr val="C00000"/>
              </a:solidFill>
              <a:latin typeface="微软雅黑" panose="020B0503020204020204" pitchFamily="34" charset="-122"/>
            </a:endParaRPr>
          </a:p>
        </p:txBody>
      </p:sp>
      <p:sp>
        <p:nvSpPr>
          <p:cNvPr id="120" name="Rectangle 119"/>
          <p:cNvSpPr/>
          <p:nvPr/>
        </p:nvSpPr>
        <p:spPr>
          <a:xfrm>
            <a:off x="2532888" y="4590288"/>
            <a:ext cx="12801" cy="67665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752344" y="4517136"/>
            <a:ext cx="7251192" cy="822960"/>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市场辖区、仓库位置、联系电话有所变更时，应及时向公司报备</a:t>
            </a:r>
            <a:endParaRPr sz="1400" b="0">
              <a:solidFill>
                <a:srgbClr val="404040"/>
              </a:solidFill>
              <a:latin typeface="微软雅黑" panose="020B0503020204020204" pitchFamily="34" charset="-122"/>
            </a:endParaRPr>
          </a:p>
        </p:txBody>
      </p:sp>
      <p:sp>
        <p:nvSpPr>
          <p:cNvPr id="122" name="Rectangle 121"/>
          <p:cNvSpPr/>
          <p:nvPr/>
        </p:nvSpPr>
        <p:spPr>
          <a:xfrm>
            <a:off x="411480" y="5522976"/>
            <a:ext cx="9820656" cy="100584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594360" y="5833872"/>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2</a:t>
            </a:r>
            <a:endParaRPr sz="1600" b="1">
              <a:solidFill>
                <a:srgbClr val="FFFFFF"/>
              </a:solidFill>
              <a:latin typeface="微软雅黑" panose="020B0503020204020204" pitchFamily="34" charset="-122"/>
            </a:endParaRPr>
          </a:p>
        </p:txBody>
      </p:sp>
      <p:sp>
        <p:nvSpPr>
          <p:cNvPr id="124" name="TextBox 123"/>
          <p:cNvSpPr txBox="1"/>
          <p:nvPr/>
        </p:nvSpPr>
        <p:spPr>
          <a:xfrm>
            <a:off x="1124712" y="5568696"/>
            <a:ext cx="1298448" cy="91440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核实修正</a:t>
            </a:r>
            <a:endParaRPr sz="1500" b="1">
              <a:solidFill>
                <a:srgbClr val="C00000"/>
              </a:solidFill>
              <a:latin typeface="微软雅黑" panose="020B0503020204020204" pitchFamily="34" charset="-122"/>
            </a:endParaRPr>
          </a:p>
        </p:txBody>
      </p:sp>
      <p:sp>
        <p:nvSpPr>
          <p:cNvPr id="125" name="Rectangle 124"/>
          <p:cNvSpPr/>
          <p:nvPr/>
        </p:nvSpPr>
        <p:spPr>
          <a:xfrm>
            <a:off x="2532888" y="5687568"/>
            <a:ext cx="12801" cy="67665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752344" y="5614416"/>
            <a:ext cx="7251192" cy="822960"/>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公司相关部门核实各市场真实情况并作修正</a:t>
            </a:r>
            <a:endParaRPr sz="1400" b="0">
              <a:solidFill>
                <a:srgbClr val="404040"/>
              </a:solidFill>
              <a:latin typeface="微软雅黑" panose="020B0503020204020204" pitchFamily="34"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748020"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市场重点问题及改善建议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774954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22" name="等腰三角形 21"/>
          <p:cNvSpPr/>
          <p:nvPr/>
        </p:nvSpPr>
        <p:spPr>
          <a:xfrm>
            <a:off x="520790" y="1473797"/>
            <a:ext cx="465041" cy="40089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1" name="直接连接符 20"/>
          <p:cNvCxnSpPr/>
          <p:nvPr/>
        </p:nvCxnSpPr>
        <p:spPr>
          <a:xfrm>
            <a:off x="408940" y="2083065"/>
            <a:ext cx="9971405" cy="57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96975" y="1473835"/>
            <a:ext cx="6944360" cy="400685"/>
          </a:xfrm>
          <a:prstGeom prst="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销量目标</a:t>
            </a:r>
            <a:r>
              <a:rPr lang="zh-CN" altLang="en-US"/>
              <a:t>偏高，市场信心</a:t>
            </a:r>
            <a:r>
              <a:rPr lang="zh-CN" altLang="en-US"/>
              <a:t>低迷</a:t>
            </a:r>
            <a:endParaRPr lang="zh-CN" altLang="en-US"/>
          </a:p>
        </p:txBody>
      </p:sp>
      <p:sp>
        <p:nvSpPr>
          <p:cNvPr id="7" name="文本框 6"/>
          <p:cNvSpPr txBox="1"/>
          <p:nvPr/>
        </p:nvSpPr>
        <p:spPr>
          <a:xfrm>
            <a:off x="408940" y="2427605"/>
            <a:ext cx="9817100" cy="411480"/>
          </a:xfrm>
          <a:prstGeom prst="rect">
            <a:avLst/>
          </a:prstGeom>
          <a:noFill/>
        </p:spPr>
        <p:txBody>
          <a:bodyPr wrap="square" rtlCol="0">
            <a:spAutoFit/>
          </a:bodyPr>
          <a:p>
            <a:r>
              <a:rPr lang="zh-CN" altLang="en-US" b="1">
                <a:solidFill>
                  <a:srgbClr val="FF0000"/>
                </a:solidFill>
              </a:rPr>
              <a:t>问题点：</a:t>
            </a:r>
            <a:endParaRPr lang="zh-CN" altLang="en-US" b="1">
              <a:solidFill>
                <a:srgbClr val="FF0000"/>
              </a:solidFill>
            </a:endParaRPr>
          </a:p>
        </p:txBody>
      </p:sp>
      <p:sp>
        <p:nvSpPr>
          <p:cNvPr id="103" name="Rectangle 102"/>
          <p:cNvSpPr/>
          <p:nvPr/>
        </p:nvSpPr>
        <p:spPr>
          <a:xfrm>
            <a:off x="411480" y="2852928"/>
            <a:ext cx="9820656" cy="109728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Isosceles Triangle 103"/>
          <p:cNvSpPr/>
          <p:nvPr/>
        </p:nvSpPr>
        <p:spPr>
          <a:xfrm rot="5400000">
            <a:off x="694944" y="3246120"/>
            <a:ext cx="274320" cy="310896"/>
          </a:xfrm>
          <a:prstGeom prst="triangl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207008" y="2944368"/>
            <a:ext cx="8732520" cy="914400"/>
          </a:xfrm>
          <a:prstGeom prst="rect">
            <a:avLst/>
          </a:prstGeom>
          <a:noFill/>
        </p:spPr>
        <p:txBody>
          <a:bodyPr wrap="square" lIns="0" tIns="0" rIns="0" bIns="0" anchor="ctr">
            <a:spAutoFit/>
          </a:bodyPr>
          <a:lstStyle/>
          <a:p>
            <a:pPr>
              <a:lnSpc>
                <a:spcPct val="125000"/>
              </a:lnSpc>
            </a:pPr>
            <a:r>
              <a:rPr sz="1400" b="0">
                <a:solidFill>
                  <a:srgbClr val="404040"/>
                </a:solidFill>
                <a:latin typeface="微软雅黑" panose="020B0503020204020204" pitchFamily="34" charset="-122"/>
              </a:rPr>
              <a:t>本次所检河南市场6月、7月销量目标均未达成，据了解，未达成主要有以下两点原因：其一，市场销量同比去年无明显增长，但公司所定目标偏高。其二，市场本财年年度销量目标及月度销量目标均为去年年度经销商会议所制定，因未来事件无法预测，如遇突发问题无法保证销量达成率。</a:t>
            </a:r>
            <a:endParaRPr sz="1400" b="0">
              <a:solidFill>
                <a:srgbClr val="404040"/>
              </a:solidFill>
              <a:latin typeface="微软雅黑" panose="020B0503020204020204" pitchFamily="34" charset="-122"/>
            </a:endParaRPr>
          </a:p>
        </p:txBody>
      </p:sp>
      <p:sp>
        <p:nvSpPr>
          <p:cNvPr id="106" name="TextBox 105"/>
          <p:cNvSpPr txBox="1"/>
          <p:nvPr/>
        </p:nvSpPr>
        <p:spPr>
          <a:xfrm>
            <a:off x="411480" y="4169663"/>
            <a:ext cx="3657600" cy="365760"/>
          </a:xfrm>
          <a:prstGeom prst="rect">
            <a:avLst/>
          </a:prstGeom>
          <a:noFill/>
        </p:spPr>
        <p:txBody>
          <a:bodyPr wrap="square" lIns="0" tIns="0" rIns="0" bIns="0" anchor="t">
            <a:spAutoFit/>
          </a:bodyPr>
          <a:lstStyle/>
          <a:p>
            <a:r>
              <a:rPr sz="1600" b="1">
                <a:solidFill>
                  <a:srgbClr val="FF0000"/>
                </a:solidFill>
                <a:latin typeface="微软雅黑" panose="020B0503020204020204" pitchFamily="34" charset="-122"/>
              </a:rPr>
              <a:t>改善建议：</a:t>
            </a:r>
            <a:endParaRPr sz="1600" b="1">
              <a:solidFill>
                <a:srgbClr val="FF0000"/>
              </a:solidFill>
              <a:latin typeface="微软雅黑" panose="020B0503020204020204" pitchFamily="34" charset="-122"/>
            </a:endParaRPr>
          </a:p>
        </p:txBody>
      </p:sp>
      <p:sp>
        <p:nvSpPr>
          <p:cNvPr id="107" name="Rectangle 106"/>
          <p:cNvSpPr/>
          <p:nvPr/>
        </p:nvSpPr>
        <p:spPr>
          <a:xfrm>
            <a:off x="411480" y="4572000"/>
            <a:ext cx="9820656" cy="64008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594360" y="470001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1</a:t>
            </a:r>
            <a:endParaRPr sz="1600" b="1">
              <a:solidFill>
                <a:srgbClr val="FFFFFF"/>
              </a:solidFill>
              <a:latin typeface="微软雅黑" panose="020B0503020204020204" pitchFamily="34" charset="-122"/>
            </a:endParaRPr>
          </a:p>
        </p:txBody>
      </p:sp>
      <p:sp>
        <p:nvSpPr>
          <p:cNvPr id="109" name="TextBox 108"/>
          <p:cNvSpPr txBox="1"/>
          <p:nvPr/>
        </p:nvSpPr>
        <p:spPr>
          <a:xfrm>
            <a:off x="1124712" y="4617720"/>
            <a:ext cx="1298448" cy="54864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培育增长</a:t>
            </a:r>
            <a:endParaRPr sz="1500" b="1">
              <a:solidFill>
                <a:srgbClr val="C00000"/>
              </a:solidFill>
              <a:latin typeface="微软雅黑" panose="020B0503020204020204" pitchFamily="34" charset="-122"/>
            </a:endParaRPr>
          </a:p>
        </p:txBody>
      </p:sp>
      <p:sp>
        <p:nvSpPr>
          <p:cNvPr id="110" name="Rectangle 109"/>
          <p:cNvSpPr/>
          <p:nvPr/>
        </p:nvSpPr>
        <p:spPr>
          <a:xfrm>
            <a:off x="2532888" y="4736592"/>
            <a:ext cx="12801" cy="31089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752344" y="4681728"/>
            <a:ext cx="7251192" cy="420623"/>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市场管理者应根据市场不同情况制定销量增长方案，例培育新消费者、积极开发网点、吸引消费者转型和成口味等；</a:t>
            </a:r>
            <a:endParaRPr sz="1400" b="0">
              <a:solidFill>
                <a:srgbClr val="404040"/>
              </a:solidFill>
              <a:latin typeface="微软雅黑" panose="020B0503020204020204" pitchFamily="34" charset="-122"/>
            </a:endParaRPr>
          </a:p>
        </p:txBody>
      </p:sp>
      <p:sp>
        <p:nvSpPr>
          <p:cNvPr id="112" name="Rectangle 111"/>
          <p:cNvSpPr/>
          <p:nvPr/>
        </p:nvSpPr>
        <p:spPr>
          <a:xfrm>
            <a:off x="411480" y="5257800"/>
            <a:ext cx="9820656" cy="64008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594360" y="538581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2</a:t>
            </a:r>
            <a:endParaRPr sz="1600" b="1">
              <a:solidFill>
                <a:srgbClr val="FFFFFF"/>
              </a:solidFill>
              <a:latin typeface="微软雅黑" panose="020B0503020204020204" pitchFamily="34" charset="-122"/>
            </a:endParaRPr>
          </a:p>
        </p:txBody>
      </p:sp>
      <p:sp>
        <p:nvSpPr>
          <p:cNvPr id="114" name="TextBox 113"/>
          <p:cNvSpPr txBox="1"/>
          <p:nvPr/>
        </p:nvSpPr>
        <p:spPr>
          <a:xfrm>
            <a:off x="1124712" y="5303520"/>
            <a:ext cx="1298448" cy="54864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合理定标</a:t>
            </a:r>
            <a:endParaRPr sz="1500" b="1">
              <a:solidFill>
                <a:srgbClr val="C00000"/>
              </a:solidFill>
              <a:latin typeface="微软雅黑" panose="020B0503020204020204" pitchFamily="34" charset="-122"/>
            </a:endParaRPr>
          </a:p>
        </p:txBody>
      </p:sp>
      <p:sp>
        <p:nvSpPr>
          <p:cNvPr id="115" name="Rectangle 114"/>
          <p:cNvSpPr/>
          <p:nvPr/>
        </p:nvSpPr>
        <p:spPr>
          <a:xfrm>
            <a:off x="2532888" y="5422392"/>
            <a:ext cx="12801" cy="31089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752344" y="5367528"/>
            <a:ext cx="7251192" cy="420623"/>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根据市场类别、竞争强度、销量增长比例等方面合理制定各市场销量目标；</a:t>
            </a:r>
            <a:endParaRPr sz="1400" b="0">
              <a:solidFill>
                <a:srgbClr val="404040"/>
              </a:solidFill>
              <a:latin typeface="微软雅黑" panose="020B0503020204020204" pitchFamily="34" charset="-122"/>
            </a:endParaRPr>
          </a:p>
        </p:txBody>
      </p:sp>
      <p:sp>
        <p:nvSpPr>
          <p:cNvPr id="117" name="Rectangle 116"/>
          <p:cNvSpPr/>
          <p:nvPr/>
        </p:nvSpPr>
        <p:spPr>
          <a:xfrm>
            <a:off x="411480" y="5943600"/>
            <a:ext cx="9820656" cy="64008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594360" y="607161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3</a:t>
            </a:r>
            <a:endParaRPr sz="1600" b="1">
              <a:solidFill>
                <a:srgbClr val="FFFFFF"/>
              </a:solidFill>
              <a:latin typeface="微软雅黑" panose="020B0503020204020204" pitchFamily="34" charset="-122"/>
            </a:endParaRPr>
          </a:p>
        </p:txBody>
      </p:sp>
      <p:sp>
        <p:nvSpPr>
          <p:cNvPr id="119" name="TextBox 118"/>
          <p:cNvSpPr txBox="1"/>
          <p:nvPr/>
        </p:nvSpPr>
        <p:spPr>
          <a:xfrm>
            <a:off x="1124712" y="5989320"/>
            <a:ext cx="1298448" cy="54864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动态调节</a:t>
            </a:r>
            <a:endParaRPr sz="1500" b="1">
              <a:solidFill>
                <a:srgbClr val="C00000"/>
              </a:solidFill>
              <a:latin typeface="微软雅黑" panose="020B0503020204020204" pitchFamily="34" charset="-122"/>
            </a:endParaRPr>
          </a:p>
        </p:txBody>
      </p:sp>
      <p:sp>
        <p:nvSpPr>
          <p:cNvPr id="120" name="Rectangle 119"/>
          <p:cNvSpPr/>
          <p:nvPr/>
        </p:nvSpPr>
        <p:spPr>
          <a:xfrm>
            <a:off x="2532888" y="6108192"/>
            <a:ext cx="12801" cy="31089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752344" y="6053328"/>
            <a:ext cx="7251192" cy="420623"/>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制定来年销量目标后，可根据市场突发情况调整当月销量目标，设立调节机制；</a:t>
            </a:r>
            <a:endParaRPr sz="1400" b="0">
              <a:solidFill>
                <a:srgbClr val="404040"/>
              </a:solidFill>
              <a:latin typeface="微软雅黑" panose="020B0503020204020204" pitchFamily="34"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4.</a:t>
            </a:r>
            <a:r>
              <a:rPr lang="zh-CN" altLang="en-US" sz="5400" b="1" dirty="0">
                <a:latin typeface="微软雅黑" panose="020B0503020204020204" pitchFamily="34" charset="-122"/>
                <a:ea typeface="微软雅黑" panose="020B0503020204020204" pitchFamily="34" charset="-122"/>
                <a:sym typeface="+mn-ea"/>
              </a:rPr>
              <a:t>战区共识意见（初稿）</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455358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战区共识意见（初稿）</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692721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103" name="Rectangle 102"/>
          <p:cNvSpPr/>
          <p:nvPr/>
        </p:nvSpPr>
        <p:spPr>
          <a:xfrm>
            <a:off x="411480" y="1737360"/>
            <a:ext cx="9820656" cy="146304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594360" y="227685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1</a:t>
            </a:r>
            <a:endParaRPr sz="1600" b="1">
              <a:solidFill>
                <a:srgbClr val="FFFFFF"/>
              </a:solidFill>
              <a:latin typeface="微软雅黑" panose="020B0503020204020204" pitchFamily="34" charset="-122"/>
            </a:endParaRPr>
          </a:p>
        </p:txBody>
      </p:sp>
      <p:sp>
        <p:nvSpPr>
          <p:cNvPr id="105" name="TextBox 104"/>
          <p:cNvSpPr txBox="1"/>
          <p:nvPr/>
        </p:nvSpPr>
        <p:spPr>
          <a:xfrm>
            <a:off x="1124712" y="1783080"/>
            <a:ext cx="1298448" cy="137160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战术层</a:t>
            </a:r>
            <a:endParaRPr sz="1500" b="1">
              <a:solidFill>
                <a:srgbClr val="C00000"/>
              </a:solidFill>
              <a:latin typeface="微软雅黑" panose="020B0503020204020204" pitchFamily="34" charset="-122"/>
            </a:endParaRPr>
          </a:p>
        </p:txBody>
      </p:sp>
      <p:sp>
        <p:nvSpPr>
          <p:cNvPr id="106" name="Rectangle 105"/>
          <p:cNvSpPr/>
          <p:nvPr/>
        </p:nvSpPr>
        <p:spPr>
          <a:xfrm>
            <a:off x="2532888" y="1901952"/>
            <a:ext cx="12801" cy="113385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752344" y="1874519"/>
            <a:ext cx="6839712" cy="1188720"/>
          </a:xfrm>
          <a:prstGeom prst="rect">
            <a:avLst/>
          </a:prstGeom>
          <a:noFill/>
        </p:spPr>
        <p:txBody>
          <a:bodyPr wrap="square" lIns="0" tIns="0" rIns="0" bIns="0" anchor="t">
            <a:spAutoFit/>
          </a:bodyPr>
          <a:lstStyle/>
          <a:p>
            <a:pPr>
              <a:lnSpc>
                <a:spcPct val="125000"/>
              </a:lnSpc>
              <a:spcAft>
                <a:spcPts val="600"/>
              </a:spcAft>
            </a:pPr>
            <a:r>
              <a:rPr sz="1400" b="1">
                <a:solidFill>
                  <a:srgbClr val="C00000"/>
                </a:solidFill>
                <a:latin typeface="微软雅黑" panose="020B0503020204020204" pitchFamily="34" charset="-122"/>
              </a:rPr>
              <a:t>问题清单：</a:t>
            </a:r>
            <a:r>
              <a:rPr sz="1400" b="0">
                <a:solidFill>
                  <a:srgbClr val="404040"/>
                </a:solidFill>
                <a:latin typeface="微软雅黑" panose="020B0503020204020204" pitchFamily="34" charset="-122"/>
              </a:rPr>
              <a:t>产品结构单一，口味王系列销量下滑，和成系列高端不强势，100元铺市率，饱满度有待提升</a:t>
            </a:r>
            <a:endParaRPr sz="1400" b="0">
              <a:solidFill>
                <a:srgbClr val="404040"/>
              </a:solidFill>
              <a:latin typeface="微软雅黑" panose="020B0503020204020204" pitchFamily="34" charset="-122"/>
            </a:endParaRPr>
          </a:p>
          <a:p>
            <a:pPr>
              <a:lnSpc>
                <a:spcPct val="125000"/>
              </a:lnSpc>
              <a:spcAft>
                <a:spcPts val="600"/>
              </a:spcAft>
            </a:pPr>
            <a:r>
              <a:rPr sz="1400" b="1">
                <a:solidFill>
                  <a:srgbClr val="C00000"/>
                </a:solidFill>
                <a:latin typeface="微软雅黑" panose="020B0503020204020204" pitchFamily="34" charset="-122"/>
              </a:rPr>
              <a:t>整改建议：</a:t>
            </a:r>
            <a:r>
              <a:rPr sz="1400" b="0">
                <a:solidFill>
                  <a:srgbClr val="404040"/>
                </a:solidFill>
                <a:latin typeface="微软雅黑" panose="020B0503020204020204" pitchFamily="34" charset="-122"/>
              </a:rPr>
              <a:t>利用青和调整，推动和成天下高端推广；稳住口味王30元产品，加强50元飞黄腾达的推广，利用好10元产品狙击低价位槟榔，压缩低价位槟榔生存空间;</a:t>
            </a:r>
            <a:endParaRPr sz="1400" b="0">
              <a:solidFill>
                <a:srgbClr val="404040"/>
              </a:solidFill>
              <a:latin typeface="微软雅黑" panose="020B0503020204020204" pitchFamily="34" charset="-122"/>
            </a:endParaRPr>
          </a:p>
        </p:txBody>
      </p:sp>
      <p:sp>
        <p:nvSpPr>
          <p:cNvPr id="108" name="Rectangle 107"/>
          <p:cNvSpPr/>
          <p:nvPr/>
        </p:nvSpPr>
        <p:spPr>
          <a:xfrm>
            <a:off x="411480" y="3611880"/>
            <a:ext cx="9820656" cy="283464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594360" y="467715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2</a:t>
            </a:r>
            <a:endParaRPr sz="1600" b="1">
              <a:solidFill>
                <a:srgbClr val="FFFFFF"/>
              </a:solidFill>
              <a:latin typeface="微软雅黑" panose="020B0503020204020204" pitchFamily="34" charset="-122"/>
            </a:endParaRPr>
          </a:p>
        </p:txBody>
      </p:sp>
      <p:sp>
        <p:nvSpPr>
          <p:cNvPr id="110" name="TextBox 109"/>
          <p:cNvSpPr txBox="1"/>
          <p:nvPr/>
        </p:nvSpPr>
        <p:spPr>
          <a:xfrm>
            <a:off x="1124712" y="3657600"/>
            <a:ext cx="1298448" cy="242316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战略层</a:t>
            </a:r>
            <a:endParaRPr sz="1500" b="1">
              <a:solidFill>
                <a:srgbClr val="C00000"/>
              </a:solidFill>
              <a:latin typeface="微软雅黑" panose="020B0503020204020204" pitchFamily="34" charset="-122"/>
            </a:endParaRPr>
          </a:p>
        </p:txBody>
      </p:sp>
      <p:sp>
        <p:nvSpPr>
          <p:cNvPr id="111" name="Rectangle 110"/>
          <p:cNvSpPr/>
          <p:nvPr/>
        </p:nvSpPr>
        <p:spPr>
          <a:xfrm>
            <a:off x="2532888" y="3776472"/>
            <a:ext cx="12801" cy="250545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752344" y="3749040"/>
            <a:ext cx="6839712" cy="2560320"/>
          </a:xfrm>
          <a:prstGeom prst="rect">
            <a:avLst/>
          </a:prstGeom>
          <a:noFill/>
        </p:spPr>
        <p:txBody>
          <a:bodyPr wrap="square" lIns="0" tIns="0" rIns="0" bIns="0" anchor="t">
            <a:spAutoFit/>
          </a:bodyPr>
          <a:lstStyle/>
          <a:p>
            <a:pPr>
              <a:lnSpc>
                <a:spcPct val="125000"/>
              </a:lnSpc>
              <a:spcAft>
                <a:spcPts val="600"/>
              </a:spcAft>
            </a:pPr>
            <a:r>
              <a:rPr sz="1400" b="1">
                <a:solidFill>
                  <a:srgbClr val="C00000"/>
                </a:solidFill>
                <a:latin typeface="微软雅黑" panose="020B0503020204020204" pitchFamily="34" charset="-122"/>
              </a:rPr>
              <a:t>方向共识：</a:t>
            </a:r>
            <a:r>
              <a:rPr sz="1400" b="0">
                <a:solidFill>
                  <a:srgbClr val="404040"/>
                </a:solidFill>
                <a:latin typeface="微软雅黑" panose="020B0503020204020204" pitchFamily="34" charset="-122"/>
              </a:rPr>
              <a:t>稳口味王，推和成，加快产品结构调整，提升和成及高端占比。</a:t>
            </a:r>
            <a:endParaRPr sz="1400" b="0">
              <a:solidFill>
                <a:srgbClr val="404040"/>
              </a:solidFill>
              <a:latin typeface="微软雅黑" panose="020B0503020204020204" pitchFamily="34" charset="-122"/>
            </a:endParaRPr>
          </a:p>
          <a:p>
            <a:pPr>
              <a:lnSpc>
                <a:spcPct val="125000"/>
              </a:lnSpc>
              <a:spcAft>
                <a:spcPts val="600"/>
              </a:spcAft>
            </a:pPr>
            <a:r>
              <a:rPr sz="1400" b="1">
                <a:solidFill>
                  <a:srgbClr val="C00000"/>
                </a:solidFill>
                <a:latin typeface="微软雅黑" panose="020B0503020204020204" pitchFamily="34" charset="-122"/>
              </a:rPr>
              <a:t>市场定位共识：</a:t>
            </a:r>
            <a:r>
              <a:rPr sz="1400" b="0">
                <a:solidFill>
                  <a:srgbClr val="404040"/>
                </a:solidFill>
                <a:latin typeface="微软雅黑" panose="020B0503020204020204" pitchFamily="34" charset="-122"/>
              </a:rPr>
              <a:t>消费者培育+市场份额抢占+和成占比提升+高端系列推广。</a:t>
            </a:r>
            <a:endParaRPr sz="1400" b="0">
              <a:solidFill>
                <a:srgbClr val="404040"/>
              </a:solidFill>
              <a:latin typeface="微软雅黑" panose="020B0503020204020204" pitchFamily="34" charset="-122"/>
            </a:endParaRPr>
          </a:p>
          <a:p>
            <a:pPr>
              <a:lnSpc>
                <a:spcPct val="125000"/>
              </a:lnSpc>
              <a:spcAft>
                <a:spcPts val="600"/>
              </a:spcAft>
            </a:pPr>
            <a:r>
              <a:rPr sz="1400" b="1">
                <a:solidFill>
                  <a:srgbClr val="C00000"/>
                </a:solidFill>
                <a:latin typeface="微软雅黑" panose="020B0503020204020204" pitchFamily="34" charset="-122"/>
              </a:rPr>
              <a:t>资源配置建议：</a:t>
            </a:r>
            <a:r>
              <a:rPr sz="1400" b="0">
                <a:solidFill>
                  <a:srgbClr val="404040"/>
                </a:solidFill>
                <a:latin typeface="微软雅黑" panose="020B0503020204020204" pitchFamily="34" charset="-122"/>
              </a:rPr>
              <a:t>常规渠道的持续网点开发及特通渠道的全面渗透，业务人员增加，优化人均网点及人均产出。</a:t>
            </a:r>
            <a:endParaRPr sz="1400" b="0">
              <a:solidFill>
                <a:srgbClr val="404040"/>
              </a:solidFill>
              <a:latin typeface="微软雅黑" panose="020B0503020204020204" pitchFamily="34" charset="-122"/>
            </a:endParaRPr>
          </a:p>
          <a:p>
            <a:pPr>
              <a:lnSpc>
                <a:spcPct val="125000"/>
              </a:lnSpc>
              <a:spcAft>
                <a:spcPts val="600"/>
              </a:spcAft>
            </a:pPr>
            <a:r>
              <a:rPr sz="1400" b="1">
                <a:solidFill>
                  <a:srgbClr val="C00000"/>
                </a:solidFill>
                <a:latin typeface="微软雅黑" panose="020B0503020204020204" pitchFamily="34" charset="-122"/>
              </a:rPr>
              <a:t>竞品应对策略：</a:t>
            </a:r>
            <a:r>
              <a:rPr sz="1400" b="0">
                <a:solidFill>
                  <a:srgbClr val="404040"/>
                </a:solidFill>
                <a:latin typeface="微软雅黑" panose="020B0503020204020204" pitchFamily="34" charset="-122"/>
              </a:rPr>
              <a:t>主竞品枸杞销量主要集中在30元价位，充分利用部分大力度促销产品针对，主竞品枸杞强势区域及A类网点，精准投放及打击。</a:t>
            </a:r>
            <a:endParaRPr sz="1400" b="0">
              <a:solidFill>
                <a:srgbClr val="404040"/>
              </a:solidFill>
              <a:latin typeface="微软雅黑" panose="020B0503020204020204" pitchFamily="34" charset="-122"/>
            </a:endParaRPr>
          </a:p>
          <a:p>
            <a:pPr>
              <a:lnSpc>
                <a:spcPct val="125000"/>
              </a:lnSpc>
              <a:spcAft>
                <a:spcPts val="600"/>
              </a:spcAft>
            </a:pPr>
            <a:r>
              <a:rPr sz="1400" b="1">
                <a:solidFill>
                  <a:srgbClr val="C00000"/>
                </a:solidFill>
                <a:latin typeface="微软雅黑" panose="020B0503020204020204" pitchFamily="34" charset="-122"/>
              </a:rPr>
              <a:t>经销商发展建议：</a:t>
            </a:r>
            <a:r>
              <a:rPr sz="1400" b="0">
                <a:solidFill>
                  <a:srgbClr val="404040"/>
                </a:solidFill>
                <a:latin typeface="微软雅黑" panose="020B0503020204020204" pitchFamily="34" charset="-122"/>
              </a:rPr>
              <a:t>随着市场的发展，团队必须要进行优胜劣汰，加强内部培养，提升业务员专业技能，加强管理体系制度和流程，让团队能打仗，打胜仗。</a:t>
            </a:r>
            <a:endParaRPr sz="1400" b="0">
              <a:solidFill>
                <a:srgbClr val="404040"/>
              </a:solidFill>
              <a:latin typeface="微软雅黑" panose="020B0503020204020204" pitchFamily="34"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文本框 8"/>
          <p:cNvSpPr txBox="1"/>
          <p:nvPr/>
        </p:nvSpPr>
        <p:spPr>
          <a:xfrm>
            <a:off x="1467318" y="2967335"/>
            <a:ext cx="8947217" cy="1753235"/>
          </a:xfrm>
          <a:prstGeom prst="rect">
            <a:avLst/>
          </a:prstGeom>
          <a:noFill/>
        </p:spPr>
        <p:txBody>
          <a:bodyPr wrap="square" rtlCol="0">
            <a:spAutoFit/>
          </a:bodyPr>
          <a:lstStyle/>
          <a:p>
            <a:pPr algn="ctr"/>
            <a:r>
              <a:rPr lang="en-US" altLang="zh-CN" sz="5400" b="1" dirty="0">
                <a:latin typeface="微软雅黑" panose="020B0503020204020204" pitchFamily="34" charset="-122"/>
                <a:ea typeface="微软雅黑" panose="020B0503020204020204" pitchFamily="34" charset="-122"/>
                <a:sym typeface="+mn-ea"/>
              </a:rPr>
              <a:t>5.</a:t>
            </a:r>
            <a:r>
              <a:rPr lang="zh-CN" altLang="en-US" sz="5400" b="1" dirty="0">
                <a:latin typeface="微软雅黑" panose="020B0503020204020204" pitchFamily="34" charset="-122"/>
                <a:ea typeface="微软雅黑" panose="020B0503020204020204" pitchFamily="34" charset="-122"/>
                <a:sym typeface="+mn-ea"/>
              </a:rPr>
              <a:t>市场检查总结及探讨建议</a:t>
            </a:r>
            <a:endParaRPr lang="zh-CN" altLang="en-US" sz="5400" b="1" dirty="0">
              <a:latin typeface="微软雅黑" panose="020B0503020204020204" pitchFamily="34" charset="-122"/>
              <a:ea typeface="微软雅黑" panose="020B0503020204020204" pitchFamily="34" charset="-122"/>
              <a:sym typeface="+mn-ea"/>
            </a:endParaRPr>
          </a:p>
          <a:p>
            <a:pPr algn="ctr"/>
            <a:endParaRPr lang="zh-CN" altLang="en-US" sz="5400" b="1" dirty="0">
              <a:latin typeface="微软雅黑" panose="020B0503020204020204" pitchFamily="34" charset="-122"/>
              <a:ea typeface="微软雅黑" panose="020B0503020204020204" pitchFamily="34" charset="-122"/>
            </a:endParaRPr>
          </a:p>
        </p:txBody>
      </p:sp>
      <p:grpSp>
        <p:nvGrpSpPr>
          <p:cNvPr id="57" name="组合 13"/>
          <p:cNvGrpSpPr/>
          <p:nvPr/>
        </p:nvGrpSpPr>
        <p:grpSpPr>
          <a:xfrm rot="5400000">
            <a:off x="4743853" y="253539"/>
            <a:ext cx="2572212" cy="6350923"/>
            <a:chOff x="3617229" y="570765"/>
            <a:chExt cx="1571244" cy="3879481"/>
          </a:xfrm>
        </p:grpSpPr>
        <p:pic>
          <p:nvPicPr>
            <p:cNvPr id="2097153" name="Picture 2" descr="C:\Users\Administrator\Desktop\1.png"/>
            <p:cNvPicPr>
              <a:picLocks noChangeAspect="1" noChangeArrowheads="1"/>
            </p:cNvPicPr>
            <p:nvPr/>
          </p:nvPicPr>
          <p:blipFill>
            <a:blip r:embed="rId1" cstate="print"/>
            <a:srcRect/>
            <a:stretch>
              <a:fillRect/>
            </a:stretch>
          </p:blipFill>
          <p:spPr bwMode="auto">
            <a:xfrm rot="16200000">
              <a:off x="4220259" y="3482034"/>
              <a:ext cx="1554647" cy="381778"/>
            </a:xfrm>
            <a:prstGeom prst="rect">
              <a:avLst/>
            </a:prstGeom>
            <a:noFill/>
          </p:spPr>
        </p:pic>
        <p:pic>
          <p:nvPicPr>
            <p:cNvPr id="2097154" name="Picture 2" descr="C:\Users\Administrator\Desktop\1.png"/>
            <p:cNvPicPr>
              <a:picLocks noChangeAspect="1" noChangeArrowheads="1"/>
            </p:cNvPicPr>
            <p:nvPr/>
          </p:nvPicPr>
          <p:blipFill>
            <a:blip r:embed="rId1" cstate="print"/>
            <a:srcRect/>
            <a:stretch>
              <a:fillRect/>
            </a:stretch>
          </p:blipFill>
          <p:spPr bwMode="auto">
            <a:xfrm rot="16200000">
              <a:off x="4220260" y="1164820"/>
              <a:ext cx="1554647" cy="381778"/>
            </a:xfrm>
            <a:prstGeom prst="rect">
              <a:avLst/>
            </a:prstGeom>
            <a:noFill/>
          </p:spPr>
        </p:pic>
        <p:pic>
          <p:nvPicPr>
            <p:cNvPr id="2097155" name="Picture 2" descr="C:\Users\Administrator\Desktop\1.png"/>
            <p:cNvPicPr>
              <a:picLocks noChangeAspect="1" noChangeArrowheads="1"/>
            </p:cNvPicPr>
            <p:nvPr/>
          </p:nvPicPr>
          <p:blipFill>
            <a:blip r:embed="rId1" cstate="print"/>
            <a:srcRect/>
            <a:stretch>
              <a:fillRect/>
            </a:stretch>
          </p:blipFill>
          <p:spPr bwMode="auto">
            <a:xfrm rot="5400000" flipH="1">
              <a:off x="3030794" y="3474414"/>
              <a:ext cx="1554647" cy="381778"/>
            </a:xfrm>
            <a:prstGeom prst="rect">
              <a:avLst/>
            </a:prstGeom>
            <a:noFill/>
          </p:spPr>
        </p:pic>
        <p:pic>
          <p:nvPicPr>
            <p:cNvPr id="2097156" name="Picture 2" descr="C:\Users\Administrator\Desktop\1.png"/>
            <p:cNvPicPr>
              <a:picLocks noChangeAspect="1" noChangeArrowheads="1"/>
            </p:cNvPicPr>
            <p:nvPr/>
          </p:nvPicPr>
          <p:blipFill>
            <a:blip r:embed="rId1" cstate="print"/>
            <a:srcRect/>
            <a:stretch>
              <a:fillRect/>
            </a:stretch>
          </p:blipFill>
          <p:spPr bwMode="auto">
            <a:xfrm rot="5400000" flipH="1">
              <a:off x="3030795" y="1157200"/>
              <a:ext cx="1554647" cy="381778"/>
            </a:xfrm>
            <a:prstGeom prst="rect">
              <a:avLst/>
            </a:prstGeom>
            <a:noFill/>
          </p:spPr>
        </p:pic>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37" y="125730"/>
            <a:ext cx="1056074" cy="900000"/>
          </a:xfrm>
          <a:prstGeom prst="rect">
            <a:avLst/>
          </a:prstGeom>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53021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市场</a:t>
            </a:r>
            <a:r>
              <a:rPr lang="zh-CN" altLang="en-US" sz="3600" dirty="0">
                <a:solidFill>
                  <a:srgbClr val="C00000"/>
                </a:solidFill>
                <a:latin typeface="微软雅黑" panose="020B0503020204020204" pitchFamily="34" charset="-122"/>
                <a:ea typeface="微软雅黑" panose="020B0503020204020204" pitchFamily="34" charset="-122"/>
                <a:sym typeface="+mn-ea"/>
              </a:rPr>
              <a:t>诉求</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矩形 33"/>
          <p:cNvSpPr/>
          <p:nvPr>
            <p:custDataLst>
              <p:tags r:id="rId3"/>
            </p:custDataLst>
          </p:nvPr>
        </p:nvSpPr>
        <p:spPr>
          <a:xfrm>
            <a:off x="4438650"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 name="组合 1"/>
          <p:cNvGrpSpPr/>
          <p:nvPr/>
        </p:nvGrpSpPr>
        <p:grpSpPr>
          <a:xfrm>
            <a:off x="11001375" y="6017895"/>
            <a:ext cx="890270" cy="577850"/>
            <a:chOff x="17325" y="9733"/>
            <a:chExt cx="1402" cy="910"/>
          </a:xfrm>
        </p:grpSpPr>
        <p:sp>
          <p:nvSpPr>
            <p:cNvPr id="59" name="矩形 58"/>
            <p:cNvSpPr/>
            <p:nvPr>
              <p:custDataLst>
                <p:tags r:id="rId4"/>
              </p:custDataLst>
            </p:nvPr>
          </p:nvSpPr>
          <p:spPr>
            <a:xfrm>
              <a:off x="17833" y="9733"/>
              <a:ext cx="894" cy="911"/>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 name="矩形 69"/>
            <p:cNvSpPr/>
            <p:nvPr>
              <p:custDataLst>
                <p:tags r:id="rId5"/>
              </p:custDataLst>
            </p:nvPr>
          </p:nvSpPr>
          <p:spPr>
            <a:xfrm>
              <a:off x="17325" y="9733"/>
              <a:ext cx="352" cy="911"/>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7950" y="9910"/>
              <a:ext cx="653" cy="557"/>
            </a:xfrm>
            <a:prstGeom prst="rect">
              <a:avLst/>
            </a:prstGeom>
          </p:spPr>
        </p:pic>
      </p:grpSp>
      <p:sp>
        <p:nvSpPr>
          <p:cNvPr id="103" name="Rectangle 102"/>
          <p:cNvSpPr/>
          <p:nvPr/>
        </p:nvSpPr>
        <p:spPr>
          <a:xfrm>
            <a:off x="411480" y="1600200"/>
            <a:ext cx="9820656" cy="105156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594360" y="193395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1</a:t>
            </a:r>
            <a:endParaRPr sz="1600" b="1">
              <a:solidFill>
                <a:srgbClr val="FFFFFF"/>
              </a:solidFill>
              <a:latin typeface="微软雅黑" panose="020B0503020204020204" pitchFamily="34" charset="-122"/>
            </a:endParaRPr>
          </a:p>
        </p:txBody>
      </p:sp>
      <p:sp>
        <p:nvSpPr>
          <p:cNvPr id="105" name="TextBox 104"/>
          <p:cNvSpPr txBox="1"/>
          <p:nvPr/>
        </p:nvSpPr>
        <p:spPr>
          <a:xfrm>
            <a:off x="1124712" y="1645920"/>
            <a:ext cx="1298448" cy="960119"/>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和成促销支持</a:t>
            </a:r>
            <a:endParaRPr sz="1500" b="1">
              <a:solidFill>
                <a:srgbClr val="C00000"/>
              </a:solidFill>
              <a:latin typeface="微软雅黑" panose="020B0503020204020204" pitchFamily="34" charset="-122"/>
            </a:endParaRPr>
          </a:p>
        </p:txBody>
      </p:sp>
      <p:sp>
        <p:nvSpPr>
          <p:cNvPr id="106" name="Rectangle 105"/>
          <p:cNvSpPr/>
          <p:nvPr/>
        </p:nvSpPr>
        <p:spPr>
          <a:xfrm>
            <a:off x="2532888" y="1764792"/>
            <a:ext cx="12801" cy="72237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752344" y="1709928"/>
            <a:ext cx="7251192" cy="832103"/>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开封、周口地区口味王份额优于和成份额，市场有意转型和成市场，但效果不佳，希望得到公司和成促销支持。</a:t>
            </a:r>
            <a:endParaRPr sz="1400" b="0">
              <a:solidFill>
                <a:srgbClr val="404040"/>
              </a:solidFill>
              <a:latin typeface="微软雅黑" panose="020B0503020204020204" pitchFamily="34" charset="-122"/>
            </a:endParaRPr>
          </a:p>
        </p:txBody>
      </p:sp>
      <p:sp>
        <p:nvSpPr>
          <p:cNvPr id="108" name="Rectangle 107"/>
          <p:cNvSpPr/>
          <p:nvPr/>
        </p:nvSpPr>
        <p:spPr>
          <a:xfrm>
            <a:off x="411480" y="2816352"/>
            <a:ext cx="9820656" cy="105156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594360" y="3150108"/>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2</a:t>
            </a:r>
            <a:endParaRPr sz="1600" b="1">
              <a:solidFill>
                <a:srgbClr val="FFFFFF"/>
              </a:solidFill>
              <a:latin typeface="微软雅黑" panose="020B0503020204020204" pitchFamily="34" charset="-122"/>
            </a:endParaRPr>
          </a:p>
        </p:txBody>
      </p:sp>
      <p:sp>
        <p:nvSpPr>
          <p:cNvPr id="110" name="TextBox 109"/>
          <p:cNvSpPr txBox="1"/>
          <p:nvPr/>
        </p:nvSpPr>
        <p:spPr>
          <a:xfrm>
            <a:off x="1124712" y="2862072"/>
            <a:ext cx="1298448" cy="960119"/>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品宣制作提速</a:t>
            </a:r>
            <a:endParaRPr sz="1500" b="1">
              <a:solidFill>
                <a:srgbClr val="C00000"/>
              </a:solidFill>
              <a:latin typeface="微软雅黑" panose="020B0503020204020204" pitchFamily="34" charset="-122"/>
            </a:endParaRPr>
          </a:p>
        </p:txBody>
      </p:sp>
      <p:sp>
        <p:nvSpPr>
          <p:cNvPr id="111" name="Rectangle 110"/>
          <p:cNvSpPr/>
          <p:nvPr/>
        </p:nvSpPr>
        <p:spPr>
          <a:xfrm>
            <a:off x="2532888" y="2980944"/>
            <a:ext cx="12801" cy="72237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752344" y="2926080"/>
            <a:ext cx="7251192" cy="832103"/>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上蔡市场品宣竞争压力较大，主竞品湘潭铺子制作大品宣相较本品时间更为灵活，希望公司缩短大品宣制作时间。</a:t>
            </a:r>
            <a:endParaRPr sz="1400" b="0">
              <a:solidFill>
                <a:srgbClr val="404040"/>
              </a:solidFill>
              <a:latin typeface="微软雅黑" panose="020B0503020204020204" pitchFamily="34" charset="-122"/>
            </a:endParaRPr>
          </a:p>
        </p:txBody>
      </p:sp>
      <p:sp>
        <p:nvSpPr>
          <p:cNvPr id="113" name="Rectangle 112"/>
          <p:cNvSpPr/>
          <p:nvPr/>
        </p:nvSpPr>
        <p:spPr>
          <a:xfrm>
            <a:off x="411480" y="4032504"/>
            <a:ext cx="9820656" cy="105156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594360" y="4366260"/>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3</a:t>
            </a:r>
            <a:endParaRPr sz="1600" b="1">
              <a:solidFill>
                <a:srgbClr val="FFFFFF"/>
              </a:solidFill>
              <a:latin typeface="微软雅黑" panose="020B0503020204020204" pitchFamily="34" charset="-122"/>
            </a:endParaRPr>
          </a:p>
        </p:txBody>
      </p:sp>
      <p:sp>
        <p:nvSpPr>
          <p:cNvPr id="115" name="TextBox 114"/>
          <p:cNvSpPr txBox="1"/>
          <p:nvPr/>
        </p:nvSpPr>
        <p:spPr>
          <a:xfrm>
            <a:off x="1124712" y="4078224"/>
            <a:ext cx="1298448" cy="960119"/>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物料及时替换</a:t>
            </a:r>
            <a:endParaRPr sz="1500" b="1">
              <a:solidFill>
                <a:srgbClr val="C00000"/>
              </a:solidFill>
              <a:latin typeface="微软雅黑" panose="020B0503020204020204" pitchFamily="34" charset="-122"/>
            </a:endParaRPr>
          </a:p>
        </p:txBody>
      </p:sp>
      <p:sp>
        <p:nvSpPr>
          <p:cNvPr id="116" name="Rectangle 115"/>
          <p:cNvSpPr/>
          <p:nvPr/>
        </p:nvSpPr>
        <p:spPr>
          <a:xfrm>
            <a:off x="2532888" y="4197096"/>
            <a:ext cx="12801" cy="72237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2752344" y="4142232"/>
            <a:ext cx="7251192" cy="832103"/>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正值骄阳行动期间，终端宣传多以海报为主，但褪色现象尤为严重，宣传效果受限。市场提议，因海报消耗过快，希望在各战区指定合作商，保证物料能及时到达市场并替换褪色海报。</a:t>
            </a:r>
            <a:endParaRPr sz="1400" b="0">
              <a:solidFill>
                <a:srgbClr val="404040"/>
              </a:solidFill>
              <a:latin typeface="微软雅黑" panose="020B0503020204020204" pitchFamily="34" charset="-122"/>
            </a:endParaRPr>
          </a:p>
        </p:txBody>
      </p:sp>
      <p:sp>
        <p:nvSpPr>
          <p:cNvPr id="118" name="Rectangle 117"/>
          <p:cNvSpPr/>
          <p:nvPr/>
        </p:nvSpPr>
        <p:spPr>
          <a:xfrm>
            <a:off x="411480" y="5248656"/>
            <a:ext cx="9820656" cy="105156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ounded Rectangle 118"/>
          <p:cNvSpPr/>
          <p:nvPr/>
        </p:nvSpPr>
        <p:spPr>
          <a:xfrm>
            <a:off x="594360" y="5582412"/>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4</a:t>
            </a:r>
            <a:endParaRPr sz="1600" b="1">
              <a:solidFill>
                <a:srgbClr val="FFFFFF"/>
              </a:solidFill>
              <a:latin typeface="微软雅黑" panose="020B0503020204020204" pitchFamily="34" charset="-122"/>
            </a:endParaRPr>
          </a:p>
        </p:txBody>
      </p:sp>
      <p:sp>
        <p:nvSpPr>
          <p:cNvPr id="120" name="TextBox 119"/>
          <p:cNvSpPr txBox="1"/>
          <p:nvPr/>
        </p:nvSpPr>
        <p:spPr>
          <a:xfrm>
            <a:off x="1124712" y="5294376"/>
            <a:ext cx="1298448" cy="960119"/>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合理制定目标</a:t>
            </a:r>
            <a:endParaRPr sz="1500" b="1">
              <a:solidFill>
                <a:srgbClr val="C00000"/>
              </a:solidFill>
              <a:latin typeface="微软雅黑" panose="020B0503020204020204" pitchFamily="34" charset="-122"/>
            </a:endParaRPr>
          </a:p>
        </p:txBody>
      </p:sp>
      <p:sp>
        <p:nvSpPr>
          <p:cNvPr id="121" name="Rectangle 120"/>
          <p:cNvSpPr/>
          <p:nvPr/>
        </p:nvSpPr>
        <p:spPr>
          <a:xfrm>
            <a:off x="2532888" y="5413248"/>
            <a:ext cx="12801" cy="72237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752344" y="5358384"/>
            <a:ext cx="7251192" cy="832103"/>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河南市场口味王小包数正在下降，和成氛围提升，但实际销量相比去年无明显变化，市场实际正在向和成转型，属良性发展。市场提议，根据市场不同情况合理制定销量目标。</a:t>
            </a:r>
            <a:endParaRPr sz="1400" b="0">
              <a:solidFill>
                <a:srgbClr val="404040"/>
              </a:solidFill>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4987" y="263525"/>
            <a:ext cx="1056074" cy="900000"/>
          </a:xfrm>
          <a:prstGeom prst="rect">
            <a:avLst/>
          </a:prstGeom>
        </p:spPr>
      </p:pic>
      <p:sp>
        <p:nvSpPr>
          <p:cNvPr id="74" name="文本框 73"/>
          <p:cNvSpPr txBox="1"/>
          <p:nvPr/>
        </p:nvSpPr>
        <p:spPr>
          <a:xfrm>
            <a:off x="2392680" y="448310"/>
            <a:ext cx="5530215" cy="645160"/>
          </a:xfrm>
          <a:prstGeom prst="rect">
            <a:avLst/>
          </a:prstGeom>
          <a:noFill/>
        </p:spPr>
        <p:txBody>
          <a:bodyPr wrap="square" rtlCol="0">
            <a:spAutoFit/>
          </a:bodyPr>
          <a:lstStyle>
            <a:defPPr>
              <a:defRPr lang="zh-CN"/>
            </a:defPPr>
            <a:lvl1pPr>
              <a:defRPr sz="3200" b="1">
                <a:solidFill>
                  <a:srgbClr val="860000"/>
                </a:solidFill>
                <a:latin typeface="时尚中黑简体" panose="01010104010101010101" pitchFamily="2" charset="-122"/>
                <a:ea typeface="时尚中黑简体" panose="01010104010101010101" pitchFamily="2" charset="-122"/>
              </a:defRPr>
            </a:lvl1pPr>
          </a:lstStyle>
          <a:p>
            <a:r>
              <a:rPr lang="zh-CN" altLang="en-US" sz="3600" dirty="0">
                <a:solidFill>
                  <a:srgbClr val="C00000"/>
                </a:solidFill>
                <a:latin typeface="微软雅黑" panose="020B0503020204020204" pitchFamily="34" charset="-122"/>
                <a:ea typeface="微软雅黑" panose="020B0503020204020204" pitchFamily="34" charset="-122"/>
                <a:sym typeface="+mn-ea"/>
              </a:rPr>
              <a:t>探讨建议</a:t>
            </a:r>
            <a:endParaRPr lang="zh-CN" altLang="en-US" sz="3600" dirty="0">
              <a:solidFill>
                <a:srgbClr val="C00000"/>
              </a:solidFill>
              <a:latin typeface="微软雅黑" panose="020B0503020204020204" pitchFamily="34" charset="-122"/>
              <a:ea typeface="微软雅黑" panose="020B0503020204020204" pitchFamily="34" charset="-122"/>
              <a:sym typeface="+mn-ea"/>
            </a:endParaRPr>
          </a:p>
        </p:txBody>
      </p:sp>
      <p:sp>
        <p:nvSpPr>
          <p:cNvPr id="29" name="矩形 28"/>
          <p:cNvSpPr/>
          <p:nvPr/>
        </p:nvSpPr>
        <p:spPr>
          <a:xfrm>
            <a:off x="1530350" y="373380"/>
            <a:ext cx="43624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custDataLst>
              <p:tags r:id="rId2"/>
            </p:custDataLst>
          </p:nvPr>
        </p:nvSpPr>
        <p:spPr>
          <a:xfrm>
            <a:off x="2061210" y="373380"/>
            <a:ext cx="191770"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custDataLst>
              <p:tags r:id="rId3"/>
            </p:custDataLst>
          </p:nvPr>
        </p:nvSpPr>
        <p:spPr>
          <a:xfrm>
            <a:off x="4563745" y="373380"/>
            <a:ext cx="352425" cy="72009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custDataLst>
              <p:tags r:id="rId4"/>
            </p:custDataLst>
          </p:nvPr>
        </p:nvSpPr>
        <p:spPr>
          <a:xfrm>
            <a:off x="11323955" y="5967095"/>
            <a:ext cx="56769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custDataLst>
              <p:tags r:id="rId5"/>
            </p:custDataLst>
          </p:nvPr>
        </p:nvSpPr>
        <p:spPr>
          <a:xfrm>
            <a:off x="11001375" y="5967095"/>
            <a:ext cx="223520" cy="57848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 name="图片 101" descr="微信图片_20210702102959"/>
          <p:cNvPicPr>
            <a:picLocks noChangeAspect="1"/>
          </p:cNvPicPr>
          <p:nvPr>
            <p:custDataLst>
              <p:tags r:id="rId6"/>
            </p:custDataLst>
          </p:nvPr>
        </p:nvPicPr>
        <p:blipFill>
          <a:blip r:embed="rId7"/>
          <a:stretch>
            <a:fillRect/>
          </a:stretch>
        </p:blipFill>
        <p:spPr>
          <a:xfrm>
            <a:off x="11398250" y="6079490"/>
            <a:ext cx="414655" cy="353695"/>
          </a:xfrm>
          <a:prstGeom prst="rect">
            <a:avLst/>
          </a:prstGeom>
        </p:spPr>
      </p:pic>
      <p:sp>
        <p:nvSpPr>
          <p:cNvPr id="103" name="Rectangle 102"/>
          <p:cNvSpPr/>
          <p:nvPr/>
        </p:nvSpPr>
        <p:spPr>
          <a:xfrm>
            <a:off x="411480" y="1783080"/>
            <a:ext cx="9820656" cy="123444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594360" y="2208276"/>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1</a:t>
            </a:r>
            <a:endParaRPr sz="1600" b="1">
              <a:solidFill>
                <a:srgbClr val="FFFFFF"/>
              </a:solidFill>
              <a:latin typeface="微软雅黑" panose="020B0503020204020204" pitchFamily="34" charset="-122"/>
            </a:endParaRPr>
          </a:p>
        </p:txBody>
      </p:sp>
      <p:sp>
        <p:nvSpPr>
          <p:cNvPr id="105" name="TextBox 104"/>
          <p:cNvSpPr txBox="1"/>
          <p:nvPr/>
        </p:nvSpPr>
        <p:spPr>
          <a:xfrm>
            <a:off x="1124712" y="1828800"/>
            <a:ext cx="1298448" cy="114300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管理者赋能</a:t>
            </a:r>
            <a:endParaRPr sz="1500" b="1">
              <a:solidFill>
                <a:srgbClr val="C00000"/>
              </a:solidFill>
              <a:latin typeface="微软雅黑" panose="020B0503020204020204" pitchFamily="34" charset="-122"/>
            </a:endParaRPr>
          </a:p>
        </p:txBody>
      </p:sp>
      <p:sp>
        <p:nvSpPr>
          <p:cNvPr id="106" name="Rectangle 105"/>
          <p:cNvSpPr/>
          <p:nvPr/>
        </p:nvSpPr>
        <p:spPr>
          <a:xfrm>
            <a:off x="2532888" y="1947672"/>
            <a:ext cx="12801" cy="90525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752344" y="1892807"/>
            <a:ext cx="7251192" cy="1014984"/>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市场管理者是否真正了解市场？是否真能操盘市场？经营理念是否与公司统一？建议区域人员筛选问题管理者并进行优化培训。</a:t>
            </a:r>
            <a:endParaRPr sz="1400" b="0">
              <a:solidFill>
                <a:srgbClr val="404040"/>
              </a:solidFill>
              <a:latin typeface="微软雅黑" panose="020B0503020204020204" pitchFamily="34" charset="-122"/>
            </a:endParaRPr>
          </a:p>
        </p:txBody>
      </p:sp>
      <p:sp>
        <p:nvSpPr>
          <p:cNvPr id="108" name="Rectangle 107"/>
          <p:cNvSpPr/>
          <p:nvPr/>
        </p:nvSpPr>
        <p:spPr>
          <a:xfrm>
            <a:off x="411480" y="3310128"/>
            <a:ext cx="9820656" cy="123444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594360" y="3735324"/>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2</a:t>
            </a:r>
            <a:endParaRPr sz="1600" b="1">
              <a:solidFill>
                <a:srgbClr val="FFFFFF"/>
              </a:solidFill>
              <a:latin typeface="微软雅黑" panose="020B0503020204020204" pitchFamily="34" charset="-122"/>
            </a:endParaRPr>
          </a:p>
        </p:txBody>
      </p:sp>
      <p:sp>
        <p:nvSpPr>
          <p:cNvPr id="110" name="TextBox 109"/>
          <p:cNvSpPr txBox="1"/>
          <p:nvPr/>
        </p:nvSpPr>
        <p:spPr>
          <a:xfrm>
            <a:off x="1124712" y="3355848"/>
            <a:ext cx="1298448" cy="114300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深入一线</a:t>
            </a:r>
            <a:endParaRPr sz="1500" b="1">
              <a:solidFill>
                <a:srgbClr val="C00000"/>
              </a:solidFill>
              <a:latin typeface="微软雅黑" panose="020B0503020204020204" pitchFamily="34" charset="-122"/>
            </a:endParaRPr>
          </a:p>
        </p:txBody>
      </p:sp>
      <p:sp>
        <p:nvSpPr>
          <p:cNvPr id="111" name="Rectangle 110"/>
          <p:cNvSpPr/>
          <p:nvPr/>
        </p:nvSpPr>
        <p:spPr>
          <a:xfrm>
            <a:off x="2532888" y="3474720"/>
            <a:ext cx="12801" cy="90525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752344" y="3419856"/>
            <a:ext cx="7251192" cy="1014984"/>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区域领导及市场管理者需深入一线，系统梳理业务痛点及终端真实诉求，了解产生原因并从根源解决问题。</a:t>
            </a:r>
            <a:endParaRPr sz="1400" b="0">
              <a:solidFill>
                <a:srgbClr val="404040"/>
              </a:solidFill>
              <a:latin typeface="微软雅黑" panose="020B0503020204020204" pitchFamily="34" charset="-122"/>
            </a:endParaRPr>
          </a:p>
        </p:txBody>
      </p:sp>
      <p:sp>
        <p:nvSpPr>
          <p:cNvPr id="113" name="Rectangle 112"/>
          <p:cNvSpPr/>
          <p:nvPr/>
        </p:nvSpPr>
        <p:spPr>
          <a:xfrm>
            <a:off x="411480" y="4837176"/>
            <a:ext cx="9820656" cy="1234440"/>
          </a:xfrm>
          <a:prstGeom prst="rect">
            <a:avLst/>
          </a:prstGeom>
          <a:solidFill>
            <a:srgbClr val="FFFFFF"/>
          </a:solidFill>
          <a:ln>
            <a:noFill/>
          </a:ln>
          <a:effectLst>
            <a:outerShdw blurRad="90000" dist="25400" dir="5400000"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594360" y="5262372"/>
            <a:ext cx="384048" cy="384048"/>
          </a:xfrm>
          <a:prstGeom prst="roundRect">
            <a:avLst>
              <a:gd name="adj" fmla="val 2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微软雅黑" panose="020B0503020204020204" pitchFamily="34" charset="-122"/>
              </a:rPr>
              <a:t>3</a:t>
            </a:r>
            <a:endParaRPr sz="1600" b="1">
              <a:solidFill>
                <a:srgbClr val="FFFFFF"/>
              </a:solidFill>
              <a:latin typeface="微软雅黑" panose="020B0503020204020204" pitchFamily="34" charset="-122"/>
            </a:endParaRPr>
          </a:p>
        </p:txBody>
      </p:sp>
      <p:sp>
        <p:nvSpPr>
          <p:cNvPr id="115" name="TextBox 114"/>
          <p:cNvSpPr txBox="1"/>
          <p:nvPr/>
        </p:nvSpPr>
        <p:spPr>
          <a:xfrm>
            <a:off x="1124712" y="4882896"/>
            <a:ext cx="1298448" cy="1143000"/>
          </a:xfrm>
          <a:prstGeom prst="rect">
            <a:avLst/>
          </a:prstGeom>
          <a:noFill/>
        </p:spPr>
        <p:txBody>
          <a:bodyPr wrap="square" lIns="0" tIns="0" rIns="0" bIns="0" anchor="ctr">
            <a:spAutoFit/>
          </a:bodyPr>
          <a:lstStyle/>
          <a:p>
            <a:r>
              <a:rPr sz="1500" b="1">
                <a:solidFill>
                  <a:srgbClr val="C00000"/>
                </a:solidFill>
                <a:latin typeface="微软雅黑" panose="020B0503020204020204" pitchFamily="34" charset="-122"/>
              </a:rPr>
              <a:t>问题清单</a:t>
            </a:r>
            <a:endParaRPr sz="1500" b="1">
              <a:solidFill>
                <a:srgbClr val="C00000"/>
              </a:solidFill>
              <a:latin typeface="微软雅黑" panose="020B0503020204020204" pitchFamily="34" charset="-122"/>
            </a:endParaRPr>
          </a:p>
        </p:txBody>
      </p:sp>
      <p:sp>
        <p:nvSpPr>
          <p:cNvPr id="116" name="Rectangle 115"/>
          <p:cNvSpPr/>
          <p:nvPr/>
        </p:nvSpPr>
        <p:spPr>
          <a:xfrm>
            <a:off x="2532888" y="5001768"/>
            <a:ext cx="12801" cy="905256"/>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2752344" y="4946904"/>
            <a:ext cx="7251192" cy="1014984"/>
          </a:xfrm>
          <a:prstGeom prst="rect">
            <a:avLst/>
          </a:prstGeom>
          <a:noFill/>
        </p:spPr>
        <p:txBody>
          <a:bodyPr wrap="square" lIns="0" tIns="0" rIns="0" bIns="0" anchor="ctr">
            <a:spAutoFit/>
          </a:bodyPr>
          <a:lstStyle/>
          <a:p>
            <a:pPr>
              <a:lnSpc>
                <a:spcPct val="120000"/>
              </a:lnSpc>
            </a:pPr>
            <a:r>
              <a:rPr sz="1400" b="0">
                <a:solidFill>
                  <a:srgbClr val="404040"/>
                </a:solidFill>
                <a:latin typeface="微软雅黑" panose="020B0503020204020204" pitchFamily="34" charset="-122"/>
              </a:rPr>
              <a:t>河南除个别市场外，本品第一品牌形象较为稳固，市场现有问题基本均从内部产生，各市场应整理出问题清单，针对性解决各类问题。</a:t>
            </a:r>
            <a:endParaRPr sz="1400" b="0">
              <a:solidFill>
                <a:srgbClr val="404040"/>
              </a:solidFill>
              <a:latin typeface="微软雅黑" panose="020B0503020204020204" pitchFamily="34" charset="-122"/>
            </a:endParaRPr>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629025" y="1077913"/>
            <a:ext cx="5212080" cy="2122805"/>
          </a:xfrm>
          <a:prstGeom prst="rect">
            <a:avLst/>
          </a:prstGeom>
          <a:noFill/>
          <a:effectLst/>
        </p:spPr>
        <p:txBody>
          <a:bodyPr wrap="none">
            <a:spAutoFit/>
          </a:bodyPr>
          <a:lstStyle/>
          <a:p>
            <a:pPr marR="0" defTabSz="914400" fontAlgn="auto">
              <a:buClrTx/>
              <a:buSzTx/>
              <a:buFontTx/>
              <a:buNone/>
              <a:defRPr/>
            </a:pPr>
            <a:r>
              <a:rPr kumimoji="0" lang="zh-CN" altLang="en-US" sz="6600" b="1" kern="1200" cap="none" spc="0" normalizeH="0" baseline="0" noProof="1">
                <a:solidFill>
                  <a:srgbClr val="CC2000"/>
                </a:solidFill>
                <a:effectLst>
                  <a:outerShdw blurRad="101600" dist="25400" dir="2700000" algn="tl">
                    <a:srgbClr val="000000">
                      <a:alpha val="37000"/>
                    </a:srgbClr>
                  </a:outerShdw>
                </a:effectLst>
                <a:latin typeface="微软雅黑" panose="020B0503020204020204" pitchFamily="34" charset="-122"/>
                <a:ea typeface="微软雅黑" panose="020B0503020204020204" pitchFamily="34" charset="-122"/>
                <a:cs typeface="+mn-ea"/>
                <a:sym typeface="+mn-lt"/>
              </a:rPr>
              <a:t>汇报完毕</a:t>
            </a:r>
            <a:endParaRPr kumimoji="0" lang="zh-CN" altLang="en-US" sz="6600" b="1" kern="1200" cap="none" spc="0" normalizeH="0" baseline="0" noProof="1">
              <a:solidFill>
                <a:srgbClr val="CC2000"/>
              </a:solidFill>
              <a:effectLst>
                <a:outerShdw blurRad="101600" dist="25400" dir="2700000" algn="tl">
                  <a:srgbClr val="000000">
                    <a:alpha val="37000"/>
                  </a:srgbClr>
                </a:outerShdw>
              </a:effectLst>
              <a:latin typeface="微软雅黑" panose="020B0503020204020204" pitchFamily="34" charset="-122"/>
              <a:ea typeface="微软雅黑" panose="020B0503020204020204" pitchFamily="34" charset="-122"/>
              <a:cs typeface="+mn-ea"/>
              <a:sym typeface="+mn-lt"/>
            </a:endParaRPr>
          </a:p>
          <a:p>
            <a:pPr marR="0" defTabSz="914400" fontAlgn="auto">
              <a:buClrTx/>
              <a:buSzTx/>
              <a:buFontTx/>
              <a:buNone/>
              <a:defRPr/>
            </a:pPr>
            <a:r>
              <a:rPr kumimoji="0" lang="zh-CN" altLang="en-US" sz="6600" b="1" kern="1200" cap="none" spc="0" normalizeH="0" baseline="0" noProof="1">
                <a:solidFill>
                  <a:srgbClr val="CC2000"/>
                </a:solidFill>
                <a:effectLst>
                  <a:outerShdw blurRad="101600" dist="25400" dir="2700000" algn="tl">
                    <a:srgbClr val="000000">
                      <a:alpha val="37000"/>
                    </a:srgbClr>
                  </a:outerShdw>
                </a:effectLst>
                <a:latin typeface="微软雅黑" panose="020B0503020204020204" pitchFamily="34" charset="-122"/>
                <a:ea typeface="微软雅黑" panose="020B0503020204020204" pitchFamily="34" charset="-122"/>
                <a:cs typeface="+mn-ea"/>
                <a:sym typeface="+mn-lt"/>
              </a:rPr>
              <a:t>感谢您的倾听</a:t>
            </a:r>
            <a:endParaRPr kumimoji="0" lang="zh-CN" altLang="en-US" sz="6600" b="1" kern="1200" cap="none" spc="0" normalizeH="0" baseline="0" noProof="1">
              <a:solidFill>
                <a:srgbClr val="CC2000"/>
              </a:solidFill>
              <a:effectLst>
                <a:outerShdw blurRad="101600" dist="25400" dir="2700000" algn="tl">
                  <a:srgbClr val="000000">
                    <a:alpha val="37000"/>
                  </a:srgbClr>
                </a:outerShdw>
              </a:effectLst>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3587750" y="3517900"/>
            <a:ext cx="5160963" cy="400050"/>
          </a:xfrm>
          <a:prstGeom prst="rect">
            <a:avLst/>
          </a:prstGeom>
        </p:spPr>
        <p:txBody>
          <a:bodyPr>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1">
                <a:ln>
                  <a:noFill/>
                </a:ln>
                <a:solidFill>
                  <a:schemeClr val="tx1">
                    <a:lumMod val="85000"/>
                    <a:lumOff val="15000"/>
                  </a:schemeClr>
                </a:solidFill>
                <a:effectLst>
                  <a:outerShdw blurRad="101600" dist="25400" dir="2700000" algn="tl">
                    <a:srgbClr val="000000">
                      <a:alpha val="37000"/>
                    </a:srgbClr>
                  </a:outerShdw>
                </a:effectLst>
                <a:uLnTx/>
                <a:uFillTx/>
                <a:latin typeface="微软雅黑" panose="020B0503020204020204" pitchFamily="34" charset="-122"/>
                <a:ea typeface="微软雅黑" panose="020B0503020204020204" pitchFamily="34" charset="-122"/>
                <a:cs typeface="+mn-ea"/>
                <a:sym typeface="+mn-lt"/>
              </a:rPr>
              <a:t>THANK YOU FOR LISTENING</a:t>
            </a:r>
            <a:endParaRPr kumimoji="0" lang="zh-CN" altLang="en-US" sz="2000" b="1" i="0" u="none" strike="noStrike" kern="1200" cap="none" spc="0" normalizeH="0" baseline="0" noProof="1">
              <a:ln>
                <a:noFill/>
              </a:ln>
              <a:solidFill>
                <a:schemeClr val="tx1">
                  <a:lumMod val="85000"/>
                  <a:lumOff val="15000"/>
                </a:schemeClr>
              </a:solidFill>
              <a:effectLst>
                <a:outerShdw blurRad="101600" dist="25400" dir="2700000" algn="tl">
                  <a:srgbClr val="000000">
                    <a:alpha val="37000"/>
                  </a:srgbClr>
                </a:outerShdw>
              </a:effectLst>
              <a:uLnTx/>
              <a:uFillTx/>
              <a:latin typeface="微软雅黑" panose="020B0503020204020204" pitchFamily="34" charset="-122"/>
              <a:ea typeface="微软雅黑" panose="020B0503020204020204" pitchFamily="34" charset="-122"/>
              <a:cs typeface="+mn-ea"/>
              <a:sym typeface="+mn-lt"/>
            </a:endParaRPr>
          </a:p>
        </p:txBody>
      </p:sp>
      <p:cxnSp>
        <p:nvCxnSpPr>
          <p:cNvPr id="7" name="直接连接符 371"/>
          <p:cNvCxnSpPr/>
          <p:nvPr/>
        </p:nvCxnSpPr>
        <p:spPr>
          <a:xfrm flipV="1">
            <a:off x="3686175" y="3373438"/>
            <a:ext cx="5062538" cy="0"/>
          </a:xfrm>
          <a:prstGeom prst="line">
            <a:avLst/>
          </a:prstGeom>
          <a:ln>
            <a:solidFill>
              <a:srgbClr val="B01319"/>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a:stretch>
            <a:fillRect/>
          </a:stretch>
        </p:blipFill>
        <p:spPr>
          <a:xfrm>
            <a:off x="490855" y="4235450"/>
            <a:ext cx="5370195" cy="1790065"/>
          </a:xfrm>
          <a:prstGeom prst="rect">
            <a:avLst/>
          </a:prstGeom>
        </p:spPr>
      </p:pic>
      <p:pic>
        <p:nvPicPr>
          <p:cNvPr id="3" name="图片 2"/>
          <p:cNvPicPr>
            <a:picLocks noChangeAspect="1"/>
          </p:cNvPicPr>
          <p:nvPr/>
        </p:nvPicPr>
        <p:blipFill>
          <a:blip r:embed="rId2"/>
          <a:stretch>
            <a:fillRect/>
          </a:stretch>
        </p:blipFill>
        <p:spPr>
          <a:xfrm>
            <a:off x="6069965" y="4235450"/>
            <a:ext cx="5379720" cy="1793240"/>
          </a:xfrm>
          <a:prstGeom prst="rect">
            <a:avLst/>
          </a:prstGeom>
        </p:spPr>
      </p:pic>
    </p:spTree>
  </p:cSld>
  <p:clrMapOvr>
    <a:masterClrMapping/>
  </p:clrMapOvr>
  <p:transition spd="slow"/>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DOCER_RESOURCE_TRACE_INFO" val="{&quot;id&quot;:&quot;&quot;,&quot;origin&quot;:0,&quot;type&quot;:&quot;pictures&quot;,&quot;user&quot;:&quot;513213574&quot;}"/>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DOCER_RESOURCE_TRACE_INFO" val="{&quot;id&quot;:&quot;&quot;,&quot;origin&quot;:0,&quot;type&quot;:&quot;pictures&quot;,&quot;user&quot;:&quot;513213574&quot;}"/>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DOCER_RESOURCE_TRACE_INFO" val="{&quot;id&quot;:&quot;&quot;,&quot;origin&quot;:0,&quot;type&quot;:&quot;pictures&quot;,&quot;user&quot;:&quot;513213574&quot;}"/>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DOCER_RESOURCE_TRACE_INFO" val="{&quot;id&quot;:&quot;&quot;,&quot;origin&quot;:0,&quot;type&quot;:&quot;pictures&quot;,&quot;user&quot;:&quot;513213574&quot;}"/>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PP_MARK_KEY" val="d40a6864-e4fd-4a6c-9885-b63ee6c2aa4e"/>
  <p:tag name="COMMONDATA" val="eyJoZGlkIjoiYWJmNTAxYTA0NTllZTU0OWY5NWY0MWNlMzBjNGU2OTYifQ=="/>
  <p:tag name="resource_record_key" val="{&quot;8&quot;:[20476889,2047688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3071</Words>
  <Application>WPS 演示</Application>
  <PresentationFormat>宽屏</PresentationFormat>
  <Paragraphs>354</Paragraphs>
  <Slides>21</Slides>
  <Notes>2</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21</vt:i4>
      </vt:variant>
    </vt:vector>
  </HeadingPairs>
  <TitlesOfParts>
    <vt:vector size="34" baseType="lpstr">
      <vt:lpstr>Arial</vt:lpstr>
      <vt:lpstr>宋体</vt:lpstr>
      <vt:lpstr>Wingdings</vt:lpstr>
      <vt:lpstr>Calibri</vt:lpstr>
      <vt:lpstr>微软雅黑</vt:lpstr>
      <vt:lpstr>黑体</vt:lpstr>
      <vt:lpstr>时尚中黑简体</vt:lpstr>
      <vt:lpstr>Wingdings</vt:lpstr>
      <vt:lpstr>Arial Unicode MS</vt:lpstr>
      <vt:lpstr>等线 Light</vt:lpstr>
      <vt:lpstr>等线</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Jinnan</dc:creator>
  <cp:lastModifiedBy>admin</cp:lastModifiedBy>
  <cp:revision>61</cp:revision>
  <dcterms:created xsi:type="dcterms:W3CDTF">2022-08-04T02:25:00Z</dcterms:created>
  <dcterms:modified xsi:type="dcterms:W3CDTF">2026-08-28T16:51:14Z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6F643D36B5A542329A800D9C47C15E0A_13</vt:lpwstr>
  </property>
  <property fmtid="{D5CDD505-2E9C-101B-9397-08002B2CF9AE}" pid="3" name="KSOProductBuildVer">
    <vt:lpwstr>2052-12.1.0.28043</vt:lpwstr>
  </property>
</Properties>
</file>