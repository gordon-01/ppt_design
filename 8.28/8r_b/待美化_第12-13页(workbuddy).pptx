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09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</p:sldMasterIdLst>
  <p:notesMasterIdLst>
    <p:notesMasterId r:id="rId5"/>
  </p:notesMasterIdLst>
  <p:sldIdLst>
    <p:sldId id="4152" r:id="rId16"/>
    <p:sldId id="4153" r:id="rId17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ww" initials="k" lastIdx="3" clrIdx="0"/>
  <p:cmAuthor id="2" name="Administrator" initials="A" lastIdx="0" clrIdx="1"/>
  <p:cmAuthor id="3" name="黄 子乐" initials="黄" lastIdx="0" clrIdx="2"/>
  <p:cmAuthor id="4" name="86130" initials="8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0" autoAdjust="0"/>
    <p:restoredTop sz="94660"/>
  </p:normalViewPr>
  <p:slideViewPr>
    <p:cSldViewPr snapToGrid="0">
      <p:cViewPr varScale="1">
        <p:scale>
          <a:sx n="64" d="100"/>
          <a:sy n="64" d="100"/>
        </p:scale>
        <p:origin x="5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ableStyles" Target="tableStyles.xml"/><Relationship Id="rId29" Type="http://schemas.openxmlformats.org/officeDocument/2006/relationships/commentAuthors" Target="commentAuthors.xml"/><Relationship Id="rId30" Type="http://schemas.openxmlformats.org/officeDocument/2006/relationships/tags" Target="tags/tag10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4810B7-C3EC-4590-9CDD-57AB5697F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D7F19B-21FF-427A-B452-A9722EBD246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299-E2ED-4F60-914D-98EA46D4DE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585F-DF6D-4B2F-861D-CDE367FB6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299-E2ED-4F60-914D-98EA46D4DE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585F-DF6D-4B2F-861D-CDE367FB6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299-E2ED-4F60-914D-98EA46D4DE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585F-DF6D-4B2F-861D-CDE367FB6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299-E2ED-4F60-914D-98EA46D4DE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585F-DF6D-4B2F-861D-CDE367FB6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299-E2ED-4F60-914D-98EA46D4DE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585F-DF6D-4B2F-861D-CDE367FB6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299-E2ED-4F60-914D-98EA46D4DE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585F-DF6D-4B2F-861D-CDE367FB6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299-E2ED-4F60-914D-98EA46D4DE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585F-DF6D-4B2F-861D-CDE367FB6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299-E2ED-4F60-914D-98EA46D4DE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585F-DF6D-4B2F-861D-CDE367FB6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299-E2ED-4F60-914D-98EA46D4DE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585F-DF6D-4B2F-861D-CDE367FB6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299-E2ED-4F60-914D-98EA46D4DE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585F-DF6D-4B2F-861D-CDE367FB6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299-E2ED-4F60-914D-98EA46D4DE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585F-DF6D-4B2F-861D-CDE367FB6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7" name="Picture 3" descr="C:\Users\Administrator\Desktop\无题会话5919.jpg"/>
          <p:cNvPicPr>
            <a:picLocks noChangeAspect="1" noChangeArrowheads="1"/>
          </p:cNvPicPr>
          <p:nvPr userDrawn="1"/>
        </p:nvPicPr>
        <p:blipFill>
          <a:blip r:embed="rId2" cstate="print"/>
          <a:srcRect t="12500" b="6868"/>
          <a:stretch>
            <a:fillRect/>
          </a:stretch>
        </p:blipFill>
        <p:spPr bwMode="auto">
          <a:xfrm>
            <a:off x="1" y="0"/>
            <a:ext cx="12192000" cy="6553200"/>
          </a:xfrm>
          <a:prstGeom prst="rect">
            <a:avLst/>
          </a:prstGeom>
          <a:noFill/>
        </p:spPr>
      </p:pic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299-E2ED-4F60-914D-98EA46D4DE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585F-DF6D-4B2F-861D-CDE367FB6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299-E2ED-4F60-914D-98EA46D4DE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585F-DF6D-4B2F-861D-CDE367FB6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299-E2ED-4F60-914D-98EA46D4DE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585F-DF6D-4B2F-861D-CDE367FB6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299-E2ED-4F60-914D-98EA46D4DE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585F-DF6D-4B2F-861D-CDE367FB6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299-E2ED-4F60-914D-98EA46D4DE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585F-DF6D-4B2F-861D-CDE367FB6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299-E2ED-4F60-914D-98EA46D4DE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585F-DF6D-4B2F-861D-CDE367FB6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299-E2ED-4F60-914D-98EA46D4DE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585F-DF6D-4B2F-861D-CDE367FB6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299-E2ED-4F60-914D-98EA46D4DE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585F-DF6D-4B2F-861D-CDE367FB6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299-E2ED-4F60-914D-98EA46D4DE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585F-DF6D-4B2F-861D-CDE367FB6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299-E2ED-4F60-914D-98EA46D4DE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585F-DF6D-4B2F-861D-CDE367FB6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299-E2ED-4F60-914D-98EA46D4DE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585F-DF6D-4B2F-861D-CDE367FB6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7" name="Picture 3" descr="C:\Users\Administrator\Desktop\无题会话5919.jpg"/>
          <p:cNvPicPr>
            <a:picLocks noChangeAspect="1" noChangeArrowheads="1"/>
          </p:cNvPicPr>
          <p:nvPr userDrawn="1"/>
        </p:nvPicPr>
        <p:blipFill>
          <a:blip r:embed="rId2" cstate="print"/>
          <a:srcRect t="12500" b="6868"/>
          <a:stretch>
            <a:fillRect/>
          </a:stretch>
        </p:blipFill>
        <p:spPr bwMode="auto">
          <a:xfrm>
            <a:off x="1" y="0"/>
            <a:ext cx="12192000" cy="6553200"/>
          </a:xfrm>
          <a:prstGeom prst="rect">
            <a:avLst/>
          </a:prstGeom>
          <a:noFill/>
        </p:spPr>
      </p:pic>
    </p:spTree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21299-E2ED-4F60-914D-98EA46D4DE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0585F-DF6D-4B2F-861D-CDE367FB6F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21299-E2ED-4F60-914D-98EA46D4DE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0585F-DF6D-4B2F-861D-CDE367FB6F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image" Target="../media/image2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tags" Target="../tags/tag42.xml"/><Relationship Id="rId3" Type="http://schemas.openxmlformats.org/officeDocument/2006/relationships/tags" Target="../tags/tag43.xml"/><Relationship Id="rId4" Type="http://schemas.openxmlformats.org/officeDocument/2006/relationships/tags" Target="../tags/tag44.xml"/><Relationship Id="rId5" Type="http://schemas.openxmlformats.org/officeDocument/2006/relationships/tags" Target="../tags/tag45.xml"/><Relationship Id="rId6" Type="http://schemas.openxmlformats.org/officeDocument/2006/relationships/tags" Target="../tags/tag46.xml"/><Relationship Id="rId7" Type="http://schemas.openxmlformats.org/officeDocument/2006/relationships/image" Target="../media/image2.png"/><Relationship Id="rId8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87" y="263525"/>
            <a:ext cx="1056074" cy="900000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2392680" y="448310"/>
            <a:ext cx="57480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860000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defRPr>
            </a:lvl1pPr>
          </a:lstStyle>
          <a:p>
            <a:r>
              <a:rPr lang="zh-CN" altLang="en-US" sz="3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市场重点问题及改善建议</a:t>
            </a:r>
            <a:endParaRPr lang="zh-CN" altLang="en-US" sz="3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530350" y="373380"/>
            <a:ext cx="436245" cy="72009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>
            <p:custDataLst>
              <p:tags r:id="rId2"/>
            </p:custDataLst>
          </p:nvPr>
        </p:nvSpPr>
        <p:spPr>
          <a:xfrm>
            <a:off x="2061210" y="373380"/>
            <a:ext cx="191770" cy="72009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>
            <p:custDataLst>
              <p:tags r:id="rId3"/>
            </p:custDataLst>
          </p:nvPr>
        </p:nvSpPr>
        <p:spPr>
          <a:xfrm>
            <a:off x="7749540" y="373380"/>
            <a:ext cx="352425" cy="72009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/>
          <p:cNvSpPr/>
          <p:nvPr>
            <p:custDataLst>
              <p:tags r:id="rId4"/>
            </p:custDataLst>
          </p:nvPr>
        </p:nvSpPr>
        <p:spPr>
          <a:xfrm>
            <a:off x="11323955" y="5967095"/>
            <a:ext cx="567690" cy="57848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/>
          <p:cNvSpPr/>
          <p:nvPr>
            <p:custDataLst>
              <p:tags r:id="rId5"/>
            </p:custDataLst>
          </p:nvPr>
        </p:nvSpPr>
        <p:spPr>
          <a:xfrm>
            <a:off x="11001375" y="5967095"/>
            <a:ext cx="223520" cy="57848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" name="图片 101" descr="微信图片_2021070210295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398250" y="6079490"/>
            <a:ext cx="414655" cy="353695"/>
          </a:xfrm>
          <a:prstGeom prst="rect">
            <a:avLst/>
          </a:prstGeom>
        </p:spPr>
      </p:pic>
      <p:sp>
        <p:nvSpPr>
          <p:cNvPr id="22" name="等腰三角形 21"/>
          <p:cNvSpPr/>
          <p:nvPr/>
        </p:nvSpPr>
        <p:spPr>
          <a:xfrm>
            <a:off x="520790" y="1473797"/>
            <a:ext cx="465041" cy="400897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408940" y="2083065"/>
            <a:ext cx="9971405" cy="571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196975" y="1473835"/>
            <a:ext cx="6944360" cy="40068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过期标语未及时撤除，易造成经营风险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3746" y="3575304"/>
            <a:ext cx="1280790" cy="9601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75704" y="3575304"/>
            <a:ext cx="719962" cy="9601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6834" y="3575304"/>
            <a:ext cx="720090" cy="9601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H="1">
            <a:off x="7118092" y="3575304"/>
            <a:ext cx="1280160" cy="960120"/>
          </a:xfrm>
          <a:prstGeom prst="rect">
            <a:avLst/>
          </a:prstGeom>
        </p:spPr>
      </p:pic>
      <p:sp>
        <p:nvSpPr>
          <p:cNvPr id="103" name="Rounded Rectangle 102"/>
          <p:cNvSpPr/>
          <p:nvPr/>
        </p:nvSpPr>
        <p:spPr>
          <a:xfrm>
            <a:off x="502920" y="2212848"/>
            <a:ext cx="11186160" cy="1197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02920" y="2212848"/>
            <a:ext cx="91440" cy="1197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22376" y="2331720"/>
            <a:ext cx="1083868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C00000"/>
                </a:solidFill>
                <a:latin typeface="微软雅黑"/>
              </a:rPr>
              <a:t>问题点：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过期标语仍在市场运用（提神快、十包高端槟榔七包和成天下），未及时撤除。其中偃师市场情况较为严重，包含陈列盒/架以及终端品宣。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02920" y="4700016"/>
            <a:ext cx="11186160" cy="1197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02920" y="4700016"/>
            <a:ext cx="91440" cy="1197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22376" y="4818888"/>
            <a:ext cx="1083868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C00000"/>
                </a:solidFill>
                <a:latin typeface="微软雅黑"/>
              </a:rPr>
              <a:t>改善建议：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1.市场全面大清洗，动员市场所有人员全面撤除过期品宣；
2.对人员密集、地理位置优越（景区、十字路口、步行街等）的终端给予大品宣费用支持；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87" y="263525"/>
            <a:ext cx="1056074" cy="900000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2392680" y="448310"/>
            <a:ext cx="57480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860000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defRPr>
            </a:lvl1pPr>
          </a:lstStyle>
          <a:p>
            <a:r>
              <a:rPr lang="zh-CN" altLang="en-US" sz="3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市场重点问题及改善建议</a:t>
            </a:r>
            <a:endParaRPr lang="zh-CN" altLang="en-US" sz="3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530350" y="373380"/>
            <a:ext cx="436245" cy="72009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>
            <p:custDataLst>
              <p:tags r:id="rId2"/>
            </p:custDataLst>
          </p:nvPr>
        </p:nvSpPr>
        <p:spPr>
          <a:xfrm>
            <a:off x="2061210" y="373380"/>
            <a:ext cx="191770" cy="72009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>
            <p:custDataLst>
              <p:tags r:id="rId3"/>
            </p:custDataLst>
          </p:nvPr>
        </p:nvSpPr>
        <p:spPr>
          <a:xfrm>
            <a:off x="7749540" y="373380"/>
            <a:ext cx="352425" cy="72009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/>
          <p:cNvSpPr/>
          <p:nvPr>
            <p:custDataLst>
              <p:tags r:id="rId4"/>
            </p:custDataLst>
          </p:nvPr>
        </p:nvSpPr>
        <p:spPr>
          <a:xfrm>
            <a:off x="11323955" y="5967095"/>
            <a:ext cx="567690" cy="57848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/>
          <p:cNvSpPr/>
          <p:nvPr>
            <p:custDataLst>
              <p:tags r:id="rId5"/>
            </p:custDataLst>
          </p:nvPr>
        </p:nvSpPr>
        <p:spPr>
          <a:xfrm>
            <a:off x="11001375" y="5967095"/>
            <a:ext cx="223520" cy="57848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" name="图片 101" descr="微信图片_2021070210295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398250" y="6079490"/>
            <a:ext cx="414655" cy="353695"/>
          </a:xfrm>
          <a:prstGeom prst="rect">
            <a:avLst/>
          </a:prstGeom>
        </p:spPr>
      </p:pic>
      <p:sp>
        <p:nvSpPr>
          <p:cNvPr id="22" name="等腰三角形 21"/>
          <p:cNvSpPr/>
          <p:nvPr/>
        </p:nvSpPr>
        <p:spPr>
          <a:xfrm>
            <a:off x="520790" y="1473797"/>
            <a:ext cx="465041" cy="400897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408940" y="2083065"/>
            <a:ext cx="9971405" cy="571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196975" y="1473835"/>
            <a:ext cx="6944360" cy="40068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骄阳行动颁奖进度缓慢，线上舆论增加</a:t>
            </a:r>
            <a:endParaRPr lang="zh-CN" altLang="en-US"/>
          </a:p>
        </p:txBody>
      </p:sp>
      <p:sp>
        <p:nvSpPr>
          <p:cNvPr id="103" name="Rounded Rectangle 102"/>
          <p:cNvSpPr/>
          <p:nvPr/>
        </p:nvSpPr>
        <p:spPr>
          <a:xfrm>
            <a:off x="502920" y="2212848"/>
            <a:ext cx="1118616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02920" y="2212848"/>
            <a:ext cx="91440" cy="17145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22376" y="2331720"/>
            <a:ext cx="10838688" cy="14767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C00000"/>
                </a:solidFill>
                <a:latin typeface="微软雅黑"/>
              </a:rPr>
              <a:t>问题点：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奖品（电动车、手机）到达市场时间较长，市场颁奖进度缓慢，导致中奖客户在线上发布不实信息，给予市场较大压力。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02920" y="4183380"/>
            <a:ext cx="1118616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02920" y="4183380"/>
            <a:ext cx="91440" cy="17145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22376" y="4302252"/>
            <a:ext cx="10838688" cy="14767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C00000"/>
                </a:solidFill>
                <a:latin typeface="微软雅黑"/>
              </a:rPr>
              <a:t>改善建议：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1.确定市场奖品数量并提前发往市场，保证颁奖质量的同时减少复杂流程；
2.制定相关话术，业务员灵活使用话术安抚中奖客户情绪，减少相关舆论，维护本品形象；</a:t>
            </a:r>
          </a:p>
        </p:txBody>
      </p:sp>
    </p:spTree>
  </p:cSld>
  <p:clrMapOvr>
    <a:masterClrMapping/>
  </p:clrMapOvr>
  <p:transition spd="slow"/>
</p:sld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PP_MARK_KEY" val="d40a6864-e4fd-4a6c-9885-b63ee6c2aa4e"/>
  <p:tag name="COMMONDATA" val="eyJoZGlkIjoiYWJmNTAxYTA0NTllZTU0OWY5NWY0MWNlMzBjNGU2OTYifQ=="/>
  <p:tag name="resource_record_key" val="{&quot;8&quot;:[20476889,20476883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3074</Words>
  <Application>WPS 演示</Application>
  <PresentationFormat>宽屏</PresentationFormat>
  <Paragraphs>292</Paragraphs>
  <Slides>21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7" baseType="lpstr">
      <vt:lpstr>Arial</vt:lpstr>
      <vt:lpstr>宋体</vt:lpstr>
      <vt:lpstr>Wingdings</vt:lpstr>
      <vt:lpstr>Calibri</vt:lpstr>
      <vt:lpstr>微软雅黑</vt:lpstr>
      <vt:lpstr>黑体</vt:lpstr>
      <vt:lpstr>时尚中黑简体</vt:lpstr>
      <vt:lpstr>Wingdings</vt:lpstr>
      <vt:lpstr>Arial Unicode MS</vt:lpstr>
      <vt:lpstr>等线 Light</vt:lpstr>
      <vt:lpstr>等线</vt:lpstr>
      <vt:lpstr>Montserrat Bold</vt:lpstr>
      <vt:lpstr>Segoe Print</vt:lpstr>
      <vt:lpstr>思源黑体 CN Regular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 Jinnan</dc:creator>
  <cp:lastModifiedBy>T.T</cp:lastModifiedBy>
  <cp:revision>56</cp:revision>
  <dcterms:created xsi:type="dcterms:W3CDTF">2022-08-04T02:25:00Z</dcterms:created>
  <dcterms:modified xsi:type="dcterms:W3CDTF">2026-08-28T10:20:48Z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6F643D36B5A542329A800D9C47C15E0A_13</vt:lpwstr>
  </property>
  <property fmtid="{D5CDD505-2E9C-101B-9397-08002B2CF9AE}" pid="3" name="KSOProductBuildVer">
    <vt:lpwstr>2052-12.1.0.28043</vt:lpwstr>
  </property>
</Properties>
</file>