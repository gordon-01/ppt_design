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olors1.xml" ContentType="application/vnd.ms-office.chartcolorstyle+xml"/>
  <Override PartName="/ppt/charts/colors10.xml" ContentType="application/vnd.ms-office.chartcolorstyle+xml"/>
  <Override PartName="/ppt/charts/colors11.xml" ContentType="application/vnd.ms-office.chartcolorstyle+xml"/>
  <Override PartName="/ppt/charts/colors12.xml" ContentType="application/vnd.ms-office.chartcolorstyle+xml"/>
  <Override PartName="/ppt/charts/colors13.xml" ContentType="application/vnd.ms-office.chartcolorstyle+xml"/>
  <Override PartName="/ppt/charts/colors14.xml" ContentType="application/vnd.ms-office.chartcolorstyle+xml"/>
  <Override PartName="/ppt/charts/colors2.xml" ContentType="application/vnd.ms-office.chartcolorstyle+xml"/>
  <Override PartName="/ppt/charts/colors3.xml" ContentType="application/vnd.ms-office.chartcolorstyle+xml"/>
  <Override PartName="/ppt/charts/colors4.xml" ContentType="application/vnd.ms-office.chartcolorstyle+xml"/>
  <Override PartName="/ppt/charts/colors5.xml" ContentType="application/vnd.ms-office.chartcolorstyle+xml"/>
  <Override PartName="/ppt/charts/colors6.xml" ContentType="application/vnd.ms-office.chartcolorstyle+xml"/>
  <Override PartName="/ppt/charts/colors7.xml" ContentType="application/vnd.ms-office.chartcolorstyle+xml"/>
  <Override PartName="/ppt/charts/colors8.xml" ContentType="application/vnd.ms-office.chartcolorstyle+xml"/>
  <Override PartName="/ppt/charts/colors9.xml" ContentType="application/vnd.ms-office.chartcolorstyle+xml"/>
  <Override PartName="/ppt/charts/style1.xml" ContentType="application/vnd.ms-office.chartstyle+xml"/>
  <Override PartName="/ppt/charts/style10.xml" ContentType="application/vnd.ms-office.chartstyle+xml"/>
  <Override PartName="/ppt/charts/style11.xml" ContentType="application/vnd.ms-office.chartstyle+xml"/>
  <Override PartName="/ppt/charts/style12.xml" ContentType="application/vnd.ms-office.chartstyle+xml"/>
  <Override PartName="/ppt/charts/style13.xml" ContentType="application/vnd.ms-office.chartstyle+xml"/>
  <Override PartName="/ppt/charts/style14.xml" ContentType="application/vnd.ms-office.chartstyle+xml"/>
  <Override PartName="/ppt/charts/style2.xml" ContentType="application/vnd.ms-office.chartstyle+xml"/>
  <Override PartName="/ppt/charts/style3.xml" ContentType="application/vnd.ms-office.chartstyle+xml"/>
  <Override PartName="/ppt/charts/style4.xml" ContentType="application/vnd.ms-office.chartstyle+xml"/>
  <Override PartName="/ppt/charts/style5.xml" ContentType="application/vnd.ms-office.chartstyle+xml"/>
  <Override PartName="/ppt/charts/style6.xml" ContentType="application/vnd.ms-office.chartstyle+xml"/>
  <Override PartName="/ppt/charts/style7.xml" ContentType="application/vnd.ms-office.chartstyle+xml"/>
  <Override PartName="/ppt/charts/style8.xml" ContentType="application/vnd.ms-office.chartstyle+xml"/>
  <Override PartName="/ppt/charts/style9.xml" ContentType="application/vnd.ms-office.chartstyle+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3" r:id="rId3"/>
  </p:sldMasterIdLst>
  <p:notesMasterIdLst>
    <p:notesMasterId r:id="rId5"/>
  </p:notesMasterIdLst>
  <p:sldIdLst>
    <p:sldId id="264" r:id="rId4"/>
    <p:sldId id="295" r:id="rId6"/>
    <p:sldId id="2050" r:id="rId7"/>
    <p:sldId id="2044" r:id="rId8"/>
    <p:sldId id="4149" r:id="rId9"/>
    <p:sldId id="4150" r:id="rId10"/>
    <p:sldId id="4151" r:id="rId11"/>
    <p:sldId id="2134" r:id="rId12"/>
    <p:sldId id="2138" r:id="rId13"/>
    <p:sldId id="2136" r:id="rId14"/>
    <p:sldId id="2139" r:id="rId15"/>
    <p:sldId id="4152" r:id="rId16"/>
    <p:sldId id="4153" r:id="rId17"/>
    <p:sldId id="4154" r:id="rId18"/>
    <p:sldId id="4155" r:id="rId19"/>
    <p:sldId id="4147" r:id="rId20"/>
    <p:sldId id="4158" r:id="rId21"/>
    <p:sldId id="2137" r:id="rId22"/>
    <p:sldId id="4156" r:id="rId23"/>
    <p:sldId id="2135" r:id="rId24"/>
    <p:sldId id="4144" r:id="rId25"/>
  </p:sldIdLst>
  <p:sldSz cx="12192000" cy="6858000"/>
  <p:notesSz cx="6858000" cy="9144000"/>
  <p:custDataLst>
    <p:tags r:id="rId30"/>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ww" initials="k" lastIdx="3" clrIdx="0"/>
  <p:cmAuthor id="2" name="Administrator" initials="A" lastIdx="0" clrIdx="1"/>
  <p:cmAuthor id="3" name="黄 子乐" initials="黄" lastIdx="0" clrIdx="2"/>
  <p:cmAuthor id="4" name="86130" initials="8" lastIdx="0"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40" autoAdjust="0"/>
    <p:restoredTop sz="94660"/>
  </p:normalViewPr>
  <p:slideViewPr>
    <p:cSldViewPr snapToGrid="0">
      <p:cViewPr varScale="1">
        <p:scale>
          <a:sx n="64" d="100"/>
          <a:sy n="64" d="100"/>
        </p:scale>
        <p:origin x="552"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0" Type="http://schemas.openxmlformats.org/officeDocument/2006/relationships/tags" Target="tags/tag109.xml"/><Relationship Id="rId3" Type="http://schemas.openxmlformats.org/officeDocument/2006/relationships/slideMaster" Target="slideMasters/slideMaster2.xml"/><Relationship Id="rId29" Type="http://schemas.openxmlformats.org/officeDocument/2006/relationships/commentAuthors" Target="commentAuthors.xml"/><Relationship Id="rId28" Type="http://schemas.openxmlformats.org/officeDocument/2006/relationships/tableStyles" Target="tableStyles.xml"/><Relationship Id="rId27" Type="http://schemas.openxmlformats.org/officeDocument/2006/relationships/viewProps" Target="viewProps.xml"/><Relationship Id="rId26" Type="http://schemas.openxmlformats.org/officeDocument/2006/relationships/presProps" Target="presProps.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3" Type="http://schemas.microsoft.com/office/2011/relationships/chartColorStyle" Target="colors1.xml"/><Relationship Id="rId2" Type="http://schemas.microsoft.com/office/2011/relationships/chartStyle" Target="style1.xml"/><Relationship Id="rId1" Type="http://schemas.openxmlformats.org/officeDocument/2006/relationships/oleObject" Target="file:///C:\Users\64435\Desktop\&#19977;&#20998;&#37096;12&#26376;&#24066;&#22330;&#23567;&#32467;.xlsx" TargetMode="External"/></Relationships>
</file>

<file path=ppt/charts/_rels/chart2.xml.rels><?xml version="1.0" encoding="UTF-8" standalone="yes"?>
<Relationships xmlns="http://schemas.openxmlformats.org/package/2006/relationships"><Relationship Id="rId3" Type="http://schemas.microsoft.com/office/2011/relationships/chartColorStyle" Target="colors2.xml"/><Relationship Id="rId2" Type="http://schemas.microsoft.com/office/2011/relationships/chartStyle" Target="style2.xml"/><Relationship Id="rId1" Type="http://schemas.openxmlformats.org/officeDocument/2006/relationships/oleObject" Target="file:///C:\Users\64435\Desktop\&#19977;&#20998;&#37096;12&#26376;&#24066;&#22330;&#23567;&#32467;.xlsx" TargetMode="External"/></Relationships>
</file>

<file path=ppt/charts/_rels/chart3.xml.rels><?xml version="1.0" encoding="UTF-8" standalone="yes"?>
<Relationships xmlns="http://schemas.openxmlformats.org/package/2006/relationships"><Relationship Id="rId3" Type="http://schemas.microsoft.com/office/2011/relationships/chartColorStyle" Target="colors3.xml"/><Relationship Id="rId2" Type="http://schemas.microsoft.com/office/2011/relationships/chartStyle" Target="style3.xml"/><Relationship Id="rId1" Type="http://schemas.openxmlformats.org/officeDocument/2006/relationships/oleObject" Target="file:///C:\Users\64435\Desktop\&#19977;&#20998;&#37096;12&#26376;&#24066;&#22330;&#23567;&#32467;.xlsx" TargetMode="External"/></Relationships>
</file>

<file path=ppt/charts/_rels/chart4.xml.rels><?xml version="1.0" encoding="UTF-8" standalone="yes"?>
<Relationships xmlns="http://schemas.openxmlformats.org/package/2006/relationships"><Relationship Id="rId3" Type="http://schemas.microsoft.com/office/2011/relationships/chartColorStyle" Target="colors4.xml"/><Relationship Id="rId2" Type="http://schemas.microsoft.com/office/2011/relationships/chartStyle" Target="style4.xml"/><Relationship Id="rId1" Type="http://schemas.openxmlformats.org/officeDocument/2006/relationships/oleObject" Target="file:///C:\Users\64435\Desktop\&#19977;&#20998;&#37096;12&#26376;&#24066;&#22330;&#23567;&#32467;.xlsx" TargetMode="External"/></Relationships>
</file>

<file path=ppt/charts/_rels/chart5.xml.rels><?xml version="1.0" encoding="UTF-8" standalone="yes"?>
<Relationships xmlns="http://schemas.openxmlformats.org/package/2006/relationships"><Relationship Id="rId3" Type="http://schemas.microsoft.com/office/2011/relationships/chartColorStyle" Target="colors5.xml"/><Relationship Id="rId2" Type="http://schemas.microsoft.com/office/2011/relationships/chartStyle" Target="style5.xml"/><Relationship Id="rId1" Type="http://schemas.openxmlformats.org/officeDocument/2006/relationships/oleObject" Target="file:///C:\Users\64435\Desktop\&#19977;&#20998;&#37096;12&#26376;&#24066;&#22330;&#23567;&#32467;.xlsx" TargetMode="External"/></Relationships>
</file>

<file path=ppt/charts/_rels/chart6.xml.rels><?xml version="1.0" encoding="UTF-8" standalone="yes"?>
<Relationships xmlns="http://schemas.openxmlformats.org/package/2006/relationships"><Relationship Id="rId3" Type="http://schemas.microsoft.com/office/2011/relationships/chartColorStyle" Target="colors6.xml"/><Relationship Id="rId2" Type="http://schemas.microsoft.com/office/2011/relationships/chartStyle" Target="style6.xml"/><Relationship Id="rId1" Type="http://schemas.openxmlformats.org/officeDocument/2006/relationships/oleObject" Target="file:///C:\Users\64435\Desktop\&#19977;&#20998;&#37096;12&#26376;&#24066;&#22330;&#23567;&#32467;.xlsx" TargetMode="External"/></Relationships>
</file>

<file path=ppt/charts/_rels/chart7.xml.rels><?xml version="1.0" encoding="UTF-8" standalone="yes"?>
<Relationships xmlns="http://schemas.openxmlformats.org/package/2006/relationships"><Relationship Id="rId3" Type="http://schemas.microsoft.com/office/2011/relationships/chartColorStyle" Target="colors7.xml"/><Relationship Id="rId2" Type="http://schemas.microsoft.com/office/2011/relationships/chartStyle" Target="style7.xml"/><Relationship Id="rId1" Type="http://schemas.openxmlformats.org/officeDocument/2006/relationships/oleObject" Target="file:///C:\Users\64435\Desktop\&#19977;&#20998;&#37096;12&#26376;&#24066;&#22330;&#23567;&#32467;.xlsx" TargetMode="External"/></Relationships>
</file>

<file path=ppt/charts/_rels/chart8.xml.rels><?xml version="1.0" encoding="UTF-8" standalone="yes"?>
<Relationships xmlns="http://schemas.openxmlformats.org/package/2006/relationships"><Relationship Id="rId3" Type="http://schemas.microsoft.com/office/2011/relationships/chartColorStyle" Target="colors8.xml"/><Relationship Id="rId2" Type="http://schemas.microsoft.com/office/2011/relationships/chartStyle" Target="style8.xml"/><Relationship Id="rId1" Type="http://schemas.openxmlformats.org/officeDocument/2006/relationships/oleObject" Target="file:///C:\Users\64435\Desktop\&#19977;&#20998;&#37096;12&#26376;&#24066;&#22330;&#23567;&#32467;.xlsx" TargetMode="External"/></Relationships>
</file>

<file path=ppt/charts/_rels/chart9.xml.rels><?xml version="1.0" encoding="UTF-8" standalone="yes"?>
<Relationships xmlns="http://schemas.openxmlformats.org/package/2006/relationships"><Relationship Id="rId3" Type="http://schemas.microsoft.com/office/2011/relationships/chartColorStyle" Target="colors9.xml"/><Relationship Id="rId2" Type="http://schemas.microsoft.com/office/2011/relationships/chartStyle" Target="style9.xml"/><Relationship Id="rId1" Type="http://schemas.openxmlformats.org/officeDocument/2006/relationships/oleObject" Target="file:///C:\Users\64435\Desktop\&#19977;&#20998;&#37096;12&#26376;&#24066;&#22330;&#23567;&#32467;.xlsx" TargetMode="External"/></Relationships>
</file>

<file path=ppt/charts/_rels/chart10.xml.rels><?xml version="1.0" encoding="UTF-8" standalone="yes"?>
<Relationships xmlns="http://schemas.openxmlformats.org/package/2006/relationships"><Relationship Id="rId3" Type="http://schemas.microsoft.com/office/2011/relationships/chartColorStyle" Target="colors10.xml"/><Relationship Id="rId2" Type="http://schemas.microsoft.com/office/2011/relationships/chartStyle" Target="style10.xml"/><Relationship Id="rId1" Type="http://schemas.openxmlformats.org/officeDocument/2006/relationships/oleObject" Target="file:///C:\Users\64435\Desktop\&#19977;&#20998;&#37096;12&#26376;&#24066;&#22330;&#23567;&#32467;.xlsx" TargetMode="External"/></Relationships>
</file>

<file path=ppt/charts/_rels/chart11.xml.rels><?xml version="1.0" encoding="UTF-8" standalone="yes"?>
<Relationships xmlns="http://schemas.openxmlformats.org/package/2006/relationships"><Relationship Id="rId3" Type="http://schemas.microsoft.com/office/2011/relationships/chartColorStyle" Target="colors11.xml"/><Relationship Id="rId2" Type="http://schemas.microsoft.com/office/2011/relationships/chartStyle" Target="style11.xml"/><Relationship Id="rId1" Type="http://schemas.openxmlformats.org/officeDocument/2006/relationships/oleObject" Target="file:///C:\Users\64435\Desktop\&#19977;&#20998;&#37096;12&#26376;&#24066;&#22330;&#23567;&#32467;.xlsx" TargetMode="External"/></Relationships>
</file>

<file path=ppt/charts/_rels/chart12.xml.rels><?xml version="1.0" encoding="UTF-8" standalone="yes"?>
<Relationships xmlns="http://schemas.openxmlformats.org/package/2006/relationships"><Relationship Id="rId3" Type="http://schemas.microsoft.com/office/2011/relationships/chartColorStyle" Target="colors12.xml"/><Relationship Id="rId2" Type="http://schemas.microsoft.com/office/2011/relationships/chartStyle" Target="style12.xml"/><Relationship Id="rId1" Type="http://schemas.openxmlformats.org/officeDocument/2006/relationships/oleObject" Target="file:///C:\Users\64435\Desktop\&#19977;&#20998;&#37096;12&#26376;&#24066;&#22330;&#23567;&#32467;.xlsx" TargetMode="External"/></Relationships>
</file>

<file path=ppt/charts/_rels/chart13.xml.rels><?xml version="1.0" encoding="UTF-8" standalone="yes"?>
<Relationships xmlns="http://schemas.openxmlformats.org/package/2006/relationships"><Relationship Id="rId3" Type="http://schemas.microsoft.com/office/2011/relationships/chartColorStyle" Target="colors13.xml"/><Relationship Id="rId2" Type="http://schemas.microsoft.com/office/2011/relationships/chartStyle" Target="style13.xml"/><Relationship Id="rId1" Type="http://schemas.openxmlformats.org/officeDocument/2006/relationships/oleObject" Target="file:///C:\Users\64435\Desktop\&#19977;&#20998;&#37096;12&#26376;&#24066;&#22330;&#23567;&#32467;.xlsx" TargetMode="External"/></Relationships>
</file>

<file path=ppt/charts/_rels/chart14.xml.rels><?xml version="1.0" encoding="UTF-8" standalone="yes"?>
<Relationships xmlns="http://schemas.openxmlformats.org/package/2006/relationships"><Relationship Id="rId3" Type="http://schemas.microsoft.com/office/2011/relationships/chartColorStyle" Target="colors14.xml"/><Relationship Id="rId2" Type="http://schemas.microsoft.com/office/2011/relationships/chartStyle" Target="style14.xml"/><Relationship Id="rId1" Type="http://schemas.openxmlformats.org/officeDocument/2006/relationships/oleObject" Target="file:///C:\Users\64435\Desktop\&#19977;&#20998;&#37096;12&#26376;&#24066;&#22330;&#23567;&#32467;.xlsx"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defTabSz="914400">
              <a:defRPr lang="zh-CN" sz="1400" b="1" i="0" u="none" strike="noStrike" kern="1200" baseline="0">
                <a:solidFill>
                  <a:schemeClr val="tx1">
                    <a:lumMod val="75000"/>
                    <a:lumOff val="25000"/>
                  </a:schemeClr>
                </a:solidFill>
                <a:latin typeface="+mn-lt"/>
                <a:ea typeface="+mn-ea"/>
                <a:cs typeface="+mn-cs"/>
              </a:defRPr>
            </a:pPr>
            <a:r>
              <a:t>郑州南</a:t>
            </a:r>
          </a:p>
        </c:rich>
      </c:tx>
      <c:layout/>
      <c:overlay val="0"/>
      <c:spPr>
        <a:noFill/>
        <a:ln>
          <a:noFill/>
        </a:ln>
        <a:effectLst/>
      </c:spPr>
    </c:title>
    <c:autoTitleDeleted val="0"/>
    <c:plotArea>
      <c:layout/>
      <c:barChart>
        <c:barDir val="col"/>
        <c:grouping val="clustered"/>
        <c:varyColors val="0"/>
        <c:ser>
          <c:idx val="0"/>
          <c:order val="0"/>
          <c:spPr>
            <a:solidFill>
              <a:schemeClr val="accent1"/>
            </a:solidFill>
            <a:ln>
              <a:noFill/>
            </a:ln>
            <a:effectLst/>
          </c:spPr>
          <c:invertIfNegative val="0"/>
          <c:dPt>
            <c:idx val="0"/>
            <c:invertIfNegative val="0"/>
            <c:bubble3D val="0"/>
            <c:spPr>
              <a:solidFill>
                <a:schemeClr val="accent6">
                  <a:lumMod val="40000"/>
                  <a:lumOff val="60000"/>
                </a:schemeClr>
              </a:solidFill>
              <a:ln>
                <a:noFill/>
              </a:ln>
              <a:effectLst/>
            </c:spPr>
          </c:dPt>
          <c:dPt>
            <c:idx val="1"/>
            <c:invertIfNegative val="0"/>
            <c:bubble3D val="0"/>
            <c:spPr>
              <a:solidFill>
                <a:schemeClr val="accent4">
                  <a:lumMod val="40000"/>
                  <a:lumOff val="60000"/>
                </a:schemeClr>
              </a:solidFill>
              <a:ln>
                <a:solidFill>
                  <a:schemeClr val="accent4">
                    <a:lumMod val="60000"/>
                    <a:lumOff val="40000"/>
                  </a:schemeClr>
                </a:solidFill>
              </a:ln>
              <a:effectLst/>
            </c:spPr>
          </c:dPt>
          <c:dPt>
            <c:idx val="2"/>
            <c:invertIfNegative val="0"/>
            <c:bubble3D val="0"/>
            <c:spPr>
              <a:solidFill>
                <a:schemeClr val="accent2">
                  <a:lumMod val="40000"/>
                  <a:lumOff val="60000"/>
                </a:schemeClr>
              </a:solidFill>
              <a:ln>
                <a:noFill/>
              </a:ln>
              <a:effectLst/>
            </c:spPr>
          </c:dPt>
          <c:dPt>
            <c:idx val="3"/>
            <c:invertIfNegative val="0"/>
            <c:bubble3D val="0"/>
            <c:spPr>
              <a:solidFill>
                <a:schemeClr val="bg2">
                  <a:lumMod val="75000"/>
                </a:schemeClr>
              </a:solidFill>
              <a:ln>
                <a:noFill/>
              </a:ln>
              <a:effectLst/>
            </c:spPr>
          </c:dPt>
          <c:dPt>
            <c:idx val="6"/>
            <c:invertIfNegative val="0"/>
            <c:bubble3D val="0"/>
            <c:spPr>
              <a:gradFill>
                <a:gsLst>
                  <a:gs pos="0">
                    <a:schemeClr val="bg1"/>
                  </a:gs>
                  <a:gs pos="42000">
                    <a:srgbClr val="6ACCF2"/>
                  </a:gs>
                  <a:gs pos="100000">
                    <a:srgbClr val="2497EA"/>
                  </a:gs>
                </a:gsLst>
                <a:lin ang="8100000" scaled="1"/>
              </a:gradFill>
              <a:ln>
                <a:noFill/>
              </a:ln>
              <a:effectLst/>
            </c:spPr>
          </c:dPt>
          <c:dLbls>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lumMod val="75000"/>
                        <a:lumOff val="25000"/>
                      </a:schemeClr>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spPr>
                    <a:ln w="9525" cap="flat" cmpd="sng" algn="ctr">
                      <a:solidFill>
                        <a:schemeClr val="tx1">
                          <a:lumMod val="35000"/>
                          <a:lumOff val="65000"/>
                        </a:schemeClr>
                      </a:solidFill>
                      <a:round/>
                    </a:ln>
                    <a:effectLst/>
                  </c:spPr>
                </c15:leaderLines>
              </c:ext>
            </c:extLst>
          </c:dLbls>
          <c:cat>
            <c:strRef>
              <c:f>[三分部12月市场小结.xlsx]Sheet1!$H$3:$N$3</c:f>
              <c:strCache>
                <c:ptCount val="7"/>
                <c:pt idx="0">
                  <c:v>整体铺市率</c:v>
                </c:pt>
                <c:pt idx="1">
                  <c:v>口味王</c:v>
                </c:pt>
                <c:pt idx="2">
                  <c:v>和成天下</c:v>
                </c:pt>
                <c:pt idx="3">
                  <c:v>主竞品</c:v>
                </c:pt>
                <c:pt idx="6">
                  <c:v>高端铺市率</c:v>
                </c:pt>
              </c:strCache>
            </c:strRef>
          </c:cat>
          <c:val>
            <c:numRef>
              <c:f>[三分部12月市场小结.xlsx]Sheet1!$H$4:$N$4</c:f>
              <c:numCache>
                <c:formatCode>0.0%</c:formatCode>
                <c:ptCount val="7"/>
                <c:pt idx="0">
                  <c:v>0.975</c:v>
                </c:pt>
                <c:pt idx="1">
                  <c:v>0.975</c:v>
                </c:pt>
                <c:pt idx="2">
                  <c:v>0.975</c:v>
                </c:pt>
                <c:pt idx="3">
                  <c:v>0.725</c:v>
                </c:pt>
                <c:pt idx="6">
                  <c:v>0.825</c:v>
                </c:pt>
              </c:numCache>
            </c:numRef>
          </c:val>
        </c:ser>
        <c:dLbls>
          <c:showLegendKey val="0"/>
          <c:showVal val="1"/>
          <c:showCatName val="0"/>
          <c:showSerName val="0"/>
          <c:showPercent val="0"/>
          <c:showBubbleSize val="0"/>
        </c:dLbls>
        <c:gapWidth val="246"/>
        <c:overlap val="-28"/>
        <c:axId val="53859858"/>
        <c:axId val="520051062"/>
      </c:barChart>
      <c:catAx>
        <c:axId val="5385985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520051062"/>
        <c:crosses val="autoZero"/>
        <c:auto val="1"/>
        <c:lblAlgn val="ctr"/>
        <c:lblOffset val="100"/>
        <c:noMultiLvlLbl val="0"/>
      </c:catAx>
      <c:valAx>
        <c:axId val="520051062"/>
        <c:scaling>
          <c:orientation val="minMax"/>
        </c:scaling>
        <c:delete val="0"/>
        <c:axPos val="l"/>
        <c:majorGridlines>
          <c:spPr>
            <a:ln w="9525" cap="flat" cmpd="sng" algn="ctr">
              <a:solidFill>
                <a:schemeClr val="lt1">
                  <a:lumMod val="90200"/>
                </a:schemeClr>
              </a:solidFill>
              <a:round/>
            </a:ln>
            <a:effectLst/>
          </c:spPr>
        </c:majorGridlines>
        <c:numFmt formatCode="0.0%" sourceLinked="1"/>
        <c:majorTickMark val="out"/>
        <c:minorTickMark val="none"/>
        <c:tickLblPos val="nextTo"/>
        <c:spPr>
          <a:noFill/>
          <a:ln>
            <a:noFill/>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53859858"/>
        <c:crosses val="autoZero"/>
        <c:crossBetween val="between"/>
      </c:valAx>
      <c:spPr>
        <a:noFill/>
        <a:ln>
          <a:noFill/>
        </a:ln>
        <a:effectLst/>
      </c:spPr>
    </c:plotArea>
    <c:plotVisOnly val="1"/>
    <c:dispBlanksAs val="gap"/>
    <c:showDLblsOverMax val="0"/>
    <c:extLst>
      <c:ext uri="{0b15fc19-7d7d-44ad-8c2d-2c3a37ce22c3}">
        <chartProps xmlns="https://web.wps.cn/et/2018/main" chartId="{7ef73d45-6f47-41f0-8357-61f0c041c816}"/>
      </c:ext>
    </c:extLst>
  </c:chart>
  <c:spPr>
    <a:noFill/>
    <a:ln>
      <a:solidFill>
        <a:schemeClr val="accent4">
          <a:lumMod val="60000"/>
          <a:lumOff val="40000"/>
        </a:schemeClr>
      </a:solidFill>
    </a:ln>
    <a:effectLst/>
  </c:spPr>
  <c:txPr>
    <a:bodyPr/>
    <a:lstStyle/>
    <a:p>
      <a:pPr>
        <a:defRPr lang="zh-CN"/>
      </a:p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defTabSz="914400">
              <a:defRPr lang="zh-CN" sz="1400" b="1" i="0" u="none" strike="noStrike" kern="1200" baseline="0">
                <a:solidFill>
                  <a:schemeClr val="tx1">
                    <a:lumMod val="75000"/>
                    <a:lumOff val="25000"/>
                  </a:schemeClr>
                </a:solidFill>
                <a:latin typeface="+mn-lt"/>
                <a:ea typeface="+mn-ea"/>
                <a:cs typeface="+mn-cs"/>
              </a:defRPr>
            </a:pPr>
            <a:r>
              <a:t>偃师</a:t>
            </a:r>
          </a:p>
        </c:rich>
      </c:tx>
      <c:layout/>
      <c:overlay val="0"/>
      <c:spPr>
        <a:noFill/>
        <a:ln>
          <a:noFill/>
        </a:ln>
        <a:effectLst/>
      </c:spPr>
    </c:title>
    <c:autoTitleDeleted val="0"/>
    <c:plotArea>
      <c:layout/>
      <c:barChart>
        <c:barDir val="col"/>
        <c:grouping val="clustered"/>
        <c:varyColors val="0"/>
        <c:ser>
          <c:idx val="0"/>
          <c:order val="0"/>
          <c:spPr>
            <a:solidFill>
              <a:schemeClr val="accent1"/>
            </a:solidFill>
            <a:ln>
              <a:noFill/>
            </a:ln>
            <a:effectLst/>
          </c:spPr>
          <c:invertIfNegative val="0"/>
          <c:dPt>
            <c:idx val="0"/>
            <c:invertIfNegative val="0"/>
            <c:bubble3D val="0"/>
            <c:spPr>
              <a:solidFill>
                <a:schemeClr val="accent6">
                  <a:lumMod val="40000"/>
                  <a:lumOff val="60000"/>
                </a:schemeClr>
              </a:solidFill>
              <a:ln>
                <a:noFill/>
              </a:ln>
              <a:effectLst/>
            </c:spPr>
          </c:dPt>
          <c:dPt>
            <c:idx val="1"/>
            <c:invertIfNegative val="0"/>
            <c:bubble3D val="0"/>
            <c:spPr>
              <a:solidFill>
                <a:schemeClr val="accent4">
                  <a:lumMod val="40000"/>
                  <a:lumOff val="60000"/>
                </a:schemeClr>
              </a:solidFill>
              <a:ln>
                <a:noFill/>
              </a:ln>
              <a:effectLst/>
            </c:spPr>
          </c:dPt>
          <c:dPt>
            <c:idx val="2"/>
            <c:invertIfNegative val="0"/>
            <c:bubble3D val="0"/>
            <c:spPr>
              <a:solidFill>
                <a:schemeClr val="accent2">
                  <a:lumMod val="40000"/>
                  <a:lumOff val="60000"/>
                </a:schemeClr>
              </a:solidFill>
              <a:ln>
                <a:noFill/>
              </a:ln>
              <a:effectLst/>
            </c:spPr>
          </c:dPt>
          <c:dPt>
            <c:idx val="3"/>
            <c:invertIfNegative val="0"/>
            <c:bubble3D val="0"/>
            <c:spPr>
              <a:solidFill>
                <a:schemeClr val="bg2">
                  <a:lumMod val="75000"/>
                </a:schemeClr>
              </a:solidFill>
              <a:ln>
                <a:noFill/>
              </a:ln>
              <a:effectLst/>
            </c:spPr>
          </c:dPt>
          <c:dPt>
            <c:idx val="6"/>
            <c:invertIfNegative val="0"/>
            <c:bubble3D val="0"/>
            <c:spPr>
              <a:gradFill>
                <a:gsLst>
                  <a:gs pos="0">
                    <a:schemeClr val="bg1"/>
                  </a:gs>
                  <a:gs pos="42000">
                    <a:srgbClr val="6ACCF2"/>
                  </a:gs>
                  <a:gs pos="100000">
                    <a:srgbClr val="2497EA"/>
                  </a:gs>
                </a:gsLst>
                <a:lin ang="8100000" scaled="1"/>
              </a:gradFill>
              <a:ln>
                <a:noFill/>
              </a:ln>
              <a:effectLst/>
            </c:spPr>
          </c:dPt>
          <c:dLbls>
            <c:dLbl>
              <c:idx val="0"/>
              <c:layout/>
              <c:dLblPos val="outEnd"/>
              <c:showLegendKey val="0"/>
              <c:showVal val="1"/>
              <c:showCatName val="0"/>
              <c:showSerName val="0"/>
              <c:showPercent val="0"/>
              <c:showBubbleSize val="0"/>
              <c:extLst>
                <c:ext xmlns:c15="http://schemas.microsoft.com/office/drawing/2012/chart" uri="{CE6537A1-D6FC-4f65-9D91-7224C49458BB}"/>
              </c:extLst>
            </c:dLbl>
            <c:dLbl>
              <c:idx val="1"/>
              <c:layout/>
              <c:dLblPos val="outEnd"/>
              <c:showLegendKey val="0"/>
              <c:showVal val="1"/>
              <c:showCatName val="0"/>
              <c:showSerName val="0"/>
              <c:showPercent val="0"/>
              <c:showBubbleSize val="0"/>
              <c:extLst>
                <c:ext xmlns:c15="http://schemas.microsoft.com/office/drawing/2012/chart" uri="{CE6537A1-D6FC-4f65-9D91-7224C49458BB}"/>
              </c:extLst>
            </c:dLbl>
            <c:dLbl>
              <c:idx val="2"/>
              <c:layout/>
              <c:dLblPos val="outEnd"/>
              <c:showLegendKey val="0"/>
              <c:showVal val="1"/>
              <c:showCatName val="0"/>
              <c:showSerName val="0"/>
              <c:showPercent val="0"/>
              <c:showBubbleSize val="0"/>
              <c:extLst>
                <c:ext xmlns:c15="http://schemas.microsoft.com/office/drawing/2012/chart" uri="{CE6537A1-D6FC-4f65-9D91-7224C49458BB}"/>
              </c:extLst>
            </c:dLbl>
            <c:dLbl>
              <c:idx val="3"/>
              <c:layout/>
              <c:dLblPos val="outEnd"/>
              <c:showLegendKey val="0"/>
              <c:showVal val="1"/>
              <c:showCatName val="0"/>
              <c:showSerName val="0"/>
              <c:showPercent val="0"/>
              <c:showBubbleSize val="0"/>
              <c:extLst>
                <c:ext xmlns:c15="http://schemas.microsoft.com/office/drawing/2012/chart" uri="{CE6537A1-D6FC-4f65-9D91-7224C49458BB}"/>
              </c:extLst>
            </c:dLbl>
            <c:dLbl>
              <c:idx val="4"/>
              <c:delete val="1"/>
            </c:dLbl>
            <c:dLbl>
              <c:idx val="5"/>
              <c:delete val="1"/>
            </c:dLbl>
            <c:dLbl>
              <c:idx val="6"/>
              <c:layout/>
              <c:dLblPos val="outEnd"/>
              <c:showLegendKey val="0"/>
              <c:showVal val="1"/>
              <c:showCatName val="0"/>
              <c:showSerName val="0"/>
              <c:showPercent val="0"/>
              <c:showBubbleSize val="0"/>
              <c:extLst>
                <c:ext xmlns:c15="http://schemas.microsoft.com/office/drawing/2012/chart" uri="{CE6537A1-D6FC-4f65-9D91-7224C49458BB}"/>
              </c:extLst>
            </c:dLbl>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lumMod val="75000"/>
                        <a:lumOff val="25000"/>
                      </a:schemeClr>
                    </a:solidFill>
                    <a:latin typeface="+mn-lt"/>
                    <a:ea typeface="+mn-ea"/>
                    <a:cs typeface="+mn-cs"/>
                  </a:defRPr>
                </a:pPr>
              </a:p>
            </c:txPr>
            <c:dLblPos val="outEnd"/>
            <c:showLegendKey val="0"/>
            <c:showVal val="0"/>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[三分部12月市场小结.xlsx]Sheet1!$D$34:$J$34</c:f>
              <c:strCache>
                <c:ptCount val="7"/>
                <c:pt idx="0">
                  <c:v>整体铺市率</c:v>
                </c:pt>
                <c:pt idx="1">
                  <c:v>口味王</c:v>
                </c:pt>
                <c:pt idx="2">
                  <c:v>和成天下</c:v>
                </c:pt>
                <c:pt idx="3">
                  <c:v>主竞品</c:v>
                </c:pt>
                <c:pt idx="6">
                  <c:v>高端铺市率</c:v>
                </c:pt>
              </c:strCache>
            </c:strRef>
          </c:cat>
          <c:val>
            <c:numRef>
              <c:f>[三分部12月市场小结.xlsx]Sheet1!$D$35:$J$35</c:f>
              <c:numCache>
                <c:formatCode>0%</c:formatCode>
                <c:ptCount val="7"/>
                <c:pt idx="0">
                  <c:v>0.9</c:v>
                </c:pt>
                <c:pt idx="1" c:formatCode="0.0%">
                  <c:v>0.775</c:v>
                </c:pt>
                <c:pt idx="2">
                  <c:v>0.9</c:v>
                </c:pt>
                <c:pt idx="3" c:formatCode="0.0%">
                  <c:v>0.625</c:v>
                </c:pt>
                <c:pt idx="6">
                  <c:v>0.6</c:v>
                </c:pt>
              </c:numCache>
            </c:numRef>
          </c:val>
        </c:ser>
        <c:dLbls>
          <c:showLegendKey val="0"/>
          <c:showVal val="0"/>
          <c:showCatName val="0"/>
          <c:showSerName val="0"/>
          <c:showPercent val="0"/>
          <c:showBubbleSize val="0"/>
        </c:dLbls>
        <c:gapWidth val="246"/>
        <c:overlap val="-28"/>
        <c:axId val="537904388"/>
        <c:axId val="940148310"/>
      </c:barChart>
      <c:catAx>
        <c:axId val="537904388"/>
        <c:scaling>
          <c:orientation val="minMax"/>
        </c:scaling>
        <c:delete val="0"/>
        <c:axPos val="b"/>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940148310"/>
        <c:crosses val="autoZero"/>
        <c:auto val="1"/>
        <c:lblAlgn val="ctr"/>
        <c:lblOffset val="100"/>
        <c:noMultiLvlLbl val="0"/>
      </c:catAx>
      <c:valAx>
        <c:axId val="940148310"/>
        <c:scaling>
          <c:orientation val="minMax"/>
        </c:scaling>
        <c:delete val="0"/>
        <c:axPos val="l"/>
        <c:majorGridlines>
          <c:spPr>
            <a:ln w="9525" cap="flat" cmpd="sng" algn="ctr">
              <a:solidFill>
                <a:schemeClr val="lt1">
                  <a:lumMod val="90200"/>
                </a:schemeClr>
              </a:solidFill>
              <a:round/>
            </a:ln>
            <a:effectLst/>
          </c:spPr>
        </c:majorGridlines>
        <c:numFmt formatCode="0%" sourceLinked="1"/>
        <c:majorTickMark val="none"/>
        <c:minorTickMark val="none"/>
        <c:tickLblPos val="nextTo"/>
        <c:spPr>
          <a:noFill/>
          <a:ln>
            <a:noFill/>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537904388"/>
        <c:crosses val="autoZero"/>
        <c:crossBetween val="between"/>
      </c:valAx>
      <c:spPr>
        <a:noFill/>
        <a:ln>
          <a:noFill/>
        </a:ln>
        <a:effectLst/>
      </c:spPr>
    </c:plotArea>
    <c:plotVisOnly val="1"/>
    <c:dispBlanksAs val="gap"/>
    <c:showDLblsOverMax val="0"/>
    <c:extLst>
      <c:ext uri="{0b15fc19-7d7d-44ad-8c2d-2c3a37ce22c3}">
        <chartProps xmlns="https://web.wps.cn/et/2018/main" chartId="{e664afaf-4803-42b9-89fc-544c6ff3d3e8}"/>
      </c:ext>
    </c:extLst>
  </c:chart>
  <c:spPr>
    <a:solidFill>
      <a:schemeClr val="bg1"/>
    </a:solidFill>
    <a:ln w="9525" cap="flat" cmpd="sng" algn="ctr">
      <a:solidFill>
        <a:schemeClr val="accent4">
          <a:lumMod val="60000"/>
          <a:lumOff val="40000"/>
        </a:schemeClr>
      </a:solidFill>
      <a:round/>
    </a:ln>
    <a:effectLst/>
  </c:spPr>
  <c:txPr>
    <a:bodyPr/>
    <a:lstStyle/>
    <a:p>
      <a:pPr>
        <a:defRPr lang="zh-CN"/>
      </a:p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defTabSz="914400">
              <a:defRPr lang="zh-CN" sz="1400" b="1" i="0" u="none" strike="noStrike" kern="1200" baseline="0">
                <a:solidFill>
                  <a:schemeClr val="tx1">
                    <a:lumMod val="75000"/>
                    <a:lumOff val="25000"/>
                  </a:schemeClr>
                </a:solidFill>
                <a:latin typeface="+mn-lt"/>
                <a:ea typeface="+mn-ea"/>
                <a:cs typeface="+mn-cs"/>
              </a:defRPr>
            </a:pPr>
            <a:r>
              <a:t>中原</a:t>
            </a:r>
          </a:p>
        </c:rich>
      </c:tx>
      <c:layout/>
      <c:overlay val="0"/>
      <c:spPr>
        <a:noFill/>
        <a:ln>
          <a:noFill/>
        </a:ln>
        <a:effectLst/>
      </c:spPr>
    </c:title>
    <c:autoTitleDeleted val="0"/>
    <c:plotArea>
      <c:layout/>
      <c:barChart>
        <c:barDir val="col"/>
        <c:grouping val="clustered"/>
        <c:varyColors val="0"/>
        <c:ser>
          <c:idx val="0"/>
          <c:order val="0"/>
          <c:spPr>
            <a:solidFill>
              <a:schemeClr val="accent1"/>
            </a:solidFill>
            <a:ln>
              <a:noFill/>
            </a:ln>
            <a:effectLst/>
          </c:spPr>
          <c:invertIfNegative val="0"/>
          <c:dPt>
            <c:idx val="0"/>
            <c:invertIfNegative val="0"/>
            <c:bubble3D val="0"/>
            <c:spPr>
              <a:solidFill>
                <a:schemeClr val="accent6">
                  <a:lumMod val="40000"/>
                  <a:lumOff val="60000"/>
                </a:schemeClr>
              </a:solidFill>
              <a:ln>
                <a:noFill/>
              </a:ln>
              <a:effectLst/>
            </c:spPr>
          </c:dPt>
          <c:dPt>
            <c:idx val="1"/>
            <c:invertIfNegative val="0"/>
            <c:bubble3D val="0"/>
            <c:spPr>
              <a:solidFill>
                <a:schemeClr val="accent4">
                  <a:lumMod val="40000"/>
                  <a:lumOff val="60000"/>
                </a:schemeClr>
              </a:solidFill>
              <a:ln>
                <a:noFill/>
              </a:ln>
              <a:effectLst/>
            </c:spPr>
          </c:dPt>
          <c:dPt>
            <c:idx val="2"/>
            <c:invertIfNegative val="0"/>
            <c:bubble3D val="0"/>
            <c:spPr>
              <a:solidFill>
                <a:schemeClr val="accent2">
                  <a:lumMod val="40000"/>
                  <a:lumOff val="60000"/>
                </a:schemeClr>
              </a:solidFill>
              <a:ln>
                <a:noFill/>
              </a:ln>
              <a:effectLst/>
            </c:spPr>
          </c:dPt>
          <c:dPt>
            <c:idx val="3"/>
            <c:invertIfNegative val="0"/>
            <c:bubble3D val="0"/>
            <c:spPr>
              <a:solidFill>
                <a:schemeClr val="bg2">
                  <a:lumMod val="75000"/>
                </a:schemeClr>
              </a:solidFill>
              <a:ln>
                <a:noFill/>
              </a:ln>
              <a:effectLst/>
            </c:spPr>
          </c:dPt>
          <c:dPt>
            <c:idx val="6"/>
            <c:invertIfNegative val="0"/>
            <c:bubble3D val="0"/>
            <c:spPr>
              <a:gradFill>
                <a:gsLst>
                  <a:gs pos="0">
                    <a:schemeClr val="bg1"/>
                  </a:gs>
                  <a:gs pos="42000">
                    <a:srgbClr val="6ACCF2"/>
                  </a:gs>
                  <a:gs pos="100000">
                    <a:srgbClr val="2497EA"/>
                  </a:gs>
                </a:gsLst>
                <a:lin ang="8100000" scaled="1"/>
              </a:gradFill>
              <a:ln>
                <a:noFill/>
              </a:ln>
              <a:effectLst/>
            </c:spPr>
          </c:dPt>
          <c:dLbls>
            <c:dLbl>
              <c:idx val="0"/>
              <c:layout/>
              <c:dLblPos val="outEnd"/>
              <c:showLegendKey val="0"/>
              <c:showVal val="1"/>
              <c:showCatName val="0"/>
              <c:showSerName val="0"/>
              <c:showPercent val="0"/>
              <c:showBubbleSize val="0"/>
              <c:extLst>
                <c:ext xmlns:c15="http://schemas.microsoft.com/office/drawing/2012/chart" uri="{CE6537A1-D6FC-4f65-9D91-7224C49458BB}"/>
              </c:extLst>
            </c:dLbl>
            <c:dLbl>
              <c:idx val="1"/>
              <c:layout/>
              <c:dLblPos val="outEnd"/>
              <c:showLegendKey val="0"/>
              <c:showVal val="1"/>
              <c:showCatName val="0"/>
              <c:showSerName val="0"/>
              <c:showPercent val="0"/>
              <c:showBubbleSize val="0"/>
              <c:extLst>
                <c:ext xmlns:c15="http://schemas.microsoft.com/office/drawing/2012/chart" uri="{CE6537A1-D6FC-4f65-9D91-7224C49458BB}"/>
              </c:extLst>
            </c:dLbl>
            <c:dLbl>
              <c:idx val="2"/>
              <c:layout/>
              <c:dLblPos val="outEnd"/>
              <c:showLegendKey val="0"/>
              <c:showVal val="1"/>
              <c:showCatName val="0"/>
              <c:showSerName val="0"/>
              <c:showPercent val="0"/>
              <c:showBubbleSize val="0"/>
              <c:extLst>
                <c:ext xmlns:c15="http://schemas.microsoft.com/office/drawing/2012/chart" uri="{CE6537A1-D6FC-4f65-9D91-7224C49458BB}"/>
              </c:extLst>
            </c:dLbl>
            <c:dLbl>
              <c:idx val="3"/>
              <c:layout/>
              <c:dLblPos val="outEnd"/>
              <c:showLegendKey val="0"/>
              <c:showVal val="1"/>
              <c:showCatName val="0"/>
              <c:showSerName val="0"/>
              <c:showPercent val="0"/>
              <c:showBubbleSize val="0"/>
              <c:extLst>
                <c:ext xmlns:c15="http://schemas.microsoft.com/office/drawing/2012/chart" uri="{CE6537A1-D6FC-4f65-9D91-7224C49458BB}"/>
              </c:extLst>
            </c:dLbl>
            <c:dLbl>
              <c:idx val="4"/>
              <c:delete val="1"/>
            </c:dLbl>
            <c:dLbl>
              <c:idx val="5"/>
              <c:delete val="1"/>
            </c:dLbl>
            <c:dLbl>
              <c:idx val="6"/>
              <c:layout/>
              <c:dLblPos val="outEnd"/>
              <c:showLegendKey val="0"/>
              <c:showVal val="1"/>
              <c:showCatName val="0"/>
              <c:showSerName val="0"/>
              <c:showPercent val="0"/>
              <c:showBubbleSize val="0"/>
              <c:extLst>
                <c:ext xmlns:c15="http://schemas.microsoft.com/office/drawing/2012/chart" uri="{CE6537A1-D6FC-4f65-9D91-7224C49458BB}"/>
              </c:extLst>
            </c:dLbl>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lumMod val="75000"/>
                        <a:lumOff val="25000"/>
                      </a:schemeClr>
                    </a:solidFill>
                    <a:latin typeface="+mn-lt"/>
                    <a:ea typeface="+mn-ea"/>
                    <a:cs typeface="+mn-cs"/>
                  </a:defRPr>
                </a:pPr>
              </a:p>
            </c:txPr>
            <c:dLblPos val="outEnd"/>
            <c:showLegendKey val="0"/>
            <c:showVal val="0"/>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[三分部12月市场小结.xlsx]Sheet1!$D$54:$J$54</c:f>
              <c:strCache>
                <c:ptCount val="7"/>
                <c:pt idx="0">
                  <c:v>整体铺市率</c:v>
                </c:pt>
                <c:pt idx="1">
                  <c:v>口味王</c:v>
                </c:pt>
                <c:pt idx="2">
                  <c:v>和成天下</c:v>
                </c:pt>
                <c:pt idx="3">
                  <c:v>主竞品</c:v>
                </c:pt>
                <c:pt idx="6">
                  <c:v>高端铺市率</c:v>
                </c:pt>
              </c:strCache>
            </c:strRef>
          </c:cat>
          <c:val>
            <c:numRef>
              <c:f>[三分部12月市场小结.xlsx]Sheet1!$D$55:$J$55</c:f>
              <c:numCache>
                <c:formatCode>0%</c:formatCode>
                <c:ptCount val="7"/>
                <c:pt idx="0">
                  <c:v>1</c:v>
                </c:pt>
                <c:pt idx="1">
                  <c:v>0.95</c:v>
                </c:pt>
                <c:pt idx="2" c:formatCode="0.0%">
                  <c:v>0.975</c:v>
                </c:pt>
                <c:pt idx="3" c:formatCode="0.0%">
                  <c:v>0.575</c:v>
                </c:pt>
                <c:pt idx="6" c:formatCode="0.0%">
                  <c:v>0.725</c:v>
                </c:pt>
              </c:numCache>
            </c:numRef>
          </c:val>
        </c:ser>
        <c:dLbls>
          <c:showLegendKey val="0"/>
          <c:showVal val="0"/>
          <c:showCatName val="0"/>
          <c:showSerName val="0"/>
          <c:showPercent val="0"/>
          <c:showBubbleSize val="0"/>
        </c:dLbls>
        <c:gapWidth val="246"/>
        <c:overlap val="-28"/>
        <c:axId val="226559689"/>
        <c:axId val="978454657"/>
      </c:barChart>
      <c:catAx>
        <c:axId val="226559689"/>
        <c:scaling>
          <c:orientation val="minMax"/>
        </c:scaling>
        <c:delete val="0"/>
        <c:axPos val="b"/>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978454657"/>
        <c:crosses val="autoZero"/>
        <c:auto val="1"/>
        <c:lblAlgn val="ctr"/>
        <c:lblOffset val="100"/>
        <c:noMultiLvlLbl val="0"/>
      </c:catAx>
      <c:valAx>
        <c:axId val="978454657"/>
        <c:scaling>
          <c:orientation val="minMax"/>
        </c:scaling>
        <c:delete val="0"/>
        <c:axPos val="l"/>
        <c:majorGridlines>
          <c:spPr>
            <a:ln w="9525" cap="flat" cmpd="sng" algn="ctr">
              <a:solidFill>
                <a:schemeClr val="lt1">
                  <a:lumMod val="90200"/>
                </a:schemeClr>
              </a:solidFill>
              <a:round/>
            </a:ln>
            <a:effectLst/>
          </c:spPr>
        </c:majorGridlines>
        <c:numFmt formatCode="0%" sourceLinked="1"/>
        <c:majorTickMark val="none"/>
        <c:minorTickMark val="none"/>
        <c:tickLblPos val="nextTo"/>
        <c:spPr>
          <a:noFill/>
          <a:ln>
            <a:noFill/>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226559689"/>
        <c:crosses val="autoZero"/>
        <c:crossBetween val="between"/>
      </c:valAx>
      <c:spPr>
        <a:noFill/>
        <a:ln>
          <a:noFill/>
        </a:ln>
        <a:effectLst/>
      </c:spPr>
    </c:plotArea>
    <c:plotVisOnly val="1"/>
    <c:dispBlanksAs val="gap"/>
    <c:showDLblsOverMax val="0"/>
    <c:extLst>
      <c:ext uri="{0b15fc19-7d7d-44ad-8c2d-2c3a37ce22c3}">
        <chartProps xmlns="https://web.wps.cn/et/2018/main" chartId="{4424a1dd-0754-4104-924d-6aabc6e714be}"/>
      </c:ext>
    </c:extLst>
  </c:chart>
  <c:spPr>
    <a:solidFill>
      <a:schemeClr val="bg1"/>
    </a:solidFill>
    <a:ln w="9525" cap="flat" cmpd="sng" algn="ctr">
      <a:solidFill>
        <a:schemeClr val="accent4">
          <a:lumMod val="60000"/>
          <a:lumOff val="40000"/>
        </a:schemeClr>
      </a:solidFill>
      <a:round/>
    </a:ln>
    <a:effectLst/>
  </c:spPr>
  <c:txPr>
    <a:bodyPr/>
    <a:lstStyle/>
    <a:p>
      <a:pPr>
        <a:defRPr lang="zh-CN"/>
      </a:pP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defTabSz="914400">
              <a:defRPr lang="zh-CN" sz="1400" b="1" i="0" u="none" strike="noStrike" kern="1200" baseline="0">
                <a:solidFill>
                  <a:schemeClr val="tx1">
                    <a:lumMod val="75000"/>
                    <a:lumOff val="25000"/>
                  </a:schemeClr>
                </a:solidFill>
                <a:latin typeface="+mn-lt"/>
                <a:ea typeface="+mn-ea"/>
                <a:cs typeface="+mn-cs"/>
              </a:defRPr>
            </a:pPr>
            <a:r>
              <a:t>兰考</a:t>
            </a:r>
          </a:p>
        </c:rich>
      </c:tx>
      <c:layout/>
      <c:overlay val="0"/>
      <c:spPr>
        <a:noFill/>
        <a:ln>
          <a:noFill/>
        </a:ln>
        <a:effectLst/>
      </c:spPr>
    </c:title>
    <c:autoTitleDeleted val="0"/>
    <c:plotArea>
      <c:layout/>
      <c:barChart>
        <c:barDir val="col"/>
        <c:grouping val="clustered"/>
        <c:varyColors val="0"/>
        <c:ser>
          <c:idx val="0"/>
          <c:order val="0"/>
          <c:spPr>
            <a:solidFill>
              <a:schemeClr val="accent1"/>
            </a:solidFill>
            <a:ln>
              <a:noFill/>
            </a:ln>
            <a:effectLst/>
          </c:spPr>
          <c:invertIfNegative val="0"/>
          <c:dPt>
            <c:idx val="0"/>
            <c:invertIfNegative val="0"/>
            <c:bubble3D val="0"/>
            <c:spPr>
              <a:solidFill>
                <a:schemeClr val="accent6">
                  <a:lumMod val="40000"/>
                  <a:lumOff val="60000"/>
                </a:schemeClr>
              </a:solidFill>
              <a:ln>
                <a:noFill/>
              </a:ln>
              <a:effectLst/>
            </c:spPr>
          </c:dPt>
          <c:dPt>
            <c:idx val="1"/>
            <c:invertIfNegative val="0"/>
            <c:bubble3D val="0"/>
            <c:spPr>
              <a:solidFill>
                <a:schemeClr val="accent4">
                  <a:lumMod val="40000"/>
                  <a:lumOff val="60000"/>
                </a:schemeClr>
              </a:solidFill>
              <a:ln>
                <a:noFill/>
              </a:ln>
              <a:effectLst/>
            </c:spPr>
          </c:dPt>
          <c:dPt>
            <c:idx val="2"/>
            <c:invertIfNegative val="0"/>
            <c:bubble3D val="0"/>
            <c:spPr>
              <a:solidFill>
                <a:schemeClr val="accent2">
                  <a:lumMod val="40000"/>
                  <a:lumOff val="60000"/>
                </a:schemeClr>
              </a:solidFill>
              <a:ln>
                <a:noFill/>
              </a:ln>
              <a:effectLst/>
            </c:spPr>
          </c:dPt>
          <c:dPt>
            <c:idx val="3"/>
            <c:invertIfNegative val="0"/>
            <c:bubble3D val="0"/>
            <c:spPr>
              <a:solidFill>
                <a:schemeClr val="bg2">
                  <a:lumMod val="75000"/>
                </a:schemeClr>
              </a:solidFill>
              <a:ln>
                <a:noFill/>
              </a:ln>
              <a:effectLst/>
            </c:spPr>
          </c:dPt>
          <c:dPt>
            <c:idx val="6"/>
            <c:invertIfNegative val="0"/>
            <c:bubble3D val="0"/>
            <c:spPr>
              <a:gradFill>
                <a:gsLst>
                  <a:gs pos="0">
                    <a:schemeClr val="bg1"/>
                  </a:gs>
                  <a:gs pos="42000">
                    <a:srgbClr val="6ACCF2"/>
                  </a:gs>
                  <a:gs pos="100000">
                    <a:srgbClr val="2497EA"/>
                  </a:gs>
                </a:gsLst>
                <a:lin ang="8100000" scaled="1"/>
              </a:gradFill>
              <a:ln>
                <a:noFill/>
              </a:ln>
              <a:effectLst/>
            </c:spPr>
          </c:dPt>
          <c:dLbls>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lumMod val="75000"/>
                        <a:lumOff val="25000"/>
                      </a:schemeClr>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[三分部12月市场小结.xlsx]Sheet1!$D$75:$J$75</c:f>
              <c:strCache>
                <c:ptCount val="7"/>
                <c:pt idx="0">
                  <c:v>整体铺市率</c:v>
                </c:pt>
                <c:pt idx="1">
                  <c:v>口味王</c:v>
                </c:pt>
                <c:pt idx="2">
                  <c:v>和成天下</c:v>
                </c:pt>
                <c:pt idx="3">
                  <c:v>主竞品</c:v>
                </c:pt>
                <c:pt idx="6">
                  <c:v>高端铺市率</c:v>
                </c:pt>
              </c:strCache>
            </c:strRef>
          </c:cat>
          <c:val>
            <c:numRef>
              <c:f>[三分部12月市场小结.xlsx]Sheet1!$D$76:$J$76</c:f>
              <c:numCache>
                <c:formatCode>0%</c:formatCode>
                <c:ptCount val="7"/>
                <c:pt idx="0">
                  <c:v>1</c:v>
                </c:pt>
                <c:pt idx="1">
                  <c:v>1</c:v>
                </c:pt>
                <c:pt idx="2">
                  <c:v>1</c:v>
                </c:pt>
                <c:pt idx="3" c:formatCode="0.0%">
                  <c:v>0.325</c:v>
                </c:pt>
                <c:pt idx="6" c:formatCode="0.0%">
                  <c:v>0.925</c:v>
                </c:pt>
              </c:numCache>
            </c:numRef>
          </c:val>
        </c:ser>
        <c:dLbls>
          <c:showLegendKey val="0"/>
          <c:showVal val="0"/>
          <c:showCatName val="0"/>
          <c:showSerName val="0"/>
          <c:showPercent val="0"/>
          <c:showBubbleSize val="0"/>
        </c:dLbls>
        <c:gapWidth val="246"/>
        <c:overlap val="-28"/>
        <c:axId val="703675344"/>
        <c:axId val="366924783"/>
      </c:barChart>
      <c:catAx>
        <c:axId val="703675344"/>
        <c:scaling>
          <c:orientation val="minMax"/>
        </c:scaling>
        <c:delete val="0"/>
        <c:axPos val="b"/>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366924783"/>
        <c:crosses val="autoZero"/>
        <c:auto val="1"/>
        <c:lblAlgn val="ctr"/>
        <c:lblOffset val="100"/>
        <c:noMultiLvlLbl val="0"/>
      </c:catAx>
      <c:valAx>
        <c:axId val="366924783"/>
        <c:scaling>
          <c:orientation val="minMax"/>
        </c:scaling>
        <c:delete val="0"/>
        <c:axPos val="l"/>
        <c:majorGridlines>
          <c:spPr>
            <a:ln w="9525" cap="flat" cmpd="sng" algn="ctr">
              <a:solidFill>
                <a:schemeClr val="lt1">
                  <a:lumMod val="90200"/>
                </a:schemeClr>
              </a:solidFill>
              <a:round/>
            </a:ln>
            <a:effectLst/>
          </c:spPr>
        </c:majorGridlines>
        <c:numFmt formatCode="0%" sourceLinked="1"/>
        <c:majorTickMark val="none"/>
        <c:minorTickMark val="none"/>
        <c:tickLblPos val="nextTo"/>
        <c:spPr>
          <a:noFill/>
          <a:ln>
            <a:noFill/>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703675344"/>
        <c:crosses val="autoZero"/>
        <c:crossBetween val="between"/>
      </c:valAx>
      <c:spPr>
        <a:noFill/>
        <a:ln>
          <a:noFill/>
        </a:ln>
        <a:effectLst/>
      </c:spPr>
    </c:plotArea>
    <c:plotVisOnly val="1"/>
    <c:dispBlanksAs val="gap"/>
    <c:showDLblsOverMax val="0"/>
    <c:extLst>
      <c:ext uri="{0b15fc19-7d7d-44ad-8c2d-2c3a37ce22c3}">
        <chartProps xmlns="https://web.wps.cn/et/2018/main" chartId="{b3d4224e-03de-4119-8eea-00fe8bed62fc}"/>
      </c:ext>
    </c:extLst>
  </c:chart>
  <c:spPr>
    <a:solidFill>
      <a:schemeClr val="bg1"/>
    </a:solidFill>
    <a:ln w="9525" cap="flat" cmpd="sng" algn="ctr">
      <a:solidFill>
        <a:schemeClr val="accent4">
          <a:lumMod val="60000"/>
          <a:lumOff val="40000"/>
        </a:schemeClr>
      </a:solidFill>
      <a:round/>
    </a:ln>
    <a:effectLst/>
  </c:spPr>
  <c:txPr>
    <a:bodyPr/>
    <a:lstStyle/>
    <a:p>
      <a:pPr>
        <a:defRPr lang="zh-CN"/>
      </a:pPr>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defTabSz="914400">
              <a:defRPr lang="zh-CN" sz="1400" b="1" i="0" u="none" strike="noStrike" kern="1200" baseline="0">
                <a:solidFill>
                  <a:schemeClr val="tx1">
                    <a:lumMod val="75000"/>
                    <a:lumOff val="25000"/>
                  </a:schemeClr>
                </a:solidFill>
                <a:latin typeface="+mn-lt"/>
                <a:ea typeface="+mn-ea"/>
                <a:cs typeface="+mn-cs"/>
              </a:defRPr>
            </a:pPr>
            <a:r>
              <a:t>通许</a:t>
            </a:r>
          </a:p>
        </c:rich>
      </c:tx>
      <c:layout/>
      <c:overlay val="0"/>
      <c:spPr>
        <a:noFill/>
        <a:ln>
          <a:noFill/>
        </a:ln>
        <a:effectLst/>
      </c:spPr>
    </c:title>
    <c:autoTitleDeleted val="0"/>
    <c:plotArea>
      <c:layout/>
      <c:barChart>
        <c:barDir val="col"/>
        <c:grouping val="clustered"/>
        <c:varyColors val="0"/>
        <c:ser>
          <c:idx val="0"/>
          <c:order val="0"/>
          <c:spPr>
            <a:solidFill>
              <a:schemeClr val="accent1"/>
            </a:solidFill>
            <a:ln>
              <a:noFill/>
            </a:ln>
            <a:effectLst/>
          </c:spPr>
          <c:invertIfNegative val="0"/>
          <c:dPt>
            <c:idx val="0"/>
            <c:invertIfNegative val="0"/>
            <c:bubble3D val="0"/>
            <c:spPr>
              <a:solidFill>
                <a:schemeClr val="accent6">
                  <a:lumMod val="40000"/>
                  <a:lumOff val="60000"/>
                </a:schemeClr>
              </a:solidFill>
              <a:ln>
                <a:noFill/>
              </a:ln>
              <a:effectLst/>
            </c:spPr>
          </c:dPt>
          <c:dPt>
            <c:idx val="1"/>
            <c:invertIfNegative val="0"/>
            <c:bubble3D val="0"/>
            <c:spPr>
              <a:solidFill>
                <a:schemeClr val="accent4">
                  <a:lumMod val="40000"/>
                  <a:lumOff val="60000"/>
                </a:schemeClr>
              </a:solidFill>
              <a:ln>
                <a:noFill/>
              </a:ln>
              <a:effectLst/>
            </c:spPr>
          </c:dPt>
          <c:dPt>
            <c:idx val="2"/>
            <c:invertIfNegative val="0"/>
            <c:bubble3D val="0"/>
            <c:spPr>
              <a:solidFill>
                <a:schemeClr val="accent2">
                  <a:lumMod val="40000"/>
                  <a:lumOff val="60000"/>
                </a:schemeClr>
              </a:solidFill>
              <a:ln>
                <a:noFill/>
              </a:ln>
              <a:effectLst/>
            </c:spPr>
          </c:dPt>
          <c:dPt>
            <c:idx val="3"/>
            <c:invertIfNegative val="0"/>
            <c:bubble3D val="0"/>
            <c:spPr>
              <a:solidFill>
                <a:schemeClr val="bg2">
                  <a:lumMod val="75000"/>
                </a:schemeClr>
              </a:solidFill>
              <a:ln>
                <a:noFill/>
              </a:ln>
              <a:effectLst/>
            </c:spPr>
          </c:dPt>
          <c:dPt>
            <c:idx val="6"/>
            <c:invertIfNegative val="0"/>
            <c:bubble3D val="0"/>
            <c:spPr>
              <a:gradFill>
                <a:gsLst>
                  <a:gs pos="0">
                    <a:schemeClr val="bg1"/>
                  </a:gs>
                  <a:gs pos="42000">
                    <a:srgbClr val="6ACCF2"/>
                  </a:gs>
                  <a:gs pos="100000">
                    <a:srgbClr val="2497EA"/>
                  </a:gs>
                </a:gsLst>
                <a:lin ang="8100000" scaled="1"/>
              </a:gradFill>
              <a:ln>
                <a:noFill/>
              </a:ln>
              <a:effectLst/>
            </c:spPr>
          </c:dPt>
          <c:dLbls>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lumMod val="75000"/>
                        <a:lumOff val="25000"/>
                      </a:schemeClr>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[三分部12月市场小结.xlsx]Sheet1!$D$99:$J$99</c:f>
              <c:strCache>
                <c:ptCount val="7"/>
                <c:pt idx="0">
                  <c:v>整体铺市率</c:v>
                </c:pt>
                <c:pt idx="1">
                  <c:v>口味王</c:v>
                </c:pt>
                <c:pt idx="2">
                  <c:v>和成天下</c:v>
                </c:pt>
                <c:pt idx="3">
                  <c:v>主竞品</c:v>
                </c:pt>
                <c:pt idx="6">
                  <c:v>高端铺市率</c:v>
                </c:pt>
              </c:strCache>
            </c:strRef>
          </c:cat>
          <c:val>
            <c:numRef>
              <c:f>[三分部12月市场小结.xlsx]Sheet1!$D$100:$J$100</c:f>
              <c:numCache>
                <c:formatCode>0.0%</c:formatCode>
                <c:ptCount val="7"/>
                <c:pt idx="0">
                  <c:v>0.975</c:v>
                </c:pt>
                <c:pt idx="1">
                  <c:v>0.975</c:v>
                </c:pt>
                <c:pt idx="2" c:formatCode="0%">
                  <c:v>0.95</c:v>
                </c:pt>
                <c:pt idx="3">
                  <c:v>0.375</c:v>
                </c:pt>
                <c:pt idx="6">
                  <c:v>0.625</c:v>
                </c:pt>
              </c:numCache>
            </c:numRef>
          </c:val>
        </c:ser>
        <c:dLbls>
          <c:showLegendKey val="0"/>
          <c:showVal val="0"/>
          <c:showCatName val="0"/>
          <c:showSerName val="0"/>
          <c:showPercent val="0"/>
          <c:showBubbleSize val="0"/>
        </c:dLbls>
        <c:gapWidth val="246"/>
        <c:overlap val="-28"/>
        <c:axId val="805087245"/>
        <c:axId val="368194131"/>
      </c:barChart>
      <c:catAx>
        <c:axId val="805087245"/>
        <c:scaling>
          <c:orientation val="minMax"/>
        </c:scaling>
        <c:delete val="0"/>
        <c:axPos val="b"/>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368194131"/>
        <c:crosses val="autoZero"/>
        <c:auto val="1"/>
        <c:lblAlgn val="ctr"/>
        <c:lblOffset val="100"/>
        <c:noMultiLvlLbl val="0"/>
      </c:catAx>
      <c:valAx>
        <c:axId val="368194131"/>
        <c:scaling>
          <c:orientation val="minMax"/>
        </c:scaling>
        <c:delete val="0"/>
        <c:axPos val="l"/>
        <c:majorGridlines>
          <c:spPr>
            <a:ln w="9525" cap="flat" cmpd="sng" algn="ctr">
              <a:solidFill>
                <a:schemeClr val="lt1">
                  <a:lumMod val="90200"/>
                </a:schemeClr>
              </a:solidFill>
              <a:round/>
            </a:ln>
            <a:effectLst/>
          </c:spPr>
        </c:majorGridlines>
        <c:numFmt formatCode="0.0%" sourceLinked="1"/>
        <c:majorTickMark val="none"/>
        <c:minorTickMark val="none"/>
        <c:tickLblPos val="nextTo"/>
        <c:spPr>
          <a:noFill/>
          <a:ln>
            <a:noFill/>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805087245"/>
        <c:crosses val="autoZero"/>
        <c:crossBetween val="between"/>
      </c:valAx>
      <c:spPr>
        <a:noFill/>
        <a:ln>
          <a:noFill/>
        </a:ln>
        <a:effectLst/>
      </c:spPr>
    </c:plotArea>
    <c:plotVisOnly val="1"/>
    <c:dispBlanksAs val="gap"/>
    <c:showDLblsOverMax val="0"/>
    <c:extLst>
      <c:ext uri="{0b15fc19-7d7d-44ad-8c2d-2c3a37ce22c3}">
        <chartProps xmlns="https://web.wps.cn/et/2018/main" chartId="{450b838c-1aac-4fbc-ab77-5ef6635d7d5b}"/>
      </c:ext>
    </c:extLst>
  </c:chart>
  <c:spPr>
    <a:solidFill>
      <a:schemeClr val="bg1"/>
    </a:solidFill>
    <a:ln w="9525" cap="flat" cmpd="sng" algn="ctr">
      <a:solidFill>
        <a:schemeClr val="accent4">
          <a:lumMod val="60000"/>
          <a:lumOff val="40000"/>
        </a:schemeClr>
      </a:solidFill>
      <a:round/>
    </a:ln>
    <a:effectLst/>
  </c:spPr>
  <c:txPr>
    <a:bodyPr/>
    <a:lstStyle/>
    <a:p>
      <a:pPr>
        <a:defRPr lang="zh-CN"/>
      </a:pPr>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defTabSz="914400">
              <a:defRPr lang="zh-CN" sz="1400" b="1" i="0" u="none" strike="noStrike" kern="1200" baseline="0">
                <a:solidFill>
                  <a:schemeClr val="tx1">
                    <a:lumMod val="75000"/>
                    <a:lumOff val="25000"/>
                  </a:schemeClr>
                </a:solidFill>
                <a:latin typeface="+mn-lt"/>
                <a:ea typeface="+mn-ea"/>
                <a:cs typeface="+mn-cs"/>
              </a:defRPr>
            </a:pPr>
            <a:r>
              <a:t>淮阳</a:t>
            </a:r>
          </a:p>
        </c:rich>
      </c:tx>
      <c:layout/>
      <c:overlay val="0"/>
      <c:spPr>
        <a:noFill/>
        <a:ln>
          <a:noFill/>
        </a:ln>
        <a:effectLst/>
      </c:spPr>
    </c:title>
    <c:autoTitleDeleted val="0"/>
    <c:plotArea>
      <c:layout/>
      <c:barChart>
        <c:barDir val="col"/>
        <c:grouping val="clustered"/>
        <c:varyColors val="0"/>
        <c:ser>
          <c:idx val="0"/>
          <c:order val="0"/>
          <c:spPr>
            <a:solidFill>
              <a:schemeClr val="accent1"/>
            </a:solidFill>
            <a:ln>
              <a:noFill/>
            </a:ln>
            <a:effectLst/>
          </c:spPr>
          <c:invertIfNegative val="0"/>
          <c:dPt>
            <c:idx val="0"/>
            <c:invertIfNegative val="0"/>
            <c:bubble3D val="0"/>
            <c:spPr>
              <a:solidFill>
                <a:schemeClr val="accent6">
                  <a:lumMod val="40000"/>
                  <a:lumOff val="60000"/>
                </a:schemeClr>
              </a:solidFill>
              <a:ln>
                <a:noFill/>
              </a:ln>
              <a:effectLst/>
            </c:spPr>
          </c:dPt>
          <c:dPt>
            <c:idx val="1"/>
            <c:invertIfNegative val="0"/>
            <c:bubble3D val="0"/>
            <c:spPr>
              <a:solidFill>
                <a:schemeClr val="accent4">
                  <a:lumMod val="40000"/>
                  <a:lumOff val="60000"/>
                </a:schemeClr>
              </a:solidFill>
              <a:ln>
                <a:noFill/>
              </a:ln>
              <a:effectLst/>
            </c:spPr>
          </c:dPt>
          <c:dPt>
            <c:idx val="2"/>
            <c:invertIfNegative val="0"/>
            <c:bubble3D val="0"/>
            <c:spPr>
              <a:solidFill>
                <a:schemeClr val="accent2">
                  <a:lumMod val="40000"/>
                  <a:lumOff val="60000"/>
                </a:schemeClr>
              </a:solidFill>
              <a:ln>
                <a:noFill/>
              </a:ln>
              <a:effectLst/>
            </c:spPr>
          </c:dPt>
          <c:dPt>
            <c:idx val="3"/>
            <c:invertIfNegative val="0"/>
            <c:bubble3D val="0"/>
            <c:spPr>
              <a:solidFill>
                <a:schemeClr val="bg2">
                  <a:lumMod val="75000"/>
                </a:schemeClr>
              </a:solidFill>
              <a:ln>
                <a:noFill/>
              </a:ln>
              <a:effectLst/>
            </c:spPr>
          </c:dPt>
          <c:dPt>
            <c:idx val="6"/>
            <c:invertIfNegative val="0"/>
            <c:bubble3D val="0"/>
            <c:spPr>
              <a:gradFill>
                <a:gsLst>
                  <a:gs pos="0">
                    <a:schemeClr val="bg1"/>
                  </a:gs>
                  <a:gs pos="42000">
                    <a:srgbClr val="6ACCF2"/>
                  </a:gs>
                  <a:gs pos="100000">
                    <a:srgbClr val="2497EA"/>
                  </a:gs>
                </a:gsLst>
                <a:lin ang="8100000" scaled="1"/>
              </a:gradFill>
              <a:ln>
                <a:noFill/>
              </a:ln>
              <a:effectLst/>
            </c:spPr>
          </c:dPt>
          <c:dLbls>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lumMod val="75000"/>
                        <a:lumOff val="25000"/>
                      </a:schemeClr>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[三分部12月市场小结.xlsx]Sheet1!$D$126:$J$126</c:f>
              <c:strCache>
                <c:ptCount val="7"/>
                <c:pt idx="0">
                  <c:v>整体铺市率</c:v>
                </c:pt>
                <c:pt idx="1">
                  <c:v>口味王</c:v>
                </c:pt>
                <c:pt idx="2">
                  <c:v>和成天下</c:v>
                </c:pt>
                <c:pt idx="3">
                  <c:v>主竞品</c:v>
                </c:pt>
                <c:pt idx="6">
                  <c:v>高端铺市率</c:v>
                </c:pt>
              </c:strCache>
            </c:strRef>
          </c:cat>
          <c:val>
            <c:numRef>
              <c:f>[三分部12月市场小结.xlsx]Sheet1!$D$127:$J$127</c:f>
              <c:numCache>
                <c:formatCode>0.0%</c:formatCode>
                <c:ptCount val="7"/>
                <c:pt idx="0">
                  <c:v>0.975</c:v>
                </c:pt>
                <c:pt idx="1">
                  <c:v>0.975</c:v>
                </c:pt>
                <c:pt idx="2">
                  <c:v>0.975</c:v>
                </c:pt>
                <c:pt idx="3" c:formatCode="0%">
                  <c:v>0.3</c:v>
                </c:pt>
                <c:pt idx="6">
                  <c:v>0.825</c:v>
                </c:pt>
              </c:numCache>
            </c:numRef>
          </c:val>
        </c:ser>
        <c:dLbls>
          <c:showLegendKey val="0"/>
          <c:showVal val="0"/>
          <c:showCatName val="0"/>
          <c:showSerName val="0"/>
          <c:showPercent val="0"/>
          <c:showBubbleSize val="0"/>
        </c:dLbls>
        <c:gapWidth val="246"/>
        <c:overlap val="-28"/>
        <c:axId val="397100584"/>
        <c:axId val="41686469"/>
      </c:barChart>
      <c:catAx>
        <c:axId val="397100584"/>
        <c:scaling>
          <c:orientation val="minMax"/>
        </c:scaling>
        <c:delete val="0"/>
        <c:axPos val="b"/>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41686469"/>
        <c:crosses val="autoZero"/>
        <c:auto val="1"/>
        <c:lblAlgn val="ctr"/>
        <c:lblOffset val="100"/>
        <c:noMultiLvlLbl val="0"/>
      </c:catAx>
      <c:valAx>
        <c:axId val="41686469"/>
        <c:scaling>
          <c:orientation val="minMax"/>
        </c:scaling>
        <c:delete val="0"/>
        <c:axPos val="l"/>
        <c:majorGridlines>
          <c:spPr>
            <a:ln w="9525" cap="flat" cmpd="sng" algn="ctr">
              <a:solidFill>
                <a:schemeClr val="lt1">
                  <a:lumMod val="90200"/>
                </a:schemeClr>
              </a:solidFill>
              <a:round/>
            </a:ln>
            <a:effectLst/>
          </c:spPr>
        </c:majorGridlines>
        <c:numFmt formatCode="0.0%" sourceLinked="1"/>
        <c:majorTickMark val="none"/>
        <c:minorTickMark val="none"/>
        <c:tickLblPos val="nextTo"/>
        <c:spPr>
          <a:noFill/>
          <a:ln>
            <a:noFill/>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397100584"/>
        <c:crosses val="autoZero"/>
        <c:crossBetween val="between"/>
      </c:valAx>
      <c:spPr>
        <a:noFill/>
        <a:ln>
          <a:noFill/>
        </a:ln>
        <a:effectLst/>
      </c:spPr>
    </c:plotArea>
    <c:plotVisOnly val="1"/>
    <c:dispBlanksAs val="gap"/>
    <c:showDLblsOverMax val="0"/>
    <c:extLst>
      <c:ext uri="{0b15fc19-7d7d-44ad-8c2d-2c3a37ce22c3}">
        <chartProps xmlns="https://web.wps.cn/et/2018/main" chartId="{b18732f9-5597-4300-8d8e-a06baa1f5e9f}"/>
      </c:ext>
    </c:extLst>
  </c:chart>
  <c:spPr>
    <a:solidFill>
      <a:schemeClr val="bg1"/>
    </a:solidFill>
    <a:ln w="9525" cap="flat" cmpd="sng" algn="ctr">
      <a:solidFill>
        <a:schemeClr val="accent4">
          <a:lumMod val="60000"/>
          <a:lumOff val="40000"/>
        </a:schemeClr>
      </a:solidFill>
      <a:round/>
    </a:ln>
    <a:effectLst/>
  </c:spPr>
  <c:txPr>
    <a:bodyPr/>
    <a:lstStyle/>
    <a:p>
      <a:pPr>
        <a:defRPr lang="zh-CN"/>
      </a:pPr>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defTabSz="914400">
              <a:defRPr lang="zh-CN" sz="1400" b="1" i="0" u="none" strike="noStrike" kern="1200" baseline="0">
                <a:solidFill>
                  <a:schemeClr val="tx1">
                    <a:lumMod val="75000"/>
                    <a:lumOff val="25000"/>
                  </a:schemeClr>
                </a:solidFill>
                <a:latin typeface="+mn-lt"/>
                <a:ea typeface="+mn-ea"/>
                <a:cs typeface="+mn-cs"/>
              </a:defRPr>
            </a:pPr>
            <a:r>
              <a:t>上蔡</a:t>
            </a:r>
          </a:p>
        </c:rich>
      </c:tx>
      <c:layout/>
      <c:overlay val="0"/>
      <c:spPr>
        <a:noFill/>
        <a:ln>
          <a:noFill/>
        </a:ln>
        <a:effectLst/>
      </c:spPr>
    </c:title>
    <c:autoTitleDeleted val="0"/>
    <c:plotArea>
      <c:layout/>
      <c:barChart>
        <c:barDir val="col"/>
        <c:grouping val="clustered"/>
        <c:varyColors val="0"/>
        <c:ser>
          <c:idx val="0"/>
          <c:order val="0"/>
          <c:spPr>
            <a:solidFill>
              <a:schemeClr val="accent1"/>
            </a:solidFill>
            <a:ln>
              <a:noFill/>
            </a:ln>
            <a:effectLst/>
          </c:spPr>
          <c:invertIfNegative val="0"/>
          <c:dPt>
            <c:idx val="0"/>
            <c:invertIfNegative val="0"/>
            <c:bubble3D val="0"/>
            <c:spPr>
              <a:solidFill>
                <a:schemeClr val="accent6">
                  <a:lumMod val="40000"/>
                  <a:lumOff val="60000"/>
                </a:schemeClr>
              </a:solidFill>
              <a:ln>
                <a:noFill/>
              </a:ln>
              <a:effectLst/>
            </c:spPr>
          </c:dPt>
          <c:dPt>
            <c:idx val="1"/>
            <c:invertIfNegative val="0"/>
            <c:bubble3D val="0"/>
            <c:spPr>
              <a:solidFill>
                <a:schemeClr val="accent4">
                  <a:lumMod val="40000"/>
                  <a:lumOff val="60000"/>
                </a:schemeClr>
              </a:solidFill>
              <a:ln>
                <a:noFill/>
              </a:ln>
              <a:effectLst/>
            </c:spPr>
          </c:dPt>
          <c:dPt>
            <c:idx val="2"/>
            <c:invertIfNegative val="0"/>
            <c:bubble3D val="0"/>
            <c:spPr>
              <a:solidFill>
                <a:schemeClr val="accent2">
                  <a:lumMod val="40000"/>
                  <a:lumOff val="60000"/>
                </a:schemeClr>
              </a:solidFill>
              <a:ln>
                <a:noFill/>
              </a:ln>
              <a:effectLst/>
            </c:spPr>
          </c:dPt>
          <c:dPt>
            <c:idx val="3"/>
            <c:invertIfNegative val="0"/>
            <c:bubble3D val="0"/>
            <c:spPr>
              <a:solidFill>
                <a:schemeClr val="bg2">
                  <a:lumMod val="75000"/>
                </a:schemeClr>
              </a:solidFill>
              <a:ln>
                <a:noFill/>
              </a:ln>
              <a:effectLst/>
            </c:spPr>
          </c:dPt>
          <c:dPt>
            <c:idx val="6"/>
            <c:invertIfNegative val="0"/>
            <c:bubble3D val="0"/>
            <c:spPr>
              <a:gradFill>
                <a:gsLst>
                  <a:gs pos="0">
                    <a:schemeClr val="bg1"/>
                  </a:gs>
                  <a:gs pos="42000">
                    <a:srgbClr val="6ACCF2"/>
                  </a:gs>
                  <a:gs pos="100000">
                    <a:srgbClr val="2497EA"/>
                  </a:gs>
                </a:gsLst>
                <a:lin ang="8100000" scaled="1"/>
              </a:gradFill>
              <a:ln>
                <a:noFill/>
              </a:ln>
              <a:effectLst/>
            </c:spPr>
          </c:dPt>
          <c:dLbls>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lumMod val="75000"/>
                        <a:lumOff val="25000"/>
                      </a:schemeClr>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[三分部12月市场小结.xlsx]Sheet1!$E$146:$K$146</c:f>
              <c:strCache>
                <c:ptCount val="7"/>
                <c:pt idx="0">
                  <c:v>整体铺市率</c:v>
                </c:pt>
                <c:pt idx="1">
                  <c:v>口味王</c:v>
                </c:pt>
                <c:pt idx="2">
                  <c:v>和成天下</c:v>
                </c:pt>
                <c:pt idx="3">
                  <c:v>主竞品</c:v>
                </c:pt>
                <c:pt idx="6">
                  <c:v>高端铺市率</c:v>
                </c:pt>
              </c:strCache>
            </c:strRef>
          </c:cat>
          <c:val>
            <c:numRef>
              <c:f>[三分部12月市场小结.xlsx]Sheet1!$E$147:$K$147</c:f>
              <c:numCache>
                <c:formatCode>0.0%</c:formatCode>
                <c:ptCount val="7"/>
                <c:pt idx="0">
                  <c:v>0.975</c:v>
                </c:pt>
                <c:pt idx="1" c:formatCode="0%">
                  <c:v>0.95</c:v>
                </c:pt>
                <c:pt idx="2">
                  <c:v>0.975</c:v>
                </c:pt>
                <c:pt idx="3">
                  <c:v>0.825</c:v>
                </c:pt>
                <c:pt idx="6">
                  <c:v>0.825</c:v>
                </c:pt>
              </c:numCache>
            </c:numRef>
          </c:val>
        </c:ser>
        <c:dLbls>
          <c:showLegendKey val="0"/>
          <c:showVal val="0"/>
          <c:showCatName val="0"/>
          <c:showSerName val="0"/>
          <c:showPercent val="0"/>
          <c:showBubbleSize val="0"/>
        </c:dLbls>
        <c:gapWidth val="246"/>
        <c:overlap val="-28"/>
        <c:axId val="140807625"/>
        <c:axId val="198055801"/>
      </c:barChart>
      <c:catAx>
        <c:axId val="140807625"/>
        <c:scaling>
          <c:orientation val="minMax"/>
        </c:scaling>
        <c:delete val="0"/>
        <c:axPos val="b"/>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198055801"/>
        <c:crosses val="autoZero"/>
        <c:auto val="1"/>
        <c:lblAlgn val="ctr"/>
        <c:lblOffset val="100"/>
        <c:noMultiLvlLbl val="0"/>
      </c:catAx>
      <c:valAx>
        <c:axId val="198055801"/>
        <c:scaling>
          <c:orientation val="minMax"/>
        </c:scaling>
        <c:delete val="0"/>
        <c:axPos val="l"/>
        <c:majorGridlines>
          <c:spPr>
            <a:ln w="9525" cap="flat" cmpd="sng" algn="ctr">
              <a:solidFill>
                <a:schemeClr val="lt1">
                  <a:lumMod val="90200"/>
                </a:schemeClr>
              </a:solidFill>
              <a:round/>
            </a:ln>
            <a:effectLst/>
          </c:spPr>
        </c:majorGridlines>
        <c:numFmt formatCode="0.0%" sourceLinked="1"/>
        <c:majorTickMark val="none"/>
        <c:minorTickMark val="none"/>
        <c:tickLblPos val="nextTo"/>
        <c:spPr>
          <a:noFill/>
          <a:ln>
            <a:noFill/>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140807625"/>
        <c:crosses val="autoZero"/>
        <c:crossBetween val="between"/>
      </c:valAx>
      <c:spPr>
        <a:noFill/>
        <a:ln>
          <a:noFill/>
        </a:ln>
        <a:effectLst/>
      </c:spPr>
    </c:plotArea>
    <c:plotVisOnly val="1"/>
    <c:dispBlanksAs val="gap"/>
    <c:showDLblsOverMax val="0"/>
    <c:extLst>
      <c:ext uri="{0b15fc19-7d7d-44ad-8c2d-2c3a37ce22c3}">
        <chartProps xmlns="https://web.wps.cn/et/2018/main" chartId="{e270bb7f-4a3c-429f-b903-187f148ac6e9}"/>
      </c:ext>
    </c:extLst>
  </c:chart>
  <c:spPr>
    <a:solidFill>
      <a:schemeClr val="bg1"/>
    </a:solidFill>
    <a:ln w="9525" cap="flat" cmpd="sng" algn="ctr">
      <a:solidFill>
        <a:schemeClr val="accent4">
          <a:lumMod val="60000"/>
          <a:lumOff val="40000"/>
        </a:schemeClr>
      </a:solidFill>
      <a:round/>
    </a:ln>
    <a:effectLst/>
  </c:spPr>
  <c:txPr>
    <a:bodyPr/>
    <a:lstStyle/>
    <a:p>
      <a:pPr>
        <a:defRPr lang="zh-CN"/>
      </a:pPr>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forceAA="0"/>
          <a:lstStyle/>
          <a:p>
            <a:pPr defTabSz="914400">
              <a:defRPr lang="zh-CN" sz="1400" b="0" i="0" u="none" strike="noStrike" kern="1200" spc="0" baseline="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r>
              <a:rPr b="1">
                <a:latin typeface="+mn-lt"/>
                <a:ea typeface="+mn-lt"/>
              </a:rPr>
              <a:t>郑州南</a:t>
            </a:r>
            <a:endParaRPr b="1">
              <a:latin typeface="+mn-lt"/>
              <a:ea typeface="+mn-lt"/>
            </a:endParaRPr>
          </a:p>
        </c:rich>
      </c:tx>
      <c:layout/>
      <c:overlay val="0"/>
      <c:spPr>
        <a:noFill/>
        <a:ln>
          <a:noFill/>
        </a:ln>
        <a:effectLst/>
      </c:spPr>
    </c:title>
    <c:autoTitleDeleted val="0"/>
    <c:plotArea>
      <c:layout/>
      <c:pieChart>
        <c:varyColors val="1"/>
        <c:ser>
          <c:idx val="0"/>
          <c:order val="0"/>
          <c:spPr>
            <a:gradFill>
              <a:gsLst>
                <a:gs pos="0">
                  <a:schemeClr val="accent1">
                    <a:lumMod val="60000"/>
                    <a:lumOff val="40000"/>
                  </a:schemeClr>
                </a:gs>
                <a:gs pos="100000">
                  <a:schemeClr val="accent1">
                    <a:lumMod val="75000"/>
                  </a:schemeClr>
                </a:gs>
              </a:gsLst>
              <a:lin ang="5400000" scaled="1"/>
            </a:gradFill>
            <a:ln w="25400">
              <a:solidFill>
                <a:schemeClr val="accent1"/>
              </a:solidFill>
            </a:ln>
            <a:effectLst>
              <a:outerShdw blurRad="50800" dist="38100" dir="2700000" algn="tl" rotWithShape="0">
                <a:schemeClr val="accent1">
                  <a:alpha val="40000"/>
                </a:schemeClr>
              </a:outerShdw>
            </a:effectLst>
          </c:spPr>
          <c:explosion val="0"/>
          <c:dPt>
            <c:idx val="0"/>
            <c:bubble3D val="0"/>
            <c:spPr>
              <a:gradFill>
                <a:gsLst>
                  <a:gs pos="0">
                    <a:schemeClr val="accent1">
                      <a:lumMod val="60000"/>
                      <a:lumOff val="40000"/>
                    </a:schemeClr>
                  </a:gs>
                  <a:gs pos="100000">
                    <a:schemeClr val="accent1">
                      <a:lumMod val="75000"/>
                    </a:schemeClr>
                  </a:gs>
                </a:gsLst>
                <a:lin ang="5400000" scaled="1"/>
              </a:gradFill>
              <a:ln w="25400">
                <a:solidFill>
                  <a:schemeClr val="accent1"/>
                </a:solidFill>
              </a:ln>
              <a:effectLst>
                <a:outerShdw blurRad="50800" dist="38100" dir="2700000" algn="tl" rotWithShape="0">
                  <a:schemeClr val="accent1">
                    <a:alpha val="40000"/>
                  </a:schemeClr>
                </a:outerShdw>
              </a:effectLst>
            </c:spPr>
          </c:dPt>
          <c:dPt>
            <c:idx val="1"/>
            <c:bubble3D val="0"/>
            <c:spPr>
              <a:gradFill>
                <a:gsLst>
                  <a:gs pos="0">
                    <a:schemeClr val="accent2">
                      <a:lumMod val="60000"/>
                      <a:lumOff val="40000"/>
                    </a:schemeClr>
                  </a:gs>
                  <a:gs pos="100000">
                    <a:schemeClr val="accent2">
                      <a:lumMod val="75000"/>
                    </a:schemeClr>
                  </a:gs>
                </a:gsLst>
                <a:lin ang="5400000" scaled="1"/>
              </a:gradFill>
              <a:ln w="25400">
                <a:solidFill>
                  <a:schemeClr val="accent2"/>
                </a:solidFill>
              </a:ln>
              <a:effectLst>
                <a:outerShdw blurRad="50800" dist="38100" dir="2700000" algn="tl" rotWithShape="0">
                  <a:schemeClr val="accent2">
                    <a:alpha val="40000"/>
                  </a:schemeClr>
                </a:outerShdw>
              </a:effectLst>
            </c:spPr>
          </c:dPt>
          <c:dPt>
            <c:idx val="2"/>
            <c:bubble3D val="0"/>
            <c:spPr>
              <a:gradFill>
                <a:gsLst>
                  <a:gs pos="0">
                    <a:schemeClr val="accent3">
                      <a:lumMod val="40000"/>
                      <a:lumOff val="60000"/>
                    </a:schemeClr>
                  </a:gs>
                  <a:gs pos="100000">
                    <a:schemeClr val="accent3">
                      <a:lumMod val="75000"/>
                    </a:schemeClr>
                  </a:gs>
                </a:gsLst>
                <a:lin ang="5400000" scaled="1"/>
              </a:gradFill>
              <a:ln w="25400">
                <a:solidFill>
                  <a:schemeClr val="accent3"/>
                </a:solidFill>
              </a:ln>
              <a:effectLst>
                <a:outerShdw blurRad="50800" dist="38100" dir="2700000" algn="tl" rotWithShape="0">
                  <a:schemeClr val="accent3">
                    <a:alpha val="40000"/>
                  </a:schemeClr>
                </a:outerShdw>
              </a:effectLst>
            </c:spPr>
          </c:dPt>
          <c:dPt>
            <c:idx val="3"/>
            <c:bubble3D val="0"/>
            <c:spPr>
              <a:gradFill>
                <a:gsLst>
                  <a:gs pos="0">
                    <a:schemeClr val="accent4">
                      <a:lumMod val="40000"/>
                      <a:lumOff val="60000"/>
                    </a:schemeClr>
                  </a:gs>
                  <a:gs pos="100000">
                    <a:schemeClr val="accent4">
                      <a:lumMod val="75000"/>
                    </a:schemeClr>
                  </a:gs>
                </a:gsLst>
                <a:lin ang="5400000" scaled="1"/>
              </a:gradFill>
              <a:ln w="25400">
                <a:solidFill>
                  <a:schemeClr val="accent4"/>
                </a:solidFill>
              </a:ln>
              <a:effectLst>
                <a:outerShdw blurRad="50800" dist="38100" dir="2700000" algn="tl" rotWithShape="0">
                  <a:schemeClr val="accent4">
                    <a:alpha val="40000"/>
                  </a:schemeClr>
                </a:outerShdw>
              </a:effectLst>
            </c:spPr>
          </c:dPt>
          <c:dLbls>
            <c:numFmt formatCode="General" sourceLinked="1"/>
            <c:spPr>
              <a:noFill/>
              <a:ln>
                <a:noFill/>
              </a:ln>
              <a:effectLst/>
            </c:spPr>
            <c:txPr>
              <a:bodyPr rot="0" spcFirstLastPara="0" vertOverflow="ellipsis" vert="horz" wrap="square" lIns="38100" tIns="19050" rIns="38100" bIns="19050" anchor="ctr" anchorCtr="1" forceAA="0">
                <a:spAutoFit/>
              </a:bodyPr>
              <a:lstStyle/>
              <a:p>
                <a:pPr>
                  <a:defRPr lang="zh-CN" sz="900" b="0" i="0" u="none" strike="noStrike" kern="1200" cap="none" spc="0" normalizeH="0" baseline="0">
                    <a:solidFill>
                      <a:schemeClr val="tx1"/>
                    </a:solidFill>
                    <a:uFill>
                      <a:solidFill>
                        <a:schemeClr val="bg1"/>
                      </a:solidFill>
                    </a:uFill>
                    <a:latin typeface="宋体" panose="02010600030101010101" pitchFamily="2" charset="-122"/>
                    <a:ea typeface="宋体" panose="02010600030101010101" pitchFamily="2" charset="-122"/>
                    <a:cs typeface="微软雅黑" panose="020B0503020204020204" pitchFamily="34" charset="-122"/>
                    <a:sym typeface="微软雅黑" panose="020B0503020204020204" pitchFamily="34" charset="-122"/>
                  </a:defRPr>
                </a:pPr>
              </a:p>
            </c:txPr>
            <c:dLblPos val="inEnd"/>
            <c:showLegendKey val="0"/>
            <c:showVal val="1"/>
            <c:showCatName val="1"/>
            <c:showSerName val="0"/>
            <c:showPercent val="0"/>
            <c:showBubbleSize val="0"/>
            <c:separator>
</c:separator>
            <c:showLeaderLines val="0"/>
            <c:extLst>
              <c:ext xmlns:c15="http://schemas.microsoft.com/office/drawing/2012/chart" uri="{CE6537A1-D6FC-4f65-9D91-7224C49458BB}">
                <c15:layout/>
                <c15:showLeaderLines val="0"/>
                <c15:leaderLines>
                  <c:spPr>
                    <a:ln w="9525" cap="flat" cmpd="sng" algn="ctr">
                      <a:solidFill>
                        <a:schemeClr val="tx1">
                          <a:lumMod val="35000"/>
                          <a:lumOff val="65000"/>
                        </a:schemeClr>
                      </a:solidFill>
                      <a:round/>
                    </a:ln>
                    <a:effectLst/>
                  </c:spPr>
                </c15:leaderLines>
              </c:ext>
            </c:extLst>
          </c:dLbls>
          <c:cat>
            <c:strRef>
              <c:f>[三分部12月市场小结.xlsx]Sheet1!$F$172:$I$172</c:f>
              <c:strCache>
                <c:ptCount val="4"/>
                <c:pt idx="0">
                  <c:v>口味王</c:v>
                </c:pt>
                <c:pt idx="1">
                  <c:v>和成天下</c:v>
                </c:pt>
                <c:pt idx="2">
                  <c:v>主竞品</c:v>
                </c:pt>
                <c:pt idx="3">
                  <c:v>其他</c:v>
                </c:pt>
              </c:strCache>
            </c:strRef>
          </c:cat>
          <c:val>
            <c:numRef>
              <c:f>[三分部12月市场小结.xlsx]Sheet1!$F$173:$I$173</c:f>
              <c:numCache>
                <c:formatCode>0%</c:formatCode>
                <c:ptCount val="4"/>
                <c:pt idx="0">
                  <c:v>0.26</c:v>
                </c:pt>
                <c:pt idx="1">
                  <c:v>0.32</c:v>
                </c:pt>
                <c:pt idx="2">
                  <c:v>0.15</c:v>
                </c:pt>
                <c:pt idx="3">
                  <c:v>0.27</c:v>
                </c:pt>
              </c:numCache>
            </c:numRef>
          </c:val>
        </c:ser>
        <c:dLbls>
          <c:showLegendKey val="0"/>
          <c:showVal val="1"/>
          <c:showCatName val="1"/>
          <c:showSerName val="0"/>
          <c:showPercent val="0"/>
          <c:showBubbleSize val="0"/>
          <c:showLeaderLines val="1"/>
        </c:dLbls>
        <c:firstSliceAng val="0"/>
      </c:pieChart>
      <c:spPr>
        <a:noFill/>
        <a:ln>
          <a:noFill/>
        </a:ln>
        <a:effectLst/>
      </c:spPr>
    </c:plotArea>
    <c:plotVisOnly val="1"/>
    <c:dispBlanksAs val="gap"/>
    <c:showDLblsOverMax val="0"/>
    <c:extLst>
      <c:ext uri="{0b15fc19-7d7d-44ad-8c2d-2c3a37ce22c3}">
        <chartProps xmlns="https://web.wps.cn/et/2018/main" chartId="{f395944d-b96b-4a44-9e3a-950f9334f1ea}"/>
      </c:ext>
    </c:extLst>
  </c:chart>
  <c:spPr>
    <a:noFill/>
    <a:ln w="6350" cap="flat" cmpd="sng" algn="ctr">
      <a:noFill/>
      <a:round/>
    </a:ln>
    <a:effectLst/>
  </c:spPr>
  <c:txPr>
    <a:bodyPr/>
    <a:lstStyle/>
    <a:p>
      <a:pPr>
        <a:defRPr lang="zh-CN">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forceAA="0"/>
          <a:lstStyle/>
          <a:p>
            <a:pPr defTabSz="914400">
              <a:defRPr lang="zh-CN" sz="1400" b="0" i="0" u="none" strike="noStrike" kern="1200" spc="0" baseline="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r>
              <a:rPr b="1">
                <a:latin typeface="+mn-lt"/>
                <a:ea typeface="+mn-lt"/>
              </a:rPr>
              <a:t>偃师</a:t>
            </a:r>
            <a:endParaRPr b="1">
              <a:latin typeface="+mn-lt"/>
              <a:ea typeface="+mn-lt"/>
            </a:endParaRPr>
          </a:p>
        </c:rich>
      </c:tx>
      <c:layout/>
      <c:overlay val="0"/>
      <c:spPr>
        <a:noFill/>
        <a:ln>
          <a:noFill/>
        </a:ln>
        <a:effectLst/>
      </c:spPr>
    </c:title>
    <c:autoTitleDeleted val="0"/>
    <c:plotArea>
      <c:layout/>
      <c:pieChart>
        <c:varyColors val="1"/>
        <c:ser>
          <c:idx val="0"/>
          <c:order val="0"/>
          <c:spPr>
            <a:gradFill>
              <a:gsLst>
                <a:gs pos="0">
                  <a:schemeClr val="accent1">
                    <a:lumMod val="60000"/>
                    <a:lumOff val="40000"/>
                  </a:schemeClr>
                </a:gs>
                <a:gs pos="100000">
                  <a:schemeClr val="accent1">
                    <a:lumMod val="75000"/>
                  </a:schemeClr>
                </a:gs>
              </a:gsLst>
              <a:lin ang="5400000" scaled="1"/>
            </a:gradFill>
            <a:ln w="25400">
              <a:solidFill>
                <a:schemeClr val="accent1"/>
              </a:solidFill>
            </a:ln>
            <a:effectLst>
              <a:outerShdw blurRad="50800" dist="38100" dir="2700000" algn="tl" rotWithShape="0">
                <a:schemeClr val="accent1">
                  <a:alpha val="40000"/>
                </a:schemeClr>
              </a:outerShdw>
            </a:effectLst>
          </c:spPr>
          <c:explosion val="0"/>
          <c:dPt>
            <c:idx val="0"/>
            <c:bubble3D val="0"/>
            <c:spPr>
              <a:gradFill>
                <a:gsLst>
                  <a:gs pos="0">
                    <a:schemeClr val="accent1">
                      <a:lumMod val="60000"/>
                      <a:lumOff val="40000"/>
                    </a:schemeClr>
                  </a:gs>
                  <a:gs pos="100000">
                    <a:schemeClr val="accent1">
                      <a:lumMod val="75000"/>
                    </a:schemeClr>
                  </a:gs>
                </a:gsLst>
                <a:lin ang="5400000" scaled="1"/>
              </a:gradFill>
              <a:ln w="25400">
                <a:solidFill>
                  <a:schemeClr val="accent1"/>
                </a:solidFill>
              </a:ln>
              <a:effectLst>
                <a:outerShdw blurRad="50800" dist="38100" dir="2700000" algn="tl" rotWithShape="0">
                  <a:schemeClr val="accent1">
                    <a:alpha val="40000"/>
                  </a:schemeClr>
                </a:outerShdw>
              </a:effectLst>
            </c:spPr>
          </c:dPt>
          <c:dPt>
            <c:idx val="1"/>
            <c:bubble3D val="0"/>
            <c:spPr>
              <a:gradFill>
                <a:gsLst>
                  <a:gs pos="0">
                    <a:schemeClr val="accent2">
                      <a:lumMod val="60000"/>
                      <a:lumOff val="40000"/>
                    </a:schemeClr>
                  </a:gs>
                  <a:gs pos="100000">
                    <a:schemeClr val="accent2">
                      <a:lumMod val="75000"/>
                    </a:schemeClr>
                  </a:gs>
                </a:gsLst>
                <a:lin ang="5400000" scaled="1"/>
              </a:gradFill>
              <a:ln w="25400">
                <a:solidFill>
                  <a:schemeClr val="accent2"/>
                </a:solidFill>
              </a:ln>
              <a:effectLst>
                <a:outerShdw blurRad="50800" dist="38100" dir="2700000" algn="tl" rotWithShape="0">
                  <a:schemeClr val="accent2">
                    <a:alpha val="40000"/>
                  </a:schemeClr>
                </a:outerShdw>
              </a:effectLst>
            </c:spPr>
          </c:dPt>
          <c:dPt>
            <c:idx val="2"/>
            <c:bubble3D val="0"/>
            <c:spPr>
              <a:gradFill>
                <a:gsLst>
                  <a:gs pos="0">
                    <a:schemeClr val="accent3">
                      <a:lumMod val="40000"/>
                      <a:lumOff val="60000"/>
                    </a:schemeClr>
                  </a:gs>
                  <a:gs pos="100000">
                    <a:schemeClr val="accent3">
                      <a:lumMod val="75000"/>
                    </a:schemeClr>
                  </a:gs>
                </a:gsLst>
                <a:lin ang="5400000" scaled="1"/>
              </a:gradFill>
              <a:ln w="25400">
                <a:solidFill>
                  <a:schemeClr val="accent3"/>
                </a:solidFill>
              </a:ln>
              <a:effectLst>
                <a:outerShdw blurRad="50800" dist="38100" dir="2700000" algn="tl" rotWithShape="0">
                  <a:schemeClr val="accent3">
                    <a:alpha val="40000"/>
                  </a:schemeClr>
                </a:outerShdw>
              </a:effectLst>
            </c:spPr>
          </c:dPt>
          <c:dPt>
            <c:idx val="3"/>
            <c:bubble3D val="0"/>
            <c:spPr>
              <a:gradFill>
                <a:gsLst>
                  <a:gs pos="0">
                    <a:schemeClr val="accent4">
                      <a:lumMod val="40000"/>
                      <a:lumOff val="60000"/>
                    </a:schemeClr>
                  </a:gs>
                  <a:gs pos="100000">
                    <a:schemeClr val="accent4">
                      <a:lumMod val="75000"/>
                    </a:schemeClr>
                  </a:gs>
                </a:gsLst>
                <a:lin ang="5400000" scaled="1"/>
              </a:gradFill>
              <a:ln w="25400">
                <a:solidFill>
                  <a:schemeClr val="accent4"/>
                </a:solidFill>
              </a:ln>
              <a:effectLst>
                <a:outerShdw blurRad="50800" dist="38100" dir="2700000" algn="tl" rotWithShape="0">
                  <a:schemeClr val="accent4">
                    <a:alpha val="40000"/>
                  </a:schemeClr>
                </a:outerShdw>
              </a:effectLst>
            </c:spPr>
          </c:dPt>
          <c:dLbls>
            <c:numFmt formatCode="General" sourceLinked="1"/>
            <c:spPr>
              <a:noFill/>
              <a:ln>
                <a:noFill/>
              </a:ln>
              <a:effectLst/>
            </c:spPr>
            <c:txPr>
              <a:bodyPr rot="0" spcFirstLastPara="0" vertOverflow="ellipsis" vert="horz" wrap="square" lIns="38100" tIns="19050" rIns="38100" bIns="19050" anchor="ctr" anchorCtr="1" forceAA="0">
                <a:spAutoFit/>
              </a:bodyPr>
              <a:lstStyle/>
              <a:p>
                <a:pPr>
                  <a:defRPr lang="zh-CN" sz="900" b="0" i="0" u="none" strike="noStrike" kern="1200" cap="none" spc="0" normalizeH="0" baseline="0">
                    <a:solidFill>
                      <a:schemeClr val="tx1"/>
                    </a:solidFill>
                    <a:uFill>
                      <a:solidFill>
                        <a:schemeClr val="bg1"/>
                      </a:solidFill>
                    </a:uFill>
                    <a:latin typeface="宋体" panose="02010600030101010101" pitchFamily="2" charset="-122"/>
                    <a:ea typeface="宋体" panose="02010600030101010101" pitchFamily="2" charset="-122"/>
                    <a:cs typeface="微软雅黑" panose="020B0503020204020204" pitchFamily="34" charset="-122"/>
                    <a:sym typeface="微软雅黑" panose="020B0503020204020204" pitchFamily="34" charset="-122"/>
                  </a:defRPr>
                </a:pPr>
              </a:p>
            </c:txPr>
            <c:dLblPos val="inEnd"/>
            <c:showLegendKey val="0"/>
            <c:showVal val="1"/>
            <c:showCatName val="1"/>
            <c:showSerName val="0"/>
            <c:showPercent val="0"/>
            <c:showBubbleSize val="0"/>
            <c:separator>
</c:separator>
            <c:showLeaderLines val="0"/>
            <c:extLst>
              <c:ext xmlns:c15="http://schemas.microsoft.com/office/drawing/2012/chart" uri="{CE6537A1-D6FC-4f65-9D91-7224C49458BB}">
                <c15:layout/>
                <c15:showLeaderLines val="0"/>
                <c15:leaderLines>
                  <c:spPr>
                    <a:ln w="9525" cap="flat" cmpd="sng" algn="ctr">
                      <a:solidFill>
                        <a:schemeClr val="tx1">
                          <a:lumMod val="35000"/>
                          <a:lumOff val="65000"/>
                        </a:schemeClr>
                      </a:solidFill>
                      <a:round/>
                    </a:ln>
                    <a:effectLst/>
                  </c:spPr>
                </c15:leaderLines>
              </c:ext>
            </c:extLst>
          </c:dLbls>
          <c:cat>
            <c:strRef>
              <c:f>[三分部12月市场小结.xlsx]Sheet1!$E$187:$H$187</c:f>
              <c:strCache>
                <c:ptCount val="4"/>
                <c:pt idx="0">
                  <c:v>口味王</c:v>
                </c:pt>
                <c:pt idx="1">
                  <c:v>和成天下</c:v>
                </c:pt>
                <c:pt idx="2">
                  <c:v>主竞品</c:v>
                </c:pt>
                <c:pt idx="3">
                  <c:v>其他</c:v>
                </c:pt>
              </c:strCache>
            </c:strRef>
          </c:cat>
          <c:val>
            <c:numRef>
              <c:f>[三分部12月市场小结.xlsx]Sheet1!$E$188:$H$188</c:f>
              <c:numCache>
                <c:formatCode>0%</c:formatCode>
                <c:ptCount val="4"/>
                <c:pt idx="0">
                  <c:v>0.15</c:v>
                </c:pt>
                <c:pt idx="1">
                  <c:v>0.35</c:v>
                </c:pt>
                <c:pt idx="2">
                  <c:v>0.4</c:v>
                </c:pt>
                <c:pt idx="3">
                  <c:v>0.1</c:v>
                </c:pt>
              </c:numCache>
            </c:numRef>
          </c:val>
        </c:ser>
        <c:dLbls>
          <c:showLegendKey val="0"/>
          <c:showVal val="1"/>
          <c:showCatName val="1"/>
          <c:showSerName val="0"/>
          <c:showPercent val="0"/>
          <c:showBubbleSize val="0"/>
          <c:showLeaderLines val="1"/>
        </c:dLbls>
        <c:firstSliceAng val="0"/>
      </c:pieChart>
      <c:spPr>
        <a:noFill/>
        <a:ln>
          <a:noFill/>
        </a:ln>
        <a:effectLst/>
      </c:spPr>
    </c:plotArea>
    <c:plotVisOnly val="1"/>
    <c:dispBlanksAs val="gap"/>
    <c:showDLblsOverMax val="0"/>
    <c:extLst>
      <c:ext uri="{0b15fc19-7d7d-44ad-8c2d-2c3a37ce22c3}">
        <chartProps xmlns="https://web.wps.cn/et/2018/main" chartId="{73ec254c-810e-4a80-b685-7a2c54355e3e}"/>
      </c:ext>
    </c:extLst>
  </c:chart>
  <c:spPr>
    <a:noFill/>
    <a:ln w="6350" cap="flat" cmpd="sng" algn="ctr">
      <a:noFill/>
      <a:round/>
    </a:ln>
    <a:effectLst/>
  </c:spPr>
  <c:txPr>
    <a:bodyPr/>
    <a:lstStyle/>
    <a:p>
      <a:pPr>
        <a:defRPr lang="zh-CN">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forceAA="0"/>
          <a:lstStyle/>
          <a:p>
            <a:pPr defTabSz="914400">
              <a:defRPr lang="zh-CN" sz="1400" b="0" i="0" u="none" strike="noStrike" kern="1200" spc="0" baseline="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r>
              <a:rPr b="1">
                <a:latin typeface="+mn-lt"/>
                <a:ea typeface="+mn-lt"/>
              </a:rPr>
              <a:t>中原</a:t>
            </a:r>
            <a:endParaRPr b="1">
              <a:latin typeface="+mn-lt"/>
              <a:ea typeface="+mn-lt"/>
            </a:endParaRPr>
          </a:p>
        </c:rich>
      </c:tx>
      <c:layout/>
      <c:overlay val="0"/>
      <c:spPr>
        <a:noFill/>
        <a:ln>
          <a:noFill/>
        </a:ln>
        <a:effectLst/>
      </c:spPr>
    </c:title>
    <c:autoTitleDeleted val="0"/>
    <c:plotArea>
      <c:layout/>
      <c:pieChart>
        <c:varyColors val="1"/>
        <c:ser>
          <c:idx val="0"/>
          <c:order val="0"/>
          <c:spPr>
            <a:gradFill>
              <a:gsLst>
                <a:gs pos="0">
                  <a:schemeClr val="accent1">
                    <a:lumMod val="60000"/>
                    <a:lumOff val="40000"/>
                  </a:schemeClr>
                </a:gs>
                <a:gs pos="100000">
                  <a:schemeClr val="accent1">
                    <a:lumMod val="75000"/>
                  </a:schemeClr>
                </a:gs>
              </a:gsLst>
              <a:lin ang="5400000" scaled="1"/>
            </a:gradFill>
            <a:ln w="25400">
              <a:solidFill>
                <a:schemeClr val="accent1"/>
              </a:solidFill>
            </a:ln>
            <a:effectLst>
              <a:outerShdw blurRad="50800" dist="38100" dir="2700000" algn="tl" rotWithShape="0">
                <a:schemeClr val="accent1">
                  <a:alpha val="40000"/>
                </a:schemeClr>
              </a:outerShdw>
            </a:effectLst>
          </c:spPr>
          <c:explosion val="0"/>
          <c:dPt>
            <c:idx val="0"/>
            <c:bubble3D val="0"/>
            <c:spPr>
              <a:gradFill>
                <a:gsLst>
                  <a:gs pos="0">
                    <a:schemeClr val="accent1">
                      <a:lumMod val="60000"/>
                      <a:lumOff val="40000"/>
                    </a:schemeClr>
                  </a:gs>
                  <a:gs pos="100000">
                    <a:schemeClr val="accent1">
                      <a:lumMod val="75000"/>
                    </a:schemeClr>
                  </a:gs>
                </a:gsLst>
                <a:lin ang="5400000" scaled="1"/>
              </a:gradFill>
              <a:ln w="25400">
                <a:solidFill>
                  <a:schemeClr val="accent1"/>
                </a:solidFill>
              </a:ln>
              <a:effectLst>
                <a:outerShdw blurRad="50800" dist="38100" dir="2700000" algn="tl" rotWithShape="0">
                  <a:schemeClr val="accent1">
                    <a:alpha val="40000"/>
                  </a:schemeClr>
                </a:outerShdw>
              </a:effectLst>
            </c:spPr>
          </c:dPt>
          <c:dPt>
            <c:idx val="1"/>
            <c:bubble3D val="0"/>
            <c:spPr>
              <a:gradFill>
                <a:gsLst>
                  <a:gs pos="0">
                    <a:schemeClr val="accent2">
                      <a:lumMod val="60000"/>
                      <a:lumOff val="40000"/>
                    </a:schemeClr>
                  </a:gs>
                  <a:gs pos="100000">
                    <a:schemeClr val="accent2">
                      <a:lumMod val="75000"/>
                    </a:schemeClr>
                  </a:gs>
                </a:gsLst>
                <a:lin ang="5400000" scaled="1"/>
              </a:gradFill>
              <a:ln w="25400">
                <a:solidFill>
                  <a:schemeClr val="accent2"/>
                </a:solidFill>
              </a:ln>
              <a:effectLst>
                <a:outerShdw blurRad="50800" dist="38100" dir="2700000" algn="tl" rotWithShape="0">
                  <a:schemeClr val="accent2">
                    <a:alpha val="40000"/>
                  </a:schemeClr>
                </a:outerShdw>
              </a:effectLst>
            </c:spPr>
          </c:dPt>
          <c:dPt>
            <c:idx val="2"/>
            <c:bubble3D val="0"/>
            <c:spPr>
              <a:gradFill>
                <a:gsLst>
                  <a:gs pos="0">
                    <a:schemeClr val="accent3">
                      <a:lumMod val="40000"/>
                      <a:lumOff val="60000"/>
                    </a:schemeClr>
                  </a:gs>
                  <a:gs pos="100000">
                    <a:schemeClr val="accent3">
                      <a:lumMod val="75000"/>
                    </a:schemeClr>
                  </a:gs>
                </a:gsLst>
                <a:lin ang="5400000" scaled="1"/>
              </a:gradFill>
              <a:ln w="25400">
                <a:solidFill>
                  <a:schemeClr val="accent3"/>
                </a:solidFill>
              </a:ln>
              <a:effectLst>
                <a:outerShdw blurRad="50800" dist="38100" dir="2700000" algn="tl" rotWithShape="0">
                  <a:schemeClr val="accent3">
                    <a:alpha val="40000"/>
                  </a:schemeClr>
                </a:outerShdw>
              </a:effectLst>
            </c:spPr>
          </c:dPt>
          <c:dPt>
            <c:idx val="3"/>
            <c:bubble3D val="0"/>
            <c:spPr>
              <a:gradFill>
                <a:gsLst>
                  <a:gs pos="0">
                    <a:schemeClr val="accent4">
                      <a:lumMod val="40000"/>
                      <a:lumOff val="60000"/>
                    </a:schemeClr>
                  </a:gs>
                  <a:gs pos="100000">
                    <a:schemeClr val="accent4">
                      <a:lumMod val="75000"/>
                    </a:schemeClr>
                  </a:gs>
                </a:gsLst>
                <a:lin ang="5400000" scaled="1"/>
              </a:gradFill>
              <a:ln w="25400">
                <a:solidFill>
                  <a:schemeClr val="accent4"/>
                </a:solidFill>
              </a:ln>
              <a:effectLst>
                <a:outerShdw blurRad="50800" dist="38100" dir="2700000" algn="tl" rotWithShape="0">
                  <a:schemeClr val="accent4">
                    <a:alpha val="40000"/>
                  </a:schemeClr>
                </a:outerShdw>
              </a:effectLst>
            </c:spPr>
          </c:dPt>
          <c:dLbls>
            <c:numFmt formatCode="General" sourceLinked="1"/>
            <c:spPr>
              <a:noFill/>
              <a:ln>
                <a:noFill/>
              </a:ln>
              <a:effectLst/>
            </c:spPr>
            <c:txPr>
              <a:bodyPr rot="0" spcFirstLastPara="0" vertOverflow="ellipsis" vert="horz" wrap="square" lIns="38100" tIns="19050" rIns="38100" bIns="19050" anchor="ctr" anchorCtr="1" forceAA="0">
                <a:spAutoFit/>
              </a:bodyPr>
              <a:lstStyle/>
              <a:p>
                <a:pPr>
                  <a:defRPr lang="zh-CN" sz="900" b="0" i="0" u="none" strike="noStrike" kern="1200" cap="none" spc="0" normalizeH="0" baseline="0">
                    <a:solidFill>
                      <a:schemeClr val="tx1"/>
                    </a:solidFill>
                    <a:uFill>
                      <a:solidFill>
                        <a:schemeClr val="bg1"/>
                      </a:solidFill>
                    </a:uFill>
                    <a:latin typeface="宋体" panose="02010600030101010101" pitchFamily="2" charset="-122"/>
                    <a:ea typeface="宋体" panose="02010600030101010101" pitchFamily="2" charset="-122"/>
                    <a:cs typeface="微软雅黑" panose="020B0503020204020204" pitchFamily="34" charset="-122"/>
                    <a:sym typeface="微软雅黑" panose="020B0503020204020204" pitchFamily="34" charset="-122"/>
                  </a:defRPr>
                </a:pPr>
              </a:p>
            </c:txPr>
            <c:dLblPos val="inEnd"/>
            <c:showLegendKey val="0"/>
            <c:showVal val="1"/>
            <c:showCatName val="1"/>
            <c:showSerName val="0"/>
            <c:showPercent val="0"/>
            <c:showBubbleSize val="0"/>
            <c:separator>
</c:separator>
            <c:showLeaderLines val="0"/>
            <c:extLst>
              <c:ext xmlns:c15="http://schemas.microsoft.com/office/drawing/2012/chart" uri="{CE6537A1-D6FC-4f65-9D91-7224C49458BB}">
                <c15:layout/>
                <c15:showLeaderLines val="0"/>
                <c15:leaderLines>
                  <c:spPr>
                    <a:ln w="9525" cap="flat" cmpd="sng" algn="ctr">
                      <a:solidFill>
                        <a:schemeClr val="tx1">
                          <a:lumMod val="35000"/>
                          <a:lumOff val="65000"/>
                        </a:schemeClr>
                      </a:solidFill>
                      <a:round/>
                    </a:ln>
                    <a:effectLst/>
                  </c:spPr>
                </c15:leaderLines>
              </c:ext>
            </c:extLst>
          </c:dLbls>
          <c:cat>
            <c:strRef>
              <c:f>[三分部12月市场小结.xlsx]Sheet1!$E$201:$H$201</c:f>
              <c:strCache>
                <c:ptCount val="4"/>
                <c:pt idx="0">
                  <c:v>口味王</c:v>
                </c:pt>
                <c:pt idx="1">
                  <c:v>和成天下</c:v>
                </c:pt>
                <c:pt idx="2">
                  <c:v>主竞品</c:v>
                </c:pt>
                <c:pt idx="3">
                  <c:v>其他</c:v>
                </c:pt>
              </c:strCache>
            </c:strRef>
          </c:cat>
          <c:val>
            <c:numRef>
              <c:f>[三分部12月市场小结.xlsx]Sheet1!$E$202:$H$202</c:f>
              <c:numCache>
                <c:formatCode>0%</c:formatCode>
                <c:ptCount val="4"/>
                <c:pt idx="0">
                  <c:v>0.2</c:v>
                </c:pt>
                <c:pt idx="1">
                  <c:v>0.37</c:v>
                </c:pt>
                <c:pt idx="2">
                  <c:v>0.08</c:v>
                </c:pt>
                <c:pt idx="3">
                  <c:v>0.35</c:v>
                </c:pt>
              </c:numCache>
            </c:numRef>
          </c:val>
        </c:ser>
        <c:dLbls>
          <c:showLegendKey val="0"/>
          <c:showVal val="1"/>
          <c:showCatName val="1"/>
          <c:showSerName val="0"/>
          <c:showPercent val="0"/>
          <c:showBubbleSize val="0"/>
          <c:showLeaderLines val="1"/>
        </c:dLbls>
        <c:firstSliceAng val="0"/>
      </c:pieChart>
      <c:spPr>
        <a:noFill/>
        <a:ln>
          <a:noFill/>
        </a:ln>
        <a:effectLst/>
      </c:spPr>
    </c:plotArea>
    <c:plotVisOnly val="1"/>
    <c:dispBlanksAs val="gap"/>
    <c:showDLblsOverMax val="0"/>
    <c:extLst>
      <c:ext uri="{0b15fc19-7d7d-44ad-8c2d-2c3a37ce22c3}">
        <chartProps xmlns="https://web.wps.cn/et/2018/main" chartId="{f6926d06-0636-494b-b4c4-0c5162bf02b8}"/>
      </c:ext>
    </c:extLst>
  </c:chart>
  <c:spPr>
    <a:noFill/>
    <a:ln w="6350" cap="flat" cmpd="sng" algn="ctr">
      <a:noFill/>
      <a:round/>
    </a:ln>
    <a:effectLst/>
  </c:spPr>
  <c:txPr>
    <a:bodyPr/>
    <a:lstStyle/>
    <a:p>
      <a:pPr>
        <a:defRPr lang="zh-CN">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forceAA="0"/>
          <a:lstStyle/>
          <a:p>
            <a:pPr defTabSz="914400">
              <a:defRPr lang="zh-CN" sz="1400" b="0" i="0" u="none" strike="noStrike" kern="1200" spc="0" baseline="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r>
              <a:rPr b="1">
                <a:latin typeface="+mn-lt"/>
                <a:ea typeface="+mn-lt"/>
              </a:rPr>
              <a:t>兰考</a:t>
            </a:r>
            <a:endParaRPr b="1">
              <a:latin typeface="+mn-lt"/>
              <a:ea typeface="+mn-lt"/>
            </a:endParaRPr>
          </a:p>
        </c:rich>
      </c:tx>
      <c:layout/>
      <c:overlay val="0"/>
      <c:spPr>
        <a:noFill/>
        <a:ln>
          <a:noFill/>
        </a:ln>
        <a:effectLst/>
      </c:spPr>
    </c:title>
    <c:autoTitleDeleted val="0"/>
    <c:plotArea>
      <c:layout/>
      <c:pieChart>
        <c:varyColors val="1"/>
        <c:ser>
          <c:idx val="0"/>
          <c:order val="0"/>
          <c:spPr>
            <a:gradFill>
              <a:gsLst>
                <a:gs pos="0">
                  <a:schemeClr val="accent1">
                    <a:lumMod val="60000"/>
                    <a:lumOff val="40000"/>
                  </a:schemeClr>
                </a:gs>
                <a:gs pos="100000">
                  <a:schemeClr val="accent1">
                    <a:lumMod val="75000"/>
                  </a:schemeClr>
                </a:gs>
              </a:gsLst>
              <a:lin ang="5400000" scaled="1"/>
            </a:gradFill>
            <a:ln w="25400">
              <a:solidFill>
                <a:schemeClr val="accent1"/>
              </a:solidFill>
            </a:ln>
            <a:effectLst>
              <a:outerShdw blurRad="50800" dist="38100" dir="2700000" algn="tl" rotWithShape="0">
                <a:schemeClr val="accent1">
                  <a:alpha val="40000"/>
                </a:schemeClr>
              </a:outerShdw>
            </a:effectLst>
          </c:spPr>
          <c:explosion val="0"/>
          <c:dPt>
            <c:idx val="0"/>
            <c:bubble3D val="0"/>
            <c:spPr>
              <a:gradFill>
                <a:gsLst>
                  <a:gs pos="0">
                    <a:schemeClr val="accent1">
                      <a:lumMod val="60000"/>
                      <a:lumOff val="40000"/>
                    </a:schemeClr>
                  </a:gs>
                  <a:gs pos="100000">
                    <a:schemeClr val="accent1">
                      <a:lumMod val="75000"/>
                    </a:schemeClr>
                  </a:gs>
                </a:gsLst>
                <a:lin ang="5400000" scaled="1"/>
              </a:gradFill>
              <a:ln w="25400">
                <a:solidFill>
                  <a:schemeClr val="accent1"/>
                </a:solidFill>
              </a:ln>
              <a:effectLst>
                <a:outerShdw blurRad="50800" dist="38100" dir="2700000" algn="tl" rotWithShape="0">
                  <a:schemeClr val="accent1">
                    <a:alpha val="40000"/>
                  </a:schemeClr>
                </a:outerShdw>
              </a:effectLst>
            </c:spPr>
          </c:dPt>
          <c:dPt>
            <c:idx val="1"/>
            <c:bubble3D val="0"/>
            <c:spPr>
              <a:gradFill>
                <a:gsLst>
                  <a:gs pos="0">
                    <a:schemeClr val="accent2">
                      <a:lumMod val="60000"/>
                      <a:lumOff val="40000"/>
                    </a:schemeClr>
                  </a:gs>
                  <a:gs pos="100000">
                    <a:schemeClr val="accent2">
                      <a:lumMod val="75000"/>
                    </a:schemeClr>
                  </a:gs>
                </a:gsLst>
                <a:lin ang="5400000" scaled="1"/>
              </a:gradFill>
              <a:ln w="25400">
                <a:solidFill>
                  <a:schemeClr val="accent2"/>
                </a:solidFill>
              </a:ln>
              <a:effectLst>
                <a:outerShdw blurRad="50800" dist="38100" dir="2700000" algn="tl" rotWithShape="0">
                  <a:schemeClr val="accent2">
                    <a:alpha val="40000"/>
                  </a:schemeClr>
                </a:outerShdw>
              </a:effectLst>
            </c:spPr>
          </c:dPt>
          <c:dPt>
            <c:idx val="2"/>
            <c:bubble3D val="0"/>
            <c:spPr>
              <a:gradFill>
                <a:gsLst>
                  <a:gs pos="0">
                    <a:schemeClr val="accent3">
                      <a:lumMod val="40000"/>
                      <a:lumOff val="60000"/>
                    </a:schemeClr>
                  </a:gs>
                  <a:gs pos="100000">
                    <a:schemeClr val="accent3">
                      <a:lumMod val="75000"/>
                    </a:schemeClr>
                  </a:gs>
                </a:gsLst>
                <a:lin ang="5400000" scaled="1"/>
              </a:gradFill>
              <a:ln w="25400">
                <a:solidFill>
                  <a:schemeClr val="accent3"/>
                </a:solidFill>
              </a:ln>
              <a:effectLst>
                <a:outerShdw blurRad="50800" dist="38100" dir="2700000" algn="tl" rotWithShape="0">
                  <a:schemeClr val="accent3">
                    <a:alpha val="40000"/>
                  </a:schemeClr>
                </a:outerShdw>
              </a:effectLst>
            </c:spPr>
          </c:dPt>
          <c:dPt>
            <c:idx val="3"/>
            <c:bubble3D val="0"/>
            <c:spPr>
              <a:gradFill>
                <a:gsLst>
                  <a:gs pos="0">
                    <a:schemeClr val="accent4">
                      <a:lumMod val="40000"/>
                      <a:lumOff val="60000"/>
                    </a:schemeClr>
                  </a:gs>
                  <a:gs pos="100000">
                    <a:schemeClr val="accent4">
                      <a:lumMod val="75000"/>
                    </a:schemeClr>
                  </a:gs>
                </a:gsLst>
                <a:lin ang="5400000" scaled="1"/>
              </a:gradFill>
              <a:ln w="25400">
                <a:solidFill>
                  <a:schemeClr val="accent4"/>
                </a:solidFill>
              </a:ln>
              <a:effectLst>
                <a:outerShdw blurRad="50800" dist="38100" dir="2700000" algn="tl" rotWithShape="0">
                  <a:schemeClr val="accent4">
                    <a:alpha val="40000"/>
                  </a:schemeClr>
                </a:outerShdw>
              </a:effectLst>
            </c:spPr>
          </c:dPt>
          <c:dLbls>
            <c:numFmt formatCode="General" sourceLinked="1"/>
            <c:spPr>
              <a:noFill/>
              <a:ln>
                <a:noFill/>
              </a:ln>
              <a:effectLst/>
            </c:spPr>
            <c:txPr>
              <a:bodyPr rot="0" spcFirstLastPara="0" vertOverflow="ellipsis" vert="horz" wrap="square" lIns="38100" tIns="19050" rIns="38100" bIns="19050" anchor="ctr" anchorCtr="1" forceAA="0">
                <a:spAutoFit/>
              </a:bodyPr>
              <a:lstStyle/>
              <a:p>
                <a:pPr>
                  <a:defRPr lang="zh-CN" sz="900" b="0" i="0" u="none" strike="noStrike" kern="1200" cap="none" spc="0" normalizeH="0" baseline="0">
                    <a:solidFill>
                      <a:schemeClr val="tx1"/>
                    </a:solidFill>
                    <a:uFill>
                      <a:solidFill>
                        <a:schemeClr val="bg1"/>
                      </a:solidFill>
                    </a:uFill>
                    <a:latin typeface="宋体" panose="02010600030101010101" pitchFamily="2" charset="-122"/>
                    <a:ea typeface="宋体" panose="02010600030101010101" pitchFamily="2" charset="-122"/>
                    <a:cs typeface="微软雅黑" panose="020B0503020204020204" pitchFamily="34" charset="-122"/>
                    <a:sym typeface="微软雅黑" panose="020B0503020204020204" pitchFamily="34" charset="-122"/>
                  </a:defRPr>
                </a:pPr>
              </a:p>
            </c:txPr>
            <c:dLblPos val="inEnd"/>
            <c:showLegendKey val="0"/>
            <c:showVal val="1"/>
            <c:showCatName val="1"/>
            <c:showSerName val="0"/>
            <c:showPercent val="0"/>
            <c:showBubbleSize val="0"/>
            <c:separator>
</c:separator>
            <c:showLeaderLines val="0"/>
            <c:extLst>
              <c:ext xmlns:c15="http://schemas.microsoft.com/office/drawing/2012/chart" uri="{CE6537A1-D6FC-4f65-9D91-7224C49458BB}">
                <c15:layout/>
                <c15:showLeaderLines val="0"/>
                <c15:leaderLines>
                  <c:spPr>
                    <a:ln w="9525" cap="flat" cmpd="sng" algn="ctr">
                      <a:solidFill>
                        <a:schemeClr val="tx1">
                          <a:lumMod val="35000"/>
                          <a:lumOff val="65000"/>
                        </a:schemeClr>
                      </a:solidFill>
                      <a:round/>
                    </a:ln>
                    <a:effectLst/>
                  </c:spPr>
                </c15:leaderLines>
              </c:ext>
            </c:extLst>
          </c:dLbls>
          <c:cat>
            <c:strRef>
              <c:f>[三分部12月市场小结.xlsx]Sheet1!$H$208:$K$208</c:f>
              <c:strCache>
                <c:ptCount val="4"/>
                <c:pt idx="0">
                  <c:v>口味王</c:v>
                </c:pt>
                <c:pt idx="1">
                  <c:v>和成天下</c:v>
                </c:pt>
                <c:pt idx="2">
                  <c:v>主竞品</c:v>
                </c:pt>
                <c:pt idx="3">
                  <c:v>其他</c:v>
                </c:pt>
              </c:strCache>
            </c:strRef>
          </c:cat>
          <c:val>
            <c:numRef>
              <c:f>[三分部12月市场小结.xlsx]Sheet1!$H$209:$K$209</c:f>
              <c:numCache>
                <c:formatCode>0%</c:formatCode>
                <c:ptCount val="4"/>
                <c:pt idx="0">
                  <c:v>0.39</c:v>
                </c:pt>
                <c:pt idx="1">
                  <c:v>0.23</c:v>
                </c:pt>
                <c:pt idx="2">
                  <c:v>0.08</c:v>
                </c:pt>
                <c:pt idx="3">
                  <c:v>0.3</c:v>
                </c:pt>
              </c:numCache>
            </c:numRef>
          </c:val>
        </c:ser>
        <c:dLbls>
          <c:showLegendKey val="0"/>
          <c:showVal val="1"/>
          <c:showCatName val="1"/>
          <c:showSerName val="0"/>
          <c:showPercent val="0"/>
          <c:showBubbleSize val="0"/>
          <c:showLeaderLines val="1"/>
        </c:dLbls>
        <c:firstSliceAng val="0"/>
      </c:pieChart>
      <c:spPr>
        <a:noFill/>
        <a:ln>
          <a:noFill/>
        </a:ln>
        <a:effectLst/>
      </c:spPr>
    </c:plotArea>
    <c:plotVisOnly val="1"/>
    <c:dispBlanksAs val="gap"/>
    <c:showDLblsOverMax val="0"/>
    <c:extLst>
      <c:ext uri="{0b15fc19-7d7d-44ad-8c2d-2c3a37ce22c3}">
        <chartProps xmlns="https://web.wps.cn/et/2018/main" chartId="{d6e47f45-bc1a-481b-a9d3-dd256b5354a4}"/>
      </c:ext>
    </c:extLst>
  </c:chart>
  <c:spPr>
    <a:noFill/>
    <a:ln w="6350" cap="flat" cmpd="sng" algn="ctr">
      <a:noFill/>
      <a:round/>
    </a:ln>
    <a:effectLst/>
  </c:spPr>
  <c:txPr>
    <a:bodyPr/>
    <a:lstStyle/>
    <a:p>
      <a:pPr>
        <a:defRPr lang="zh-CN">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forceAA="0"/>
          <a:lstStyle/>
          <a:p>
            <a:pPr defTabSz="914400">
              <a:defRPr lang="zh-CN" sz="1400" b="0" i="0" u="none" strike="noStrike" kern="1200" spc="0" baseline="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r>
              <a:rPr b="1">
                <a:latin typeface="+mn-lt"/>
                <a:ea typeface="+mn-lt"/>
              </a:rPr>
              <a:t>通许</a:t>
            </a:r>
            <a:endParaRPr b="1">
              <a:latin typeface="+mn-lt"/>
              <a:ea typeface="+mn-lt"/>
            </a:endParaRPr>
          </a:p>
        </c:rich>
      </c:tx>
      <c:layout/>
      <c:overlay val="0"/>
      <c:spPr>
        <a:noFill/>
        <a:ln>
          <a:noFill/>
        </a:ln>
        <a:effectLst/>
      </c:spPr>
    </c:title>
    <c:autoTitleDeleted val="0"/>
    <c:plotArea>
      <c:layout/>
      <c:pieChart>
        <c:varyColors val="1"/>
        <c:ser>
          <c:idx val="0"/>
          <c:order val="0"/>
          <c:spPr>
            <a:gradFill>
              <a:gsLst>
                <a:gs pos="0">
                  <a:schemeClr val="accent1">
                    <a:lumMod val="60000"/>
                    <a:lumOff val="40000"/>
                  </a:schemeClr>
                </a:gs>
                <a:gs pos="100000">
                  <a:schemeClr val="accent1">
                    <a:lumMod val="75000"/>
                  </a:schemeClr>
                </a:gs>
              </a:gsLst>
              <a:lin ang="5400000" scaled="1"/>
            </a:gradFill>
            <a:ln w="25400">
              <a:solidFill>
                <a:schemeClr val="accent1"/>
              </a:solidFill>
            </a:ln>
            <a:effectLst>
              <a:outerShdw blurRad="50800" dist="38100" dir="2700000" algn="tl" rotWithShape="0">
                <a:schemeClr val="accent1">
                  <a:alpha val="40000"/>
                </a:schemeClr>
              </a:outerShdw>
            </a:effectLst>
          </c:spPr>
          <c:explosion val="0"/>
          <c:dPt>
            <c:idx val="0"/>
            <c:bubble3D val="0"/>
            <c:spPr>
              <a:gradFill>
                <a:gsLst>
                  <a:gs pos="0">
                    <a:schemeClr val="accent1">
                      <a:lumMod val="60000"/>
                      <a:lumOff val="40000"/>
                    </a:schemeClr>
                  </a:gs>
                  <a:gs pos="100000">
                    <a:schemeClr val="accent1">
                      <a:lumMod val="75000"/>
                    </a:schemeClr>
                  </a:gs>
                </a:gsLst>
                <a:lin ang="5400000" scaled="1"/>
              </a:gradFill>
              <a:ln w="25400">
                <a:solidFill>
                  <a:schemeClr val="accent1"/>
                </a:solidFill>
              </a:ln>
              <a:effectLst>
                <a:outerShdw blurRad="50800" dist="38100" dir="2700000" algn="tl" rotWithShape="0">
                  <a:schemeClr val="accent1">
                    <a:alpha val="40000"/>
                  </a:schemeClr>
                </a:outerShdw>
              </a:effectLst>
            </c:spPr>
          </c:dPt>
          <c:dPt>
            <c:idx val="1"/>
            <c:bubble3D val="0"/>
            <c:spPr>
              <a:gradFill>
                <a:gsLst>
                  <a:gs pos="0">
                    <a:schemeClr val="accent2">
                      <a:lumMod val="60000"/>
                      <a:lumOff val="40000"/>
                    </a:schemeClr>
                  </a:gs>
                  <a:gs pos="100000">
                    <a:schemeClr val="accent2">
                      <a:lumMod val="75000"/>
                    </a:schemeClr>
                  </a:gs>
                </a:gsLst>
                <a:lin ang="5400000" scaled="1"/>
              </a:gradFill>
              <a:ln w="25400">
                <a:solidFill>
                  <a:schemeClr val="accent2"/>
                </a:solidFill>
              </a:ln>
              <a:effectLst>
                <a:outerShdw blurRad="50800" dist="38100" dir="2700000" algn="tl" rotWithShape="0">
                  <a:schemeClr val="accent2">
                    <a:alpha val="40000"/>
                  </a:schemeClr>
                </a:outerShdw>
              </a:effectLst>
            </c:spPr>
          </c:dPt>
          <c:dPt>
            <c:idx val="2"/>
            <c:bubble3D val="0"/>
            <c:spPr>
              <a:gradFill>
                <a:gsLst>
                  <a:gs pos="0">
                    <a:schemeClr val="accent3">
                      <a:lumMod val="40000"/>
                      <a:lumOff val="60000"/>
                    </a:schemeClr>
                  </a:gs>
                  <a:gs pos="100000">
                    <a:schemeClr val="accent3">
                      <a:lumMod val="75000"/>
                    </a:schemeClr>
                  </a:gs>
                </a:gsLst>
                <a:lin ang="5400000" scaled="1"/>
              </a:gradFill>
              <a:ln w="25400">
                <a:solidFill>
                  <a:schemeClr val="accent3"/>
                </a:solidFill>
              </a:ln>
              <a:effectLst>
                <a:outerShdw blurRad="50800" dist="38100" dir="2700000" algn="tl" rotWithShape="0">
                  <a:schemeClr val="accent3">
                    <a:alpha val="40000"/>
                  </a:schemeClr>
                </a:outerShdw>
              </a:effectLst>
            </c:spPr>
          </c:dPt>
          <c:dPt>
            <c:idx val="3"/>
            <c:bubble3D val="0"/>
            <c:spPr>
              <a:gradFill>
                <a:gsLst>
                  <a:gs pos="0">
                    <a:schemeClr val="accent4">
                      <a:lumMod val="40000"/>
                      <a:lumOff val="60000"/>
                    </a:schemeClr>
                  </a:gs>
                  <a:gs pos="100000">
                    <a:schemeClr val="accent4">
                      <a:lumMod val="75000"/>
                    </a:schemeClr>
                  </a:gs>
                </a:gsLst>
                <a:lin ang="5400000" scaled="1"/>
              </a:gradFill>
              <a:ln w="25400">
                <a:solidFill>
                  <a:schemeClr val="accent4"/>
                </a:solidFill>
              </a:ln>
              <a:effectLst>
                <a:outerShdw blurRad="50800" dist="38100" dir="2700000" algn="tl" rotWithShape="0">
                  <a:schemeClr val="accent4">
                    <a:alpha val="40000"/>
                  </a:schemeClr>
                </a:outerShdw>
              </a:effectLst>
            </c:spPr>
          </c:dPt>
          <c:dLbls>
            <c:numFmt formatCode="General" sourceLinked="1"/>
            <c:spPr>
              <a:noFill/>
              <a:ln>
                <a:noFill/>
              </a:ln>
              <a:effectLst/>
            </c:spPr>
            <c:txPr>
              <a:bodyPr rot="0" spcFirstLastPara="0" vertOverflow="ellipsis" vert="horz" wrap="square" lIns="38100" tIns="19050" rIns="38100" bIns="19050" anchor="ctr" anchorCtr="1" forceAA="0">
                <a:spAutoFit/>
              </a:bodyPr>
              <a:lstStyle/>
              <a:p>
                <a:pPr>
                  <a:defRPr lang="zh-CN" sz="900" b="0" i="0" u="none" strike="noStrike" kern="1200" cap="none" spc="0" normalizeH="0" baseline="0">
                    <a:solidFill>
                      <a:schemeClr val="tx1"/>
                    </a:solidFill>
                    <a:uFill>
                      <a:solidFill>
                        <a:schemeClr val="bg1"/>
                      </a:solidFill>
                    </a:uFill>
                    <a:latin typeface="宋体" panose="02010600030101010101" pitchFamily="2" charset="-122"/>
                    <a:ea typeface="宋体" panose="02010600030101010101" pitchFamily="2" charset="-122"/>
                    <a:cs typeface="微软雅黑" panose="020B0503020204020204" pitchFamily="34" charset="-122"/>
                    <a:sym typeface="微软雅黑" panose="020B0503020204020204" pitchFamily="34" charset="-122"/>
                  </a:defRPr>
                </a:pPr>
              </a:p>
            </c:txPr>
            <c:dLblPos val="inEnd"/>
            <c:showLegendKey val="0"/>
            <c:showVal val="1"/>
            <c:showCatName val="1"/>
            <c:showSerName val="0"/>
            <c:showPercent val="0"/>
            <c:showBubbleSize val="0"/>
            <c:separator>
</c:separator>
            <c:showLeaderLines val="0"/>
            <c:extLst>
              <c:ext xmlns:c15="http://schemas.microsoft.com/office/drawing/2012/chart" uri="{CE6537A1-D6FC-4f65-9D91-7224C49458BB}">
                <c15:layout/>
                <c15:showLeaderLines val="0"/>
                <c15:leaderLines>
                  <c:spPr>
                    <a:ln w="9525" cap="flat" cmpd="sng" algn="ctr">
                      <a:solidFill>
                        <a:schemeClr val="tx1">
                          <a:lumMod val="35000"/>
                          <a:lumOff val="65000"/>
                        </a:schemeClr>
                      </a:solidFill>
                      <a:round/>
                    </a:ln>
                    <a:effectLst/>
                  </c:spPr>
                </c15:leaderLines>
              </c:ext>
            </c:extLst>
          </c:dLbls>
          <c:cat>
            <c:strRef>
              <c:f>[三分部12月市场小结.xlsx]Sheet1!$E$229:$H$229</c:f>
              <c:strCache>
                <c:ptCount val="4"/>
                <c:pt idx="0">
                  <c:v>口味王</c:v>
                </c:pt>
                <c:pt idx="1">
                  <c:v>和成天下</c:v>
                </c:pt>
                <c:pt idx="2">
                  <c:v>主竞品</c:v>
                </c:pt>
                <c:pt idx="3">
                  <c:v>其他</c:v>
                </c:pt>
              </c:strCache>
            </c:strRef>
          </c:cat>
          <c:val>
            <c:numRef>
              <c:f>[三分部12月市场小结.xlsx]Sheet1!$E$230:$H$230</c:f>
              <c:numCache>
                <c:formatCode>0%</c:formatCode>
                <c:ptCount val="4"/>
                <c:pt idx="0">
                  <c:v>0.4</c:v>
                </c:pt>
                <c:pt idx="1">
                  <c:v>0.25</c:v>
                </c:pt>
                <c:pt idx="2">
                  <c:v>0.08</c:v>
                </c:pt>
                <c:pt idx="3">
                  <c:v>0.27</c:v>
                </c:pt>
              </c:numCache>
            </c:numRef>
          </c:val>
        </c:ser>
        <c:dLbls>
          <c:showLegendKey val="0"/>
          <c:showVal val="1"/>
          <c:showCatName val="1"/>
          <c:showSerName val="0"/>
          <c:showPercent val="0"/>
          <c:showBubbleSize val="0"/>
          <c:showLeaderLines val="1"/>
        </c:dLbls>
        <c:firstSliceAng val="0"/>
      </c:pieChart>
      <c:spPr>
        <a:noFill/>
        <a:ln>
          <a:noFill/>
        </a:ln>
        <a:effectLst/>
      </c:spPr>
    </c:plotArea>
    <c:plotVisOnly val="1"/>
    <c:dispBlanksAs val="gap"/>
    <c:showDLblsOverMax val="0"/>
    <c:extLst>
      <c:ext uri="{0b15fc19-7d7d-44ad-8c2d-2c3a37ce22c3}">
        <chartProps xmlns="https://web.wps.cn/et/2018/main" chartId="{8664b7ed-3f98-4f91-b033-73219ec1959f}"/>
      </c:ext>
    </c:extLst>
  </c:chart>
  <c:spPr>
    <a:noFill/>
    <a:ln w="6350" cap="flat" cmpd="sng" algn="ctr">
      <a:noFill/>
      <a:round/>
    </a:ln>
    <a:effectLst/>
  </c:spPr>
  <c:txPr>
    <a:bodyPr/>
    <a:lstStyle/>
    <a:p>
      <a:pPr>
        <a:defRPr lang="zh-CN">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forceAA="0"/>
          <a:lstStyle/>
          <a:p>
            <a:pPr defTabSz="914400">
              <a:defRPr lang="zh-CN" sz="1400" b="0" i="0" u="none" strike="noStrike" kern="1200" spc="0" baseline="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r>
              <a:rPr b="1">
                <a:latin typeface="+mn-lt"/>
                <a:ea typeface="+mn-lt"/>
              </a:rPr>
              <a:t>淮阳</a:t>
            </a:r>
            <a:endParaRPr b="1">
              <a:latin typeface="+mn-lt"/>
              <a:ea typeface="+mn-lt"/>
            </a:endParaRPr>
          </a:p>
        </c:rich>
      </c:tx>
      <c:layout/>
      <c:overlay val="0"/>
      <c:spPr>
        <a:noFill/>
        <a:ln>
          <a:noFill/>
        </a:ln>
        <a:effectLst/>
      </c:spPr>
    </c:title>
    <c:autoTitleDeleted val="0"/>
    <c:plotArea>
      <c:layout/>
      <c:pieChart>
        <c:varyColors val="1"/>
        <c:ser>
          <c:idx val="0"/>
          <c:order val="0"/>
          <c:spPr>
            <a:gradFill>
              <a:gsLst>
                <a:gs pos="0">
                  <a:schemeClr val="accent1">
                    <a:lumMod val="60000"/>
                    <a:lumOff val="40000"/>
                  </a:schemeClr>
                </a:gs>
                <a:gs pos="100000">
                  <a:schemeClr val="accent1">
                    <a:lumMod val="75000"/>
                  </a:schemeClr>
                </a:gs>
              </a:gsLst>
              <a:lin ang="5400000" scaled="1"/>
            </a:gradFill>
            <a:ln w="25400">
              <a:solidFill>
                <a:schemeClr val="accent1"/>
              </a:solidFill>
            </a:ln>
            <a:effectLst>
              <a:outerShdw blurRad="50800" dist="38100" dir="2700000" algn="tl" rotWithShape="0">
                <a:schemeClr val="accent1">
                  <a:alpha val="40000"/>
                </a:schemeClr>
              </a:outerShdw>
            </a:effectLst>
          </c:spPr>
          <c:explosion val="0"/>
          <c:dPt>
            <c:idx val="0"/>
            <c:bubble3D val="0"/>
            <c:spPr>
              <a:gradFill>
                <a:gsLst>
                  <a:gs pos="0">
                    <a:schemeClr val="accent1">
                      <a:lumMod val="60000"/>
                      <a:lumOff val="40000"/>
                    </a:schemeClr>
                  </a:gs>
                  <a:gs pos="100000">
                    <a:schemeClr val="accent1">
                      <a:lumMod val="75000"/>
                    </a:schemeClr>
                  </a:gs>
                </a:gsLst>
                <a:lin ang="5400000" scaled="1"/>
              </a:gradFill>
              <a:ln w="25400">
                <a:solidFill>
                  <a:schemeClr val="accent1"/>
                </a:solidFill>
              </a:ln>
              <a:effectLst>
                <a:outerShdw blurRad="50800" dist="38100" dir="2700000" algn="tl" rotWithShape="0">
                  <a:schemeClr val="accent1">
                    <a:alpha val="40000"/>
                  </a:schemeClr>
                </a:outerShdw>
              </a:effectLst>
            </c:spPr>
          </c:dPt>
          <c:dPt>
            <c:idx val="1"/>
            <c:bubble3D val="0"/>
            <c:spPr>
              <a:gradFill>
                <a:gsLst>
                  <a:gs pos="0">
                    <a:schemeClr val="accent2">
                      <a:lumMod val="60000"/>
                      <a:lumOff val="40000"/>
                    </a:schemeClr>
                  </a:gs>
                  <a:gs pos="100000">
                    <a:schemeClr val="accent2">
                      <a:lumMod val="75000"/>
                    </a:schemeClr>
                  </a:gs>
                </a:gsLst>
                <a:lin ang="5400000" scaled="1"/>
              </a:gradFill>
              <a:ln w="25400">
                <a:solidFill>
                  <a:schemeClr val="accent2"/>
                </a:solidFill>
              </a:ln>
              <a:effectLst>
                <a:outerShdw blurRad="50800" dist="38100" dir="2700000" algn="tl" rotWithShape="0">
                  <a:schemeClr val="accent2">
                    <a:alpha val="40000"/>
                  </a:schemeClr>
                </a:outerShdw>
              </a:effectLst>
            </c:spPr>
          </c:dPt>
          <c:dPt>
            <c:idx val="2"/>
            <c:bubble3D val="0"/>
            <c:spPr>
              <a:gradFill>
                <a:gsLst>
                  <a:gs pos="0">
                    <a:schemeClr val="accent3">
                      <a:lumMod val="40000"/>
                      <a:lumOff val="60000"/>
                    </a:schemeClr>
                  </a:gs>
                  <a:gs pos="100000">
                    <a:schemeClr val="accent3">
                      <a:lumMod val="75000"/>
                    </a:schemeClr>
                  </a:gs>
                </a:gsLst>
                <a:lin ang="5400000" scaled="1"/>
              </a:gradFill>
              <a:ln w="25400">
                <a:solidFill>
                  <a:schemeClr val="accent3"/>
                </a:solidFill>
              </a:ln>
              <a:effectLst>
                <a:outerShdw blurRad="50800" dist="38100" dir="2700000" algn="tl" rotWithShape="0">
                  <a:schemeClr val="accent3">
                    <a:alpha val="40000"/>
                  </a:schemeClr>
                </a:outerShdw>
              </a:effectLst>
            </c:spPr>
          </c:dPt>
          <c:dPt>
            <c:idx val="3"/>
            <c:bubble3D val="0"/>
            <c:spPr>
              <a:gradFill>
                <a:gsLst>
                  <a:gs pos="0">
                    <a:schemeClr val="accent4">
                      <a:lumMod val="40000"/>
                      <a:lumOff val="60000"/>
                    </a:schemeClr>
                  </a:gs>
                  <a:gs pos="100000">
                    <a:schemeClr val="accent4">
                      <a:lumMod val="75000"/>
                    </a:schemeClr>
                  </a:gs>
                </a:gsLst>
                <a:lin ang="5400000" scaled="1"/>
              </a:gradFill>
              <a:ln w="25400">
                <a:solidFill>
                  <a:schemeClr val="accent4"/>
                </a:solidFill>
              </a:ln>
              <a:effectLst>
                <a:outerShdw blurRad="50800" dist="38100" dir="2700000" algn="tl" rotWithShape="0">
                  <a:schemeClr val="accent4">
                    <a:alpha val="40000"/>
                  </a:schemeClr>
                </a:outerShdw>
              </a:effectLst>
            </c:spPr>
          </c:dPt>
          <c:dLbls>
            <c:numFmt formatCode="General" sourceLinked="1"/>
            <c:spPr>
              <a:noFill/>
              <a:ln>
                <a:noFill/>
              </a:ln>
              <a:effectLst/>
            </c:spPr>
            <c:txPr>
              <a:bodyPr rot="0" spcFirstLastPara="0" vertOverflow="ellipsis" vert="horz" wrap="square" lIns="38100" tIns="19050" rIns="38100" bIns="19050" anchor="ctr" anchorCtr="1" forceAA="0">
                <a:spAutoFit/>
              </a:bodyPr>
              <a:lstStyle/>
              <a:p>
                <a:pPr>
                  <a:defRPr lang="zh-CN" sz="900" b="0" i="0" u="none" strike="noStrike" kern="1200" cap="none" spc="0" normalizeH="0" baseline="0">
                    <a:solidFill>
                      <a:schemeClr val="tx1"/>
                    </a:solidFill>
                    <a:uFill>
                      <a:solidFill>
                        <a:schemeClr val="bg1"/>
                      </a:solidFill>
                    </a:uFill>
                    <a:latin typeface="宋体" panose="02010600030101010101" pitchFamily="2" charset="-122"/>
                    <a:ea typeface="宋体" panose="02010600030101010101" pitchFamily="2" charset="-122"/>
                    <a:cs typeface="微软雅黑" panose="020B0503020204020204" pitchFamily="34" charset="-122"/>
                    <a:sym typeface="微软雅黑" panose="020B0503020204020204" pitchFamily="34" charset="-122"/>
                  </a:defRPr>
                </a:pPr>
              </a:p>
            </c:txPr>
            <c:dLblPos val="inEnd"/>
            <c:showLegendKey val="0"/>
            <c:showVal val="1"/>
            <c:showCatName val="1"/>
            <c:showSerName val="0"/>
            <c:showPercent val="0"/>
            <c:showBubbleSize val="0"/>
            <c:separator>
</c:separator>
            <c:showLeaderLines val="0"/>
            <c:extLst>
              <c:ext xmlns:c15="http://schemas.microsoft.com/office/drawing/2012/chart" uri="{CE6537A1-D6FC-4f65-9D91-7224C49458BB}">
                <c15:layout/>
                <c15:showLeaderLines val="0"/>
                <c15:leaderLines>
                  <c:spPr>
                    <a:ln w="9525" cap="flat" cmpd="sng" algn="ctr">
                      <a:solidFill>
                        <a:schemeClr val="tx1">
                          <a:lumMod val="35000"/>
                          <a:lumOff val="65000"/>
                        </a:schemeClr>
                      </a:solidFill>
                      <a:round/>
                    </a:ln>
                    <a:effectLst/>
                  </c:spPr>
                </c15:leaderLines>
              </c:ext>
            </c:extLst>
          </c:dLbls>
          <c:cat>
            <c:strRef>
              <c:f>[三分部12月市场小结.xlsx]Sheet1!$E$238:$H$238</c:f>
              <c:strCache>
                <c:ptCount val="4"/>
                <c:pt idx="0">
                  <c:v>口味王</c:v>
                </c:pt>
                <c:pt idx="1">
                  <c:v>和成天下</c:v>
                </c:pt>
                <c:pt idx="2">
                  <c:v>主竞品</c:v>
                </c:pt>
                <c:pt idx="3">
                  <c:v>其他</c:v>
                </c:pt>
              </c:strCache>
            </c:strRef>
          </c:cat>
          <c:val>
            <c:numRef>
              <c:f>[三分部12月市场小结.xlsx]Sheet1!$E$239:$H$239</c:f>
              <c:numCache>
                <c:formatCode>0%</c:formatCode>
                <c:ptCount val="4"/>
                <c:pt idx="0">
                  <c:v>0.42</c:v>
                </c:pt>
                <c:pt idx="1">
                  <c:v>0.28</c:v>
                </c:pt>
                <c:pt idx="2">
                  <c:v>0.1</c:v>
                </c:pt>
                <c:pt idx="3">
                  <c:v>0.2</c:v>
                </c:pt>
              </c:numCache>
            </c:numRef>
          </c:val>
        </c:ser>
        <c:dLbls>
          <c:showLegendKey val="0"/>
          <c:showVal val="1"/>
          <c:showCatName val="1"/>
          <c:showSerName val="0"/>
          <c:showPercent val="0"/>
          <c:showBubbleSize val="0"/>
          <c:showLeaderLines val="1"/>
        </c:dLbls>
        <c:firstSliceAng val="0"/>
      </c:pieChart>
      <c:spPr>
        <a:noFill/>
        <a:ln>
          <a:noFill/>
        </a:ln>
        <a:effectLst/>
      </c:spPr>
    </c:plotArea>
    <c:plotVisOnly val="1"/>
    <c:dispBlanksAs val="gap"/>
    <c:showDLblsOverMax val="0"/>
    <c:extLst>
      <c:ext uri="{0b15fc19-7d7d-44ad-8c2d-2c3a37ce22c3}">
        <chartProps xmlns="https://web.wps.cn/et/2018/main" chartId="{5280dada-2005-467a-aaad-7bbd820bd49f}"/>
      </c:ext>
    </c:extLst>
  </c:chart>
  <c:spPr>
    <a:noFill/>
    <a:ln w="6350" cap="flat" cmpd="sng" algn="ctr">
      <a:noFill/>
      <a:round/>
    </a:ln>
    <a:effectLst/>
  </c:spPr>
  <c:txPr>
    <a:bodyPr/>
    <a:lstStyle/>
    <a:p>
      <a:pPr>
        <a:defRPr lang="zh-CN">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p>
  </c:tx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forceAA="0"/>
          <a:lstStyle/>
          <a:p>
            <a:pPr defTabSz="914400">
              <a:defRPr lang="zh-CN" sz="1400" b="0" i="0" u="none" strike="noStrike" kern="1200" spc="0" baseline="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r>
              <a:rPr b="1">
                <a:latin typeface="+mn-lt"/>
                <a:ea typeface="+mn-lt"/>
              </a:rPr>
              <a:t>上蔡</a:t>
            </a:r>
            <a:endParaRPr b="1">
              <a:latin typeface="+mn-lt"/>
              <a:ea typeface="+mn-lt"/>
            </a:endParaRPr>
          </a:p>
        </c:rich>
      </c:tx>
      <c:layout/>
      <c:overlay val="0"/>
      <c:spPr>
        <a:noFill/>
        <a:ln>
          <a:noFill/>
        </a:ln>
        <a:effectLst/>
      </c:spPr>
    </c:title>
    <c:autoTitleDeleted val="0"/>
    <c:plotArea>
      <c:layout/>
      <c:pieChart>
        <c:varyColors val="1"/>
        <c:ser>
          <c:idx val="0"/>
          <c:order val="0"/>
          <c:spPr>
            <a:gradFill>
              <a:gsLst>
                <a:gs pos="0">
                  <a:schemeClr val="accent1">
                    <a:lumMod val="60000"/>
                    <a:lumOff val="40000"/>
                  </a:schemeClr>
                </a:gs>
                <a:gs pos="100000">
                  <a:schemeClr val="accent1">
                    <a:lumMod val="75000"/>
                  </a:schemeClr>
                </a:gs>
              </a:gsLst>
              <a:lin ang="5400000" scaled="1"/>
            </a:gradFill>
            <a:ln w="25400">
              <a:solidFill>
                <a:schemeClr val="accent1"/>
              </a:solidFill>
            </a:ln>
            <a:effectLst>
              <a:outerShdw blurRad="50800" dist="38100" dir="2700000" algn="tl" rotWithShape="0">
                <a:schemeClr val="accent1">
                  <a:alpha val="40000"/>
                </a:schemeClr>
              </a:outerShdw>
            </a:effectLst>
          </c:spPr>
          <c:explosion val="0"/>
          <c:dPt>
            <c:idx val="0"/>
            <c:bubble3D val="0"/>
            <c:spPr>
              <a:gradFill>
                <a:gsLst>
                  <a:gs pos="0">
                    <a:schemeClr val="accent1">
                      <a:lumMod val="60000"/>
                      <a:lumOff val="40000"/>
                    </a:schemeClr>
                  </a:gs>
                  <a:gs pos="100000">
                    <a:schemeClr val="accent1">
                      <a:lumMod val="75000"/>
                    </a:schemeClr>
                  </a:gs>
                </a:gsLst>
                <a:lin ang="5400000" scaled="1"/>
              </a:gradFill>
              <a:ln w="25400">
                <a:solidFill>
                  <a:schemeClr val="accent1"/>
                </a:solidFill>
              </a:ln>
              <a:effectLst>
                <a:outerShdw blurRad="50800" dist="38100" dir="2700000" algn="tl" rotWithShape="0">
                  <a:schemeClr val="accent1">
                    <a:alpha val="40000"/>
                  </a:schemeClr>
                </a:outerShdw>
              </a:effectLst>
            </c:spPr>
          </c:dPt>
          <c:dPt>
            <c:idx val="1"/>
            <c:bubble3D val="0"/>
            <c:spPr>
              <a:gradFill>
                <a:gsLst>
                  <a:gs pos="0">
                    <a:schemeClr val="accent2">
                      <a:lumMod val="60000"/>
                      <a:lumOff val="40000"/>
                    </a:schemeClr>
                  </a:gs>
                  <a:gs pos="100000">
                    <a:schemeClr val="accent2">
                      <a:lumMod val="75000"/>
                    </a:schemeClr>
                  </a:gs>
                </a:gsLst>
                <a:lin ang="5400000" scaled="1"/>
              </a:gradFill>
              <a:ln w="25400">
                <a:solidFill>
                  <a:schemeClr val="accent2"/>
                </a:solidFill>
              </a:ln>
              <a:effectLst>
                <a:outerShdw blurRad="50800" dist="38100" dir="2700000" algn="tl" rotWithShape="0">
                  <a:schemeClr val="accent2">
                    <a:alpha val="40000"/>
                  </a:schemeClr>
                </a:outerShdw>
              </a:effectLst>
            </c:spPr>
          </c:dPt>
          <c:dPt>
            <c:idx val="2"/>
            <c:bubble3D val="0"/>
            <c:spPr>
              <a:gradFill>
                <a:gsLst>
                  <a:gs pos="0">
                    <a:schemeClr val="accent3">
                      <a:lumMod val="40000"/>
                      <a:lumOff val="60000"/>
                    </a:schemeClr>
                  </a:gs>
                  <a:gs pos="100000">
                    <a:schemeClr val="accent3">
                      <a:lumMod val="75000"/>
                    </a:schemeClr>
                  </a:gs>
                </a:gsLst>
                <a:lin ang="5400000" scaled="1"/>
              </a:gradFill>
              <a:ln w="25400">
                <a:solidFill>
                  <a:schemeClr val="accent3"/>
                </a:solidFill>
              </a:ln>
              <a:effectLst>
                <a:outerShdw blurRad="50800" dist="38100" dir="2700000" algn="tl" rotWithShape="0">
                  <a:schemeClr val="accent3">
                    <a:alpha val="40000"/>
                  </a:schemeClr>
                </a:outerShdw>
              </a:effectLst>
            </c:spPr>
          </c:dPt>
          <c:dPt>
            <c:idx val="3"/>
            <c:bubble3D val="0"/>
            <c:spPr>
              <a:gradFill>
                <a:gsLst>
                  <a:gs pos="0">
                    <a:schemeClr val="accent4">
                      <a:lumMod val="40000"/>
                      <a:lumOff val="60000"/>
                    </a:schemeClr>
                  </a:gs>
                  <a:gs pos="100000">
                    <a:schemeClr val="accent4">
                      <a:lumMod val="75000"/>
                    </a:schemeClr>
                  </a:gs>
                </a:gsLst>
                <a:lin ang="5400000" scaled="1"/>
              </a:gradFill>
              <a:ln w="25400">
                <a:solidFill>
                  <a:schemeClr val="accent4"/>
                </a:solidFill>
              </a:ln>
              <a:effectLst>
                <a:outerShdw blurRad="50800" dist="38100" dir="2700000" algn="tl" rotWithShape="0">
                  <a:schemeClr val="accent4">
                    <a:alpha val="40000"/>
                  </a:schemeClr>
                </a:outerShdw>
              </a:effectLst>
            </c:spPr>
          </c:dPt>
          <c:dLbls>
            <c:numFmt formatCode="General" sourceLinked="1"/>
            <c:spPr>
              <a:noFill/>
              <a:ln>
                <a:noFill/>
              </a:ln>
              <a:effectLst/>
            </c:spPr>
            <c:txPr>
              <a:bodyPr rot="0" spcFirstLastPara="0" vertOverflow="ellipsis" vert="horz" wrap="square" lIns="38100" tIns="19050" rIns="38100" bIns="19050" anchor="ctr" anchorCtr="1" forceAA="0">
                <a:spAutoFit/>
              </a:bodyPr>
              <a:lstStyle/>
              <a:p>
                <a:pPr>
                  <a:defRPr lang="zh-CN" sz="900" b="0" i="0" u="none" strike="noStrike" kern="1200" cap="none" spc="0" normalizeH="0" baseline="0">
                    <a:solidFill>
                      <a:schemeClr val="tx1"/>
                    </a:solidFill>
                    <a:uFill>
                      <a:solidFill>
                        <a:schemeClr val="bg1"/>
                      </a:solidFill>
                    </a:uFill>
                    <a:latin typeface="宋体" panose="02010600030101010101" pitchFamily="2" charset="-122"/>
                    <a:ea typeface="宋体" panose="02010600030101010101" pitchFamily="2" charset="-122"/>
                    <a:cs typeface="微软雅黑" panose="020B0503020204020204" pitchFamily="34" charset="-122"/>
                    <a:sym typeface="微软雅黑" panose="020B0503020204020204" pitchFamily="34" charset="-122"/>
                  </a:defRPr>
                </a:pPr>
              </a:p>
            </c:txPr>
            <c:dLblPos val="inEnd"/>
            <c:showLegendKey val="0"/>
            <c:showVal val="1"/>
            <c:showCatName val="1"/>
            <c:showSerName val="0"/>
            <c:showPercent val="0"/>
            <c:showBubbleSize val="0"/>
            <c:separator>
</c:separator>
            <c:showLeaderLines val="0"/>
            <c:extLst>
              <c:ext xmlns:c15="http://schemas.microsoft.com/office/drawing/2012/chart" uri="{CE6537A1-D6FC-4f65-9D91-7224C49458BB}">
                <c15:layout/>
                <c15:showLeaderLines val="0"/>
                <c15:leaderLines>
                  <c:spPr>
                    <a:ln w="9525" cap="flat" cmpd="sng" algn="ctr">
                      <a:solidFill>
                        <a:schemeClr val="tx1">
                          <a:lumMod val="35000"/>
                          <a:lumOff val="65000"/>
                        </a:schemeClr>
                      </a:solidFill>
                      <a:round/>
                    </a:ln>
                    <a:effectLst/>
                  </c:spPr>
                </c15:leaderLines>
              </c:ext>
            </c:extLst>
          </c:dLbls>
          <c:cat>
            <c:strRef>
              <c:f>[三分部12月市场小结.xlsx]Sheet1!$E$249:$H$249</c:f>
              <c:strCache>
                <c:ptCount val="4"/>
                <c:pt idx="0">
                  <c:v>口味王</c:v>
                </c:pt>
                <c:pt idx="1">
                  <c:v>和成天下</c:v>
                </c:pt>
                <c:pt idx="2">
                  <c:v>主竞品</c:v>
                </c:pt>
                <c:pt idx="3">
                  <c:v>其他</c:v>
                </c:pt>
              </c:strCache>
            </c:strRef>
          </c:cat>
          <c:val>
            <c:numRef>
              <c:f>[三分部12月市场小结.xlsx]Sheet1!$E$250:$H$250</c:f>
              <c:numCache>
                <c:formatCode>0%</c:formatCode>
                <c:ptCount val="4"/>
                <c:pt idx="0">
                  <c:v>0.32</c:v>
                </c:pt>
                <c:pt idx="1">
                  <c:v>0.33</c:v>
                </c:pt>
                <c:pt idx="2">
                  <c:v>0.23</c:v>
                </c:pt>
                <c:pt idx="3">
                  <c:v>0.12</c:v>
                </c:pt>
              </c:numCache>
            </c:numRef>
          </c:val>
        </c:ser>
        <c:dLbls>
          <c:showLegendKey val="0"/>
          <c:showVal val="1"/>
          <c:showCatName val="1"/>
          <c:showSerName val="0"/>
          <c:showPercent val="0"/>
          <c:showBubbleSize val="0"/>
          <c:showLeaderLines val="1"/>
        </c:dLbls>
        <c:firstSliceAng val="0"/>
      </c:pieChart>
      <c:spPr>
        <a:noFill/>
        <a:ln>
          <a:noFill/>
        </a:ln>
        <a:effectLst/>
      </c:spPr>
    </c:plotArea>
    <c:plotVisOnly val="1"/>
    <c:dispBlanksAs val="gap"/>
    <c:showDLblsOverMax val="0"/>
    <c:extLst>
      <c:ext uri="{0b15fc19-7d7d-44ad-8c2d-2c3a37ce22c3}">
        <chartProps xmlns="https://web.wps.cn/et/2018/main" chartId="{e9d6ff2c-abdb-4939-993c-275ccd93edac}"/>
      </c:ext>
    </c:extLst>
  </c:chart>
  <c:spPr>
    <a:solidFill>
      <a:schemeClr val="bg1"/>
    </a:solidFill>
    <a:ln w="6350" cap="flat" cmpd="sng" algn="ctr">
      <a:noFill/>
      <a:round/>
    </a:ln>
    <a:effectLst/>
  </c:spPr>
  <c:txPr>
    <a:bodyPr/>
    <a:lstStyle/>
    <a:p>
      <a:pPr>
        <a:defRPr lang="zh-CN">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100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1">
      <cs:styleClr val="auto"/>
    </cs:fillRef>
    <cs:effectRef idx="0"/>
    <cs:fontRef idx="minor">
      <a:schemeClr val="dk1"/>
    </cs:fontRef>
    <cs:spPr>
      <a:ln>
        <a:noFill/>
      </a:ln>
      <a:effectLst/>
    </cs:spPr>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100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1">
      <cs:styleClr val="auto"/>
    </cs:fillRef>
    <cs:effectRef idx="0"/>
    <cs:fontRef idx="minor">
      <a:schemeClr val="dk1"/>
    </cs:fontRef>
    <cs:spPr>
      <a:ln>
        <a:noFill/>
      </a:ln>
      <a:effectLst/>
    </cs:spPr>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100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1">
      <cs:styleClr val="auto"/>
    </cs:fillRef>
    <cs:effectRef idx="0"/>
    <cs:fontRef idx="minor">
      <a:schemeClr val="dk1"/>
    </cs:fontRef>
    <cs:spPr>
      <a:ln>
        <a:noFill/>
      </a:ln>
      <a:effectLst/>
    </cs:spPr>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100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1">
      <cs:styleClr val="auto"/>
    </cs:fillRef>
    <cs:effectRef idx="0"/>
    <cs:fontRef idx="minor">
      <a:schemeClr val="dk1"/>
    </cs:fontRef>
    <cs:spPr>
      <a:ln>
        <a:noFill/>
      </a:ln>
      <a:effectLst/>
    </cs:spPr>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100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1">
      <cs:styleClr val="auto"/>
    </cs:fillRef>
    <cs:effectRef idx="0"/>
    <cs:fontRef idx="minor">
      <a:schemeClr val="dk1"/>
    </cs:fontRef>
    <cs:spPr>
      <a:ln>
        <a:noFill/>
      </a:ln>
      <a:effectLst/>
    </cs:spPr>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100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1">
      <cs:styleClr val="auto"/>
    </cs:fillRef>
    <cs:effectRef idx="0"/>
    <cs:fontRef idx="minor">
      <a:schemeClr val="dk1"/>
    </cs:fontRef>
    <cs:spPr>
      <a:ln>
        <a:noFill/>
      </a:ln>
      <a:effectLst/>
    </cs:spPr>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100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1">
      <cs:styleClr val="auto"/>
    </cs:fillRef>
    <cs:effectRef idx="0"/>
    <cs:fontRef idx="minor">
      <a:schemeClr val="dk1"/>
    </cs:fontRef>
    <cs:spPr>
      <a:ln>
        <a:noFill/>
      </a:ln>
      <a:effectLst/>
    </cs:spPr>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54810B7-C3EC-4590-9CDD-57AB5697FE35}"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BD7F19B-21FF-427A-B452-A9722EBD2468}"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2250" y="809625"/>
            <a:ext cx="7183438" cy="4040188"/>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663622BD-B18B-4F1D-8806-94D26F577130}"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幻灯片图像占位符 1"/>
          <p:cNvSpPr>
            <a:spLocks noGrp="1" noRot="1" noChangeAspect="1" noTextEdit="1"/>
          </p:cNvSpPr>
          <p:nvPr>
            <p:ph type="sldImg"/>
          </p:nvPr>
        </p:nvSpPr>
        <p:spPr/>
      </p:sp>
      <p:sp>
        <p:nvSpPr>
          <p:cNvPr id="33795"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3796"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3CF1AEF6-6C3F-49C7-80B5-E4DC430996DD}" type="slidenum">
              <a:rPr kumimoji="0" lang="zh-CN" altLang="en-US" sz="1200" b="0" i="0" u="none" strike="noStrike" kern="1200" cap="none" spc="0" normalizeH="0" baseline="0" noProof="0" smtClean="0">
                <a:ln>
                  <a:noFill/>
                </a:ln>
                <a:solidFill>
                  <a:srgbClr val="000000"/>
                </a:solidFill>
                <a:effectLst/>
                <a:uLnTx/>
                <a:uFillTx/>
                <a:latin typeface="Calibri" panose="020F0502020204030204" charset="0"/>
                <a:ea typeface="宋体" panose="02010600030101010101" pitchFamily="2" charset="-122"/>
                <a:cs typeface="+mn-cs"/>
              </a:rPr>
            </a:fld>
            <a:endParaRPr kumimoji="0" lang="zh-CN" altLang="en-US" sz="1200" b="0" i="0" u="none" strike="noStrike" kern="1200" cap="none" spc="0" normalizeH="0" baseline="0" noProof="0">
              <a:ln>
                <a:noFill/>
              </a:ln>
              <a:solidFill>
                <a:srgbClr val="000000"/>
              </a:solidFill>
              <a:effectLst/>
              <a:uLnTx/>
              <a:uFillTx/>
              <a:latin typeface="Calibri" panose="020F0502020204030204" charset="0"/>
              <a:ea typeface="宋体" panose="02010600030101010101" pitchFamily="2" charset="-122"/>
              <a:cs typeface="+mn-c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7649" name="幻灯片图像占位符 1"/>
          <p:cNvSpPr>
            <a:spLocks noGrp="1" noRot="1"/>
          </p:cNvSpPr>
          <p:nvPr>
            <p:ph type="sldImg"/>
          </p:nvPr>
        </p:nvSpPr>
        <p:spPr/>
      </p:sp>
      <p:sp>
        <p:nvSpPr>
          <p:cNvPr id="27650" name="文本占位符 2"/>
          <p:cNvSpPr>
            <a:spLocks noGrp="1"/>
          </p:cNvSpPr>
          <p:nvPr>
            <p:ph type="body"/>
          </p:nvPr>
        </p:nvSpPr>
        <p:spPr/>
        <p:txBody>
          <a:bodyPr wrap="square" lIns="91367" tIns="45683" rIns="91367" bIns="45683" anchor="t" anchorCtr="0"/>
          <a:p>
            <a:pPr lvl="0"/>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C9621299-E2ED-4F60-914D-98EA46D4DE5B}"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630585F-DF6D-4B2F-861D-CDE367FB6F8F}"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C9621299-E2ED-4F60-914D-98EA46D4DE5B}"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630585F-DF6D-4B2F-861D-CDE367FB6F8F}"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C9621299-E2ED-4F60-914D-98EA46D4DE5B}"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630585F-DF6D-4B2F-861D-CDE367FB6F8F}"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C9621299-E2ED-4F60-914D-98EA46D4DE5B}"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630585F-DF6D-4B2F-861D-CDE367FB6F8F}"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C9621299-E2ED-4F60-914D-98EA46D4DE5B}"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E630585F-DF6D-4B2F-861D-CDE367FB6F8F}"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C9621299-E2ED-4F60-914D-98EA46D4DE5B}"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630585F-DF6D-4B2F-861D-CDE367FB6F8F}"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C9621299-E2ED-4F60-914D-98EA46D4DE5B}"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E630585F-DF6D-4B2F-861D-CDE367FB6F8F}"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C9621299-E2ED-4F60-914D-98EA46D4DE5B}"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630585F-DF6D-4B2F-861D-CDE367FB6F8F}"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C9621299-E2ED-4F60-914D-98EA46D4DE5B}"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630585F-DF6D-4B2F-861D-CDE367FB6F8F}"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C9621299-E2ED-4F60-914D-98EA46D4DE5B}"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630585F-DF6D-4B2F-861D-CDE367FB6F8F}"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C9621299-E2ED-4F60-914D-98EA46D4DE5B}"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630585F-DF6D-4B2F-861D-CDE367FB6F8F}"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6_自定义版式">
    <p:spTree>
      <p:nvGrpSpPr>
        <p:cNvPr id="1" name=""/>
        <p:cNvGrpSpPr/>
        <p:nvPr/>
      </p:nvGrpSpPr>
      <p:grpSpPr>
        <a:xfrm>
          <a:off x="0" y="0"/>
          <a:ext cx="0" cy="0"/>
          <a:chOff x="0" y="0"/>
          <a:chExt cx="0" cy="0"/>
        </a:xfrm>
      </p:grpSpPr>
      <p:pic>
        <p:nvPicPr>
          <p:cNvPr id="2097187" name="Picture 3" descr="C:\Users\Administrator\Desktop\无题会话5919.jpg"/>
          <p:cNvPicPr>
            <a:picLocks noChangeAspect="1" noChangeArrowheads="1"/>
          </p:cNvPicPr>
          <p:nvPr userDrawn="1"/>
        </p:nvPicPr>
        <p:blipFill>
          <a:blip r:embed="rId2" cstate="print"/>
          <a:srcRect t="12500" b="6868"/>
          <a:stretch>
            <a:fillRect/>
          </a:stretch>
        </p:blipFill>
        <p:spPr bwMode="auto">
          <a:xfrm>
            <a:off x="1" y="0"/>
            <a:ext cx="12192000" cy="6553200"/>
          </a:xfrm>
          <a:prstGeom prst="rect">
            <a:avLst/>
          </a:prstGeom>
          <a:noFill/>
        </p:spPr>
      </p:pic>
    </p:spTree>
  </p:cSld>
  <p:clrMapOvr>
    <a:masterClrMapping/>
  </p:clrMapOvr>
  <p:transition spd="slow"/>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cSld name="1_标题幻灯片">
    <p:spTree>
      <p:nvGrpSpPr>
        <p:cNvPr id="1" name=""/>
        <p:cNvGrpSpPr/>
        <p:nvPr/>
      </p:nvGrpSpPr>
      <p:grpSpPr>
        <a:xfrm>
          <a:off x="0" y="0"/>
          <a:ext cx="0" cy="0"/>
          <a:chOff x="0" y="0"/>
          <a:chExt cx="0" cy="0"/>
        </a:xfrm>
      </p:grpSpPr>
    </p:spTree>
  </p:cSld>
  <p:clrMapOvr>
    <a:masterClrMapping/>
  </p:clrMapOvr>
  <p:transition spd="slow"/>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C9621299-E2ED-4F60-914D-98EA46D4DE5B}"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630585F-DF6D-4B2F-861D-CDE367FB6F8F}"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C9621299-E2ED-4F60-914D-98EA46D4DE5B}"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630585F-DF6D-4B2F-861D-CDE367FB6F8F}"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C9621299-E2ED-4F60-914D-98EA46D4DE5B}"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630585F-DF6D-4B2F-861D-CDE367FB6F8F}"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C9621299-E2ED-4F60-914D-98EA46D4DE5B}"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630585F-DF6D-4B2F-861D-CDE367FB6F8F}"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C9621299-E2ED-4F60-914D-98EA46D4DE5B}"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E630585F-DF6D-4B2F-861D-CDE367FB6F8F}"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C9621299-E2ED-4F60-914D-98EA46D4DE5B}"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630585F-DF6D-4B2F-861D-CDE367FB6F8F}"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C9621299-E2ED-4F60-914D-98EA46D4DE5B}"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E630585F-DF6D-4B2F-861D-CDE367FB6F8F}" type="slidenum">
              <a:rPr lang="zh-CN" altLang="en-US" smtClean="0"/>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C9621299-E2ED-4F60-914D-98EA46D4DE5B}"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630585F-DF6D-4B2F-861D-CDE367FB6F8F}" type="slidenum">
              <a:rPr lang="zh-CN" altLang="en-US" smtClean="0"/>
            </a:fld>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C9621299-E2ED-4F60-914D-98EA46D4DE5B}"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630585F-DF6D-4B2F-861D-CDE367FB6F8F}" type="slidenum">
              <a:rPr lang="zh-CN" altLang="en-US" smtClean="0"/>
            </a:fld>
            <a:endParaRPr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C9621299-E2ED-4F60-914D-98EA46D4DE5B}"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630585F-DF6D-4B2F-861D-CDE367FB6F8F}" type="slidenum">
              <a:rPr lang="zh-CN" altLang="en-US" smtClean="0"/>
            </a:fld>
            <a:endParaRPr lang="zh-CN" alt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C9621299-E2ED-4F60-914D-98EA46D4DE5B}"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630585F-DF6D-4B2F-861D-CDE367FB6F8F}" type="slidenum">
              <a:rPr lang="zh-CN" altLang="en-US" smtClean="0"/>
            </a:fld>
            <a:endParaRPr lang="zh-CN" alt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6_自定义版式">
    <p:spTree>
      <p:nvGrpSpPr>
        <p:cNvPr id="1" name=""/>
        <p:cNvGrpSpPr/>
        <p:nvPr/>
      </p:nvGrpSpPr>
      <p:grpSpPr>
        <a:xfrm>
          <a:off x="0" y="0"/>
          <a:ext cx="0" cy="0"/>
          <a:chOff x="0" y="0"/>
          <a:chExt cx="0" cy="0"/>
        </a:xfrm>
      </p:grpSpPr>
      <p:pic>
        <p:nvPicPr>
          <p:cNvPr id="2097187" name="Picture 3" descr="C:\Users\Administrator\Desktop\无题会话5919.jpg"/>
          <p:cNvPicPr>
            <a:picLocks noChangeAspect="1" noChangeArrowheads="1"/>
          </p:cNvPicPr>
          <p:nvPr userDrawn="1"/>
        </p:nvPicPr>
        <p:blipFill>
          <a:blip r:embed="rId2" cstate="print"/>
          <a:srcRect t="12500" b="6868"/>
          <a:stretch>
            <a:fillRect/>
          </a:stretch>
        </p:blipFill>
        <p:spPr bwMode="auto">
          <a:xfrm>
            <a:off x="1" y="0"/>
            <a:ext cx="12192000" cy="6553200"/>
          </a:xfrm>
          <a:prstGeom prst="rect">
            <a:avLst/>
          </a:prstGeom>
          <a:noFill/>
        </p:spPr>
      </p:pic>
    </p:spTree>
  </p:cSld>
  <p:clrMapOvr>
    <a:masterClrMapping/>
  </p:clrMapOvr>
  <p:transition spd="slow"/>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cSld name="1_标题幻灯片">
    <p:spTree>
      <p:nvGrpSpPr>
        <p:cNvPr id="1" name=""/>
        <p:cNvGrpSpPr/>
        <p:nvPr/>
      </p:nvGrpSpPr>
      <p:grpSpPr>
        <a:xfrm>
          <a:off x="0" y="0"/>
          <a:ext cx="0" cy="0"/>
          <a:chOff x="0" y="0"/>
          <a:chExt cx="0" cy="0"/>
        </a:xfrm>
      </p:grpSpPr>
    </p:spTree>
  </p:cSld>
  <p:clrMapOvr>
    <a:masterClrMapping/>
  </p:clrMapOvr>
  <p:transition spd="slow"/>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3.xml"/><Relationship Id="rId8" Type="http://schemas.openxmlformats.org/officeDocument/2006/relationships/slideLayout" Target="../slideLayouts/slideLayout22.xml"/><Relationship Id="rId7" Type="http://schemas.openxmlformats.org/officeDocument/2006/relationships/slideLayout" Target="../slideLayouts/slideLayout21.xml"/><Relationship Id="rId6" Type="http://schemas.openxmlformats.org/officeDocument/2006/relationships/slideLayout" Target="../slideLayouts/slideLayout20.xml"/><Relationship Id="rId5" Type="http://schemas.openxmlformats.org/officeDocument/2006/relationships/slideLayout" Target="../slideLayouts/slideLayout19.xml"/><Relationship Id="rId4" Type="http://schemas.openxmlformats.org/officeDocument/2006/relationships/slideLayout" Target="../slideLayouts/slideLayout18.xml"/><Relationship Id="rId3" Type="http://schemas.openxmlformats.org/officeDocument/2006/relationships/slideLayout" Target="../slideLayouts/slideLayout17.xml"/><Relationship Id="rId2" Type="http://schemas.openxmlformats.org/officeDocument/2006/relationships/slideLayout" Target="../slideLayouts/slideLayout16.xml"/><Relationship Id="rId15" Type="http://schemas.openxmlformats.org/officeDocument/2006/relationships/theme" Target="../theme/theme2.xml"/><Relationship Id="rId14" Type="http://schemas.openxmlformats.org/officeDocument/2006/relationships/slideLayout" Target="../slideLayouts/slideLayout28.xml"/><Relationship Id="rId13" Type="http://schemas.openxmlformats.org/officeDocument/2006/relationships/slideLayout" Target="../slideLayouts/slideLayout27.xml"/><Relationship Id="rId12" Type="http://schemas.openxmlformats.org/officeDocument/2006/relationships/slideLayout" Target="../slideLayouts/slideLayout26.xml"/><Relationship Id="rId11" Type="http://schemas.openxmlformats.org/officeDocument/2006/relationships/slideLayout" Target="../slideLayouts/slideLayout25.xml"/><Relationship Id="rId10" Type="http://schemas.openxmlformats.org/officeDocument/2006/relationships/slideLayout" Target="../slideLayouts/slideLayout24.xml"/><Relationship Id="rId1"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9621299-E2ED-4F60-914D-98EA46D4DE5B}"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630585F-DF6D-4B2F-861D-CDE367FB6F8F}"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9621299-E2ED-4F60-914D-98EA46D4DE5B}"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630585F-DF6D-4B2F-861D-CDE367FB6F8F}"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 id="2147483676" r:id="rId13"/>
    <p:sldLayoutId id="2147483677"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6" Type="http://schemas.openxmlformats.org/officeDocument/2006/relationships/notesSlide" Target="../notesSlides/notesSlide2.xml"/><Relationship Id="rId5" Type="http://schemas.openxmlformats.org/officeDocument/2006/relationships/slideLayout" Target="../slideLayouts/slideLayout13.xml"/><Relationship Id="rId4" Type="http://schemas.openxmlformats.org/officeDocument/2006/relationships/tags" Target="../tags/tag2.xml"/><Relationship Id="rId3" Type="http://schemas.openxmlformats.org/officeDocument/2006/relationships/tags" Target="../tags/tag1.xml"/><Relationship Id="rId2" Type="http://schemas.openxmlformats.org/officeDocument/2006/relationships/image" Target="../media/image4.png"/><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6.png"/><Relationship Id="rId1" Type="http://schemas.openxmlformats.org/officeDocument/2006/relationships/image" Target="../media/image5.png"/></Relationships>
</file>

<file path=ppt/slides/_rels/slide4.xml.rels><?xml version="1.0" encoding="UTF-8" standalone="yes"?>
<Relationships xmlns="http://schemas.openxmlformats.org/package/2006/relationships"><Relationship Id="rId9" Type="http://schemas.openxmlformats.org/officeDocument/2006/relationships/tags" Target="../tags/tag3.xml"/><Relationship Id="rId8" Type="http://schemas.openxmlformats.org/officeDocument/2006/relationships/image" Target="../media/image6.png"/><Relationship Id="rId7" Type="http://schemas.openxmlformats.org/officeDocument/2006/relationships/chart" Target="../charts/chart7.xml"/><Relationship Id="rId6" Type="http://schemas.openxmlformats.org/officeDocument/2006/relationships/chart" Target="../charts/chart6.xml"/><Relationship Id="rId5" Type="http://schemas.openxmlformats.org/officeDocument/2006/relationships/chart" Target="../charts/chart5.xml"/><Relationship Id="rId4" Type="http://schemas.openxmlformats.org/officeDocument/2006/relationships/chart" Target="../charts/chart4.xml"/><Relationship Id="rId3" Type="http://schemas.openxmlformats.org/officeDocument/2006/relationships/chart" Target="../charts/chart3.xml"/><Relationship Id="rId2" Type="http://schemas.openxmlformats.org/officeDocument/2006/relationships/chart" Target="../charts/chart2.xml"/><Relationship Id="rId17" Type="http://schemas.openxmlformats.org/officeDocument/2006/relationships/slideLayout" Target="../slideLayouts/slideLayout13.xml"/><Relationship Id="rId16" Type="http://schemas.openxmlformats.org/officeDocument/2006/relationships/image" Target="../media/image7.jpeg"/><Relationship Id="rId15" Type="http://schemas.openxmlformats.org/officeDocument/2006/relationships/tags" Target="../tags/tag8.xml"/><Relationship Id="rId14" Type="http://schemas.openxmlformats.org/officeDocument/2006/relationships/image" Target="../media/image2.png"/><Relationship Id="rId13" Type="http://schemas.openxmlformats.org/officeDocument/2006/relationships/tags" Target="../tags/tag7.xml"/><Relationship Id="rId12" Type="http://schemas.openxmlformats.org/officeDocument/2006/relationships/tags" Target="../tags/tag6.xml"/><Relationship Id="rId11" Type="http://schemas.openxmlformats.org/officeDocument/2006/relationships/tags" Target="../tags/tag5.xml"/><Relationship Id="rId10" Type="http://schemas.openxmlformats.org/officeDocument/2006/relationships/tags" Target="../tags/tag4.xml"/><Relationship Id="rId1" Type="http://schemas.openxmlformats.org/officeDocument/2006/relationships/chart" Target="../charts/chart1.xml"/></Relationships>
</file>

<file path=ppt/slides/_rels/slide5.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image" Target="../media/image6.png"/><Relationship Id="rId7" Type="http://schemas.openxmlformats.org/officeDocument/2006/relationships/chart" Target="../charts/chart14.xml"/><Relationship Id="rId6" Type="http://schemas.openxmlformats.org/officeDocument/2006/relationships/chart" Target="../charts/chart13.xml"/><Relationship Id="rId5" Type="http://schemas.openxmlformats.org/officeDocument/2006/relationships/chart" Target="../charts/chart12.xml"/><Relationship Id="rId4" Type="http://schemas.openxmlformats.org/officeDocument/2006/relationships/chart" Target="../charts/chart11.xml"/><Relationship Id="rId3" Type="http://schemas.openxmlformats.org/officeDocument/2006/relationships/chart" Target="../charts/chart10.xml"/><Relationship Id="rId2" Type="http://schemas.openxmlformats.org/officeDocument/2006/relationships/chart" Target="../charts/chart9.xml"/><Relationship Id="rId17" Type="http://schemas.openxmlformats.org/officeDocument/2006/relationships/slideLayout" Target="../slideLayouts/slideLayout13.xml"/><Relationship Id="rId16" Type="http://schemas.openxmlformats.org/officeDocument/2006/relationships/image" Target="../media/image7.jpeg"/><Relationship Id="rId15" Type="http://schemas.openxmlformats.org/officeDocument/2006/relationships/tags" Target="../tags/tag14.xml"/><Relationship Id="rId14" Type="http://schemas.openxmlformats.org/officeDocument/2006/relationships/image" Target="../media/image2.png"/><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chart" Target="../charts/chart8.xml"/></Relationships>
</file>

<file path=ppt/slides/_rels/slide6.xml.rels><?xml version="1.0" encoding="UTF-8" standalone="yes"?>
<Relationships xmlns="http://schemas.openxmlformats.org/package/2006/relationships"><Relationship Id="rId9" Type="http://schemas.openxmlformats.org/officeDocument/2006/relationships/image" Target="../media/image7.jpeg"/><Relationship Id="rId8" Type="http://schemas.openxmlformats.org/officeDocument/2006/relationships/tags" Target="../tags/tag20.xml"/><Relationship Id="rId7" Type="http://schemas.openxmlformats.org/officeDocument/2006/relationships/image" Target="../media/image2.png"/><Relationship Id="rId6" Type="http://schemas.openxmlformats.org/officeDocument/2006/relationships/tags" Target="../tags/tag19.xml"/><Relationship Id="rId5" Type="http://schemas.openxmlformats.org/officeDocument/2006/relationships/tags" Target="../tags/tag18.xml"/><Relationship Id="rId4" Type="http://schemas.openxmlformats.org/officeDocument/2006/relationships/tags" Target="../tags/tag17.xml"/><Relationship Id="rId3" Type="http://schemas.openxmlformats.org/officeDocument/2006/relationships/tags" Target="../tags/tag16.xml"/><Relationship Id="rId2" Type="http://schemas.openxmlformats.org/officeDocument/2006/relationships/tags" Target="../tags/tag15.xml"/><Relationship Id="rId10" Type="http://schemas.openxmlformats.org/officeDocument/2006/relationships/slideLayout" Target="../slideLayouts/slideLayout13.xml"/><Relationship Id="rId1" Type="http://schemas.openxmlformats.org/officeDocument/2006/relationships/image" Target="../media/image6.png"/></Relationships>
</file>

<file path=ppt/slides/_rels/slide7.xml.rels><?xml version="1.0" encoding="UTF-8" standalone="yes"?>
<Relationships xmlns="http://schemas.openxmlformats.org/package/2006/relationships"><Relationship Id="rId9" Type="http://schemas.openxmlformats.org/officeDocument/2006/relationships/image" Target="../media/image7.jpeg"/><Relationship Id="rId8" Type="http://schemas.openxmlformats.org/officeDocument/2006/relationships/tags" Target="../tags/tag26.xml"/><Relationship Id="rId7" Type="http://schemas.openxmlformats.org/officeDocument/2006/relationships/image" Target="../media/image2.png"/><Relationship Id="rId6" Type="http://schemas.openxmlformats.org/officeDocument/2006/relationships/tags" Target="../tags/tag25.xml"/><Relationship Id="rId5" Type="http://schemas.openxmlformats.org/officeDocument/2006/relationships/tags" Target="../tags/tag24.xml"/><Relationship Id="rId4" Type="http://schemas.openxmlformats.org/officeDocument/2006/relationships/tags" Target="../tags/tag23.xml"/><Relationship Id="rId3" Type="http://schemas.openxmlformats.org/officeDocument/2006/relationships/tags" Target="../tags/tag22.xml"/><Relationship Id="rId2" Type="http://schemas.openxmlformats.org/officeDocument/2006/relationships/tags" Target="../tags/tag21.xml"/><Relationship Id="rId10" Type="http://schemas.openxmlformats.org/officeDocument/2006/relationships/slideLayout" Target="../slideLayouts/slideLayout13.xml"/><Relationship Id="rId1"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7.xml"/><Relationship Id="rId2" Type="http://schemas.openxmlformats.org/officeDocument/2006/relationships/image" Target="../media/image6.png"/><Relationship Id="rId1" Type="http://schemas.openxmlformats.org/officeDocument/2006/relationships/image" Target="../media/image5.png"/></Relationships>
</file>

<file path=ppt/slides/_rels/slide9.xml.rels><?xml version="1.0" encoding="UTF-8" standalone="yes"?>
<Relationships xmlns="http://schemas.openxmlformats.org/package/2006/relationships"><Relationship Id="rId8" Type="http://schemas.openxmlformats.org/officeDocument/2006/relationships/slideLayout" Target="../slideLayouts/slideLayout27.xml"/><Relationship Id="rId7" Type="http://schemas.openxmlformats.org/officeDocument/2006/relationships/image" Target="../media/image2.png"/><Relationship Id="rId6" Type="http://schemas.openxmlformats.org/officeDocument/2006/relationships/tags" Target="../tags/tag31.xml"/><Relationship Id="rId5" Type="http://schemas.openxmlformats.org/officeDocument/2006/relationships/tags" Target="../tags/tag30.xml"/><Relationship Id="rId4" Type="http://schemas.openxmlformats.org/officeDocument/2006/relationships/tags" Target="../tags/tag29.xml"/><Relationship Id="rId3" Type="http://schemas.openxmlformats.org/officeDocument/2006/relationships/tags" Target="../tags/tag28.xml"/><Relationship Id="rId2" Type="http://schemas.openxmlformats.org/officeDocument/2006/relationships/tags" Target="../tags/tag27.xml"/><Relationship Id="rId1"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7.xml"/><Relationship Id="rId2" Type="http://schemas.openxmlformats.org/officeDocument/2006/relationships/image" Target="../media/image6.png"/><Relationship Id="rId1" Type="http://schemas.openxmlformats.org/officeDocument/2006/relationships/image" Target="../media/image5.png"/></Relationships>
</file>

<file path=ppt/slides/_rels/slide11.xml.rels><?xml version="1.0" encoding="UTF-8" standalone="yes"?>
<Relationships xmlns="http://schemas.openxmlformats.org/package/2006/relationships"><Relationship Id="rId8" Type="http://schemas.openxmlformats.org/officeDocument/2006/relationships/slideLayout" Target="../slideLayouts/slideLayout27.xml"/><Relationship Id="rId7" Type="http://schemas.openxmlformats.org/officeDocument/2006/relationships/image" Target="../media/image2.png"/><Relationship Id="rId6" Type="http://schemas.openxmlformats.org/officeDocument/2006/relationships/tags" Target="../tags/tag36.xml"/><Relationship Id="rId5" Type="http://schemas.openxmlformats.org/officeDocument/2006/relationships/tags" Target="../tags/tag35.xml"/><Relationship Id="rId4" Type="http://schemas.openxmlformats.org/officeDocument/2006/relationships/tags" Target="../tags/tag34.xml"/><Relationship Id="rId3" Type="http://schemas.openxmlformats.org/officeDocument/2006/relationships/tags" Target="../tags/tag33.xml"/><Relationship Id="rId2" Type="http://schemas.openxmlformats.org/officeDocument/2006/relationships/tags" Target="../tags/tag32.xml"/><Relationship Id="rId1" Type="http://schemas.openxmlformats.org/officeDocument/2006/relationships/image" Target="../media/image6.png"/></Relationships>
</file>

<file path=ppt/slides/_rels/slide12.xml.rels><?xml version="1.0" encoding="UTF-8" standalone="yes"?>
<Relationships xmlns="http://schemas.openxmlformats.org/package/2006/relationships"><Relationship Id="rId9" Type="http://schemas.openxmlformats.org/officeDocument/2006/relationships/image" Target="../media/image9.png"/><Relationship Id="rId8" Type="http://schemas.openxmlformats.org/officeDocument/2006/relationships/image" Target="../media/image8.png"/><Relationship Id="rId7" Type="http://schemas.openxmlformats.org/officeDocument/2006/relationships/image" Target="../media/image2.png"/><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2" Type="http://schemas.openxmlformats.org/officeDocument/2006/relationships/slideLayout" Target="../slideLayouts/slideLayout13.xml"/><Relationship Id="rId11" Type="http://schemas.openxmlformats.org/officeDocument/2006/relationships/image" Target="../media/image11.png"/><Relationship Id="rId10" Type="http://schemas.openxmlformats.org/officeDocument/2006/relationships/image" Target="../media/image10.png"/><Relationship Id="rId1" Type="http://schemas.openxmlformats.org/officeDocument/2006/relationships/image" Target="../media/image6.png"/></Relationships>
</file>

<file path=ppt/slides/_rels/slide13.xml.rels><?xml version="1.0" encoding="UTF-8" standalone="yes"?>
<Relationships xmlns="http://schemas.openxmlformats.org/package/2006/relationships"><Relationship Id="rId8" Type="http://schemas.openxmlformats.org/officeDocument/2006/relationships/slideLayout" Target="../slideLayouts/slideLayout13.xml"/><Relationship Id="rId7" Type="http://schemas.openxmlformats.org/officeDocument/2006/relationships/image" Target="../media/image2.png"/><Relationship Id="rId6" Type="http://schemas.openxmlformats.org/officeDocument/2006/relationships/tags" Target="../tags/tag46.xml"/><Relationship Id="rId5" Type="http://schemas.openxmlformats.org/officeDocument/2006/relationships/tags" Target="../tags/tag45.xml"/><Relationship Id="rId4" Type="http://schemas.openxmlformats.org/officeDocument/2006/relationships/tags" Target="../tags/tag44.xml"/><Relationship Id="rId3" Type="http://schemas.openxmlformats.org/officeDocument/2006/relationships/tags" Target="../tags/tag43.xml"/><Relationship Id="rId2" Type="http://schemas.openxmlformats.org/officeDocument/2006/relationships/tags" Target="../tags/tag42.xml"/><Relationship Id="rId1" Type="http://schemas.openxmlformats.org/officeDocument/2006/relationships/image" Target="../media/image6.png"/></Relationships>
</file>

<file path=ppt/slides/_rels/slide14.xml.rels><?xml version="1.0" encoding="UTF-8" standalone="yes"?>
<Relationships xmlns="http://schemas.openxmlformats.org/package/2006/relationships"><Relationship Id="rId8" Type="http://schemas.openxmlformats.org/officeDocument/2006/relationships/slideLayout" Target="../slideLayouts/slideLayout13.xml"/><Relationship Id="rId7" Type="http://schemas.openxmlformats.org/officeDocument/2006/relationships/image" Target="../media/image2.png"/><Relationship Id="rId6" Type="http://schemas.openxmlformats.org/officeDocument/2006/relationships/tags" Target="../tags/tag51.xml"/><Relationship Id="rId5" Type="http://schemas.openxmlformats.org/officeDocument/2006/relationships/tags" Target="../tags/tag50.xml"/><Relationship Id="rId4" Type="http://schemas.openxmlformats.org/officeDocument/2006/relationships/tags" Target="../tags/tag49.xml"/><Relationship Id="rId3" Type="http://schemas.openxmlformats.org/officeDocument/2006/relationships/tags" Target="../tags/tag48.xml"/><Relationship Id="rId2" Type="http://schemas.openxmlformats.org/officeDocument/2006/relationships/tags" Target="../tags/tag47.xml"/><Relationship Id="rId1" Type="http://schemas.openxmlformats.org/officeDocument/2006/relationships/image" Target="../media/image6.png"/></Relationships>
</file>

<file path=ppt/slides/_rels/slide15.xml.rels><?xml version="1.0" encoding="UTF-8" standalone="yes"?>
<Relationships xmlns="http://schemas.openxmlformats.org/package/2006/relationships"><Relationship Id="rId8" Type="http://schemas.openxmlformats.org/officeDocument/2006/relationships/slideLayout" Target="../slideLayouts/slideLayout13.xml"/><Relationship Id="rId7" Type="http://schemas.openxmlformats.org/officeDocument/2006/relationships/image" Target="../media/image2.png"/><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image" Target="../media/image6.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6.png"/><Relationship Id="rId1" Type="http://schemas.openxmlformats.org/officeDocument/2006/relationships/image" Target="../media/image5.png"/></Relationships>
</file>

<file path=ppt/slides/_rels/slide17.xml.rels><?xml version="1.0" encoding="UTF-8" standalone="yes"?>
<Relationships xmlns="http://schemas.openxmlformats.org/package/2006/relationships"><Relationship Id="rId8" Type="http://schemas.openxmlformats.org/officeDocument/2006/relationships/slideLayout" Target="../slideLayouts/slideLayout13.xml"/><Relationship Id="rId7" Type="http://schemas.openxmlformats.org/officeDocument/2006/relationships/image" Target="../media/image2.png"/><Relationship Id="rId6" Type="http://schemas.openxmlformats.org/officeDocument/2006/relationships/tags" Target="../tags/tag61.xml"/><Relationship Id="rId5" Type="http://schemas.openxmlformats.org/officeDocument/2006/relationships/tags" Target="../tags/tag60.xml"/><Relationship Id="rId4" Type="http://schemas.openxmlformats.org/officeDocument/2006/relationships/tags" Target="../tags/tag59.xml"/><Relationship Id="rId3" Type="http://schemas.openxmlformats.org/officeDocument/2006/relationships/tags" Target="../tags/tag58.xml"/><Relationship Id="rId2" Type="http://schemas.openxmlformats.org/officeDocument/2006/relationships/tags" Target="../tags/tag57.xml"/><Relationship Id="rId1" Type="http://schemas.openxmlformats.org/officeDocument/2006/relationships/image" Target="../media/image6.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7.xml"/><Relationship Id="rId2" Type="http://schemas.openxmlformats.org/officeDocument/2006/relationships/image" Target="../media/image6.png"/><Relationship Id="rId1" Type="http://schemas.openxmlformats.org/officeDocument/2006/relationships/image" Target="../media/image5.png"/></Relationships>
</file>

<file path=ppt/slides/_rels/slide19.xml.rels><?xml version="1.0" encoding="UTF-8" standalone="yes"?>
<Relationships xmlns="http://schemas.openxmlformats.org/package/2006/relationships"><Relationship Id="rId9" Type="http://schemas.openxmlformats.org/officeDocument/2006/relationships/tags" Target="../tags/tag68.xml"/><Relationship Id="rId8" Type="http://schemas.openxmlformats.org/officeDocument/2006/relationships/tags" Target="../tags/tag67.xml"/><Relationship Id="rId7" Type="http://schemas.openxmlformats.org/officeDocument/2006/relationships/image" Target="../media/image2.png"/><Relationship Id="rId6" Type="http://schemas.openxmlformats.org/officeDocument/2006/relationships/tags" Target="../tags/tag66.xml"/><Relationship Id="rId5" Type="http://schemas.openxmlformats.org/officeDocument/2006/relationships/tags" Target="../tags/tag65.xml"/><Relationship Id="rId4" Type="http://schemas.openxmlformats.org/officeDocument/2006/relationships/tags" Target="../tags/tag64.xml"/><Relationship Id="rId3" Type="http://schemas.openxmlformats.org/officeDocument/2006/relationships/tags" Target="../tags/tag63.xml"/><Relationship Id="rId24" Type="http://schemas.openxmlformats.org/officeDocument/2006/relationships/notesSlide" Target="../notesSlides/notesSlide3.xml"/><Relationship Id="rId23" Type="http://schemas.openxmlformats.org/officeDocument/2006/relationships/slideLayout" Target="../slideLayouts/slideLayout21.xml"/><Relationship Id="rId22" Type="http://schemas.openxmlformats.org/officeDocument/2006/relationships/tags" Target="../tags/tag81.xml"/><Relationship Id="rId21" Type="http://schemas.openxmlformats.org/officeDocument/2006/relationships/tags" Target="../tags/tag80.xml"/><Relationship Id="rId20" Type="http://schemas.openxmlformats.org/officeDocument/2006/relationships/tags" Target="../tags/tag79.xml"/><Relationship Id="rId2" Type="http://schemas.openxmlformats.org/officeDocument/2006/relationships/tags" Target="../tags/tag62.xml"/><Relationship Id="rId19" Type="http://schemas.openxmlformats.org/officeDocument/2006/relationships/tags" Target="../tags/tag78.xml"/><Relationship Id="rId18" Type="http://schemas.openxmlformats.org/officeDocument/2006/relationships/tags" Target="../tags/tag77.xml"/><Relationship Id="rId17" Type="http://schemas.openxmlformats.org/officeDocument/2006/relationships/tags" Target="../tags/tag76.xml"/><Relationship Id="rId16" Type="http://schemas.openxmlformats.org/officeDocument/2006/relationships/tags" Target="../tags/tag75.xml"/><Relationship Id="rId15" Type="http://schemas.openxmlformats.org/officeDocument/2006/relationships/tags" Target="../tags/tag74.xml"/><Relationship Id="rId14" Type="http://schemas.openxmlformats.org/officeDocument/2006/relationships/tags" Target="../tags/tag73.xml"/><Relationship Id="rId13" Type="http://schemas.openxmlformats.org/officeDocument/2006/relationships/tags" Target="../tags/tag72.xml"/><Relationship Id="rId12" Type="http://schemas.openxmlformats.org/officeDocument/2006/relationships/tags" Target="../tags/tag71.xml"/><Relationship Id="rId11" Type="http://schemas.openxmlformats.org/officeDocument/2006/relationships/tags" Target="../tags/tag70.xml"/><Relationship Id="rId10" Type="http://schemas.openxmlformats.org/officeDocument/2006/relationships/tags" Target="../tags/tag69.xml"/><Relationship Id="rId1" Type="http://schemas.openxmlformats.org/officeDocument/2006/relationships/image" Target="../media/image6.png"/></Relationships>
</file>

<file path=ppt/slides/_rels/slide20.xml.rels><?xml version="1.0" encoding="UTF-8" standalone="yes"?>
<Relationships xmlns="http://schemas.openxmlformats.org/package/2006/relationships"><Relationship Id="rId9" Type="http://schemas.openxmlformats.org/officeDocument/2006/relationships/tags" Target="../tags/tag88.xml"/><Relationship Id="rId8" Type="http://schemas.openxmlformats.org/officeDocument/2006/relationships/tags" Target="../tags/tag87.xml"/><Relationship Id="rId7" Type="http://schemas.openxmlformats.org/officeDocument/2006/relationships/image" Target="../media/image2.png"/><Relationship Id="rId6" Type="http://schemas.openxmlformats.org/officeDocument/2006/relationships/tags" Target="../tags/tag86.xml"/><Relationship Id="rId5" Type="http://schemas.openxmlformats.org/officeDocument/2006/relationships/tags" Target="../tags/tag85.xml"/><Relationship Id="rId4" Type="http://schemas.openxmlformats.org/officeDocument/2006/relationships/tags" Target="../tags/tag84.xml"/><Relationship Id="rId30" Type="http://schemas.openxmlformats.org/officeDocument/2006/relationships/slideLayout" Target="../slideLayouts/slideLayout27.xml"/><Relationship Id="rId3" Type="http://schemas.openxmlformats.org/officeDocument/2006/relationships/tags" Target="../tags/tag83.xml"/><Relationship Id="rId29" Type="http://schemas.openxmlformats.org/officeDocument/2006/relationships/tags" Target="../tags/tag108.xml"/><Relationship Id="rId28" Type="http://schemas.openxmlformats.org/officeDocument/2006/relationships/tags" Target="../tags/tag107.xml"/><Relationship Id="rId27" Type="http://schemas.openxmlformats.org/officeDocument/2006/relationships/tags" Target="../tags/tag106.xml"/><Relationship Id="rId26" Type="http://schemas.openxmlformats.org/officeDocument/2006/relationships/tags" Target="../tags/tag105.xml"/><Relationship Id="rId25" Type="http://schemas.openxmlformats.org/officeDocument/2006/relationships/tags" Target="../tags/tag104.xml"/><Relationship Id="rId24" Type="http://schemas.openxmlformats.org/officeDocument/2006/relationships/tags" Target="../tags/tag103.xml"/><Relationship Id="rId23" Type="http://schemas.openxmlformats.org/officeDocument/2006/relationships/tags" Target="../tags/tag102.xml"/><Relationship Id="rId22" Type="http://schemas.openxmlformats.org/officeDocument/2006/relationships/tags" Target="../tags/tag101.xml"/><Relationship Id="rId21" Type="http://schemas.openxmlformats.org/officeDocument/2006/relationships/tags" Target="../tags/tag100.xml"/><Relationship Id="rId20" Type="http://schemas.openxmlformats.org/officeDocument/2006/relationships/tags" Target="../tags/tag99.xml"/><Relationship Id="rId2" Type="http://schemas.openxmlformats.org/officeDocument/2006/relationships/tags" Target="../tags/tag82.xml"/><Relationship Id="rId19" Type="http://schemas.openxmlformats.org/officeDocument/2006/relationships/tags" Target="../tags/tag98.xml"/><Relationship Id="rId18" Type="http://schemas.openxmlformats.org/officeDocument/2006/relationships/tags" Target="../tags/tag97.xml"/><Relationship Id="rId17" Type="http://schemas.openxmlformats.org/officeDocument/2006/relationships/tags" Target="../tags/tag96.xml"/><Relationship Id="rId16" Type="http://schemas.openxmlformats.org/officeDocument/2006/relationships/tags" Target="../tags/tag95.xml"/><Relationship Id="rId15" Type="http://schemas.openxmlformats.org/officeDocument/2006/relationships/tags" Target="../tags/tag94.xml"/><Relationship Id="rId14" Type="http://schemas.openxmlformats.org/officeDocument/2006/relationships/tags" Target="../tags/tag93.xml"/><Relationship Id="rId13" Type="http://schemas.openxmlformats.org/officeDocument/2006/relationships/tags" Target="../tags/tag92.xml"/><Relationship Id="rId12" Type="http://schemas.openxmlformats.org/officeDocument/2006/relationships/tags" Target="../tags/tag91.xml"/><Relationship Id="rId11" Type="http://schemas.openxmlformats.org/officeDocument/2006/relationships/tags" Target="../tags/tag90.xml"/><Relationship Id="rId10" Type="http://schemas.openxmlformats.org/officeDocument/2006/relationships/tags" Target="../tags/tag89.xml"/><Relationship Id="rId1" Type="http://schemas.openxmlformats.org/officeDocument/2006/relationships/image" Target="../media/image6.png"/></Relationships>
</file>

<file path=ppt/slides/_rels/slide21.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15.xml"/><Relationship Id="rId2" Type="http://schemas.openxmlformats.org/officeDocument/2006/relationships/image" Target="../media/image13.png"/><Relationship Id="rId1"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5"/>
          <p:cNvSpPr/>
          <p:nvPr/>
        </p:nvSpPr>
        <p:spPr>
          <a:xfrm>
            <a:off x="4333557" y="5735538"/>
            <a:ext cx="3197225" cy="274955"/>
          </a:xfrm>
          <a:prstGeom prst="rect">
            <a:avLst/>
          </a:prstGeom>
          <a:noFill/>
          <a:ln>
            <a:noFill/>
          </a:ln>
        </p:spPr>
        <p:txBody>
          <a:bodyPr vert="horz" wrap="square" lIns="36000" tIns="18000" rIns="36000" bIns="18000" anchor="ctr">
            <a:spAutoFit/>
          </a:bodyPr>
          <a:lstStyle>
            <a:lvl1pPr marL="342900" indent="-342900" algn="l" rtl="0" fontAlgn="base" latinLnBrk="1">
              <a:lnSpc>
                <a:spcPct val="100000"/>
              </a:lnSpc>
              <a:spcBef>
                <a:spcPct val="20000"/>
              </a:spcBef>
              <a:spcAft>
                <a:spcPct val="0"/>
              </a:spcAft>
              <a:buSzPct val="100000"/>
              <a:buFont typeface="Arial" panose="020B0604020202020204" pitchFamily="34" charset="0"/>
              <a:buChar char="•"/>
              <a:defRPr sz="3200" b="0" i="0" u="none" baseline="0">
                <a:solidFill>
                  <a:schemeClr val="dk1"/>
                </a:solidFill>
                <a:latin typeface="Calibri" panose="020F0502020204030204" charset="0"/>
                <a:ea typeface="宋体" panose="02010600030101010101" pitchFamily="2" charset="-122"/>
                <a:sym typeface="Arial" panose="020B0604020202020204" pitchFamily="34" charset="0"/>
              </a:defRPr>
            </a:lvl1pPr>
            <a:lvl2pPr marL="742950" indent="-285750" algn="l" rtl="0" fontAlgn="base" latinLnBrk="1">
              <a:lnSpc>
                <a:spcPct val="100000"/>
              </a:lnSpc>
              <a:spcBef>
                <a:spcPct val="20000"/>
              </a:spcBef>
              <a:spcAft>
                <a:spcPct val="0"/>
              </a:spcAft>
              <a:buSzPct val="100000"/>
              <a:buFont typeface="Arial" panose="020B0604020202020204" pitchFamily="34" charset="0"/>
              <a:buChar char="–"/>
              <a:defRPr sz="2800" b="0" i="0" u="none" baseline="0">
                <a:solidFill>
                  <a:schemeClr val="dk1"/>
                </a:solidFill>
                <a:latin typeface="Calibri" panose="020F0502020204030204" charset="0"/>
                <a:ea typeface="宋体" panose="02010600030101010101" pitchFamily="2" charset="-122"/>
                <a:sym typeface="Arial" panose="020B0604020202020204" pitchFamily="34" charset="0"/>
              </a:defRPr>
            </a:lvl2pPr>
            <a:lvl3pPr marL="1143000" indent="-228600" algn="l" rtl="0" fontAlgn="base" latinLnBrk="1">
              <a:lnSpc>
                <a:spcPct val="100000"/>
              </a:lnSpc>
              <a:spcBef>
                <a:spcPct val="20000"/>
              </a:spcBef>
              <a:spcAft>
                <a:spcPct val="0"/>
              </a:spcAft>
              <a:buSzPct val="100000"/>
              <a:buFont typeface="Arial" panose="020B0604020202020204" pitchFamily="34" charset="0"/>
              <a:buChar char="•"/>
              <a:defRPr sz="2400" b="0" i="0" u="none" baseline="0">
                <a:solidFill>
                  <a:schemeClr val="dk1"/>
                </a:solidFill>
                <a:latin typeface="Calibri" panose="020F0502020204030204" charset="0"/>
                <a:ea typeface="宋体" panose="02010600030101010101" pitchFamily="2" charset="-122"/>
                <a:sym typeface="Arial" panose="020B0604020202020204" pitchFamily="34" charset="0"/>
              </a:defRPr>
            </a:lvl3pPr>
            <a:lvl4pPr marL="1600200" indent="-228600" algn="l" rtl="0" fontAlgn="base" latinLnBrk="1">
              <a:lnSpc>
                <a:spcPct val="100000"/>
              </a:lnSpc>
              <a:spcBef>
                <a:spcPct val="20000"/>
              </a:spcBef>
              <a:spcAft>
                <a:spcPct val="0"/>
              </a:spcAft>
              <a:buSzPct val="100000"/>
              <a:buFont typeface="Arial" panose="020B0604020202020204" pitchFamily="34" charset="0"/>
              <a:buChar char="–"/>
              <a:defRPr sz="2000" b="0" i="0" u="none" baseline="0">
                <a:solidFill>
                  <a:schemeClr val="dk1"/>
                </a:solidFill>
                <a:latin typeface="Calibri" panose="020F0502020204030204" charset="0"/>
                <a:ea typeface="宋体" panose="02010600030101010101" pitchFamily="2" charset="-122"/>
                <a:sym typeface="Arial" panose="020B0604020202020204" pitchFamily="34" charset="0"/>
              </a:defRPr>
            </a:lvl4pPr>
            <a:lvl5pPr marL="2057400" indent="-228600" algn="l" rtl="0" fontAlgn="base" latinLnBrk="1">
              <a:lnSpc>
                <a:spcPct val="100000"/>
              </a:lnSpc>
              <a:spcBef>
                <a:spcPct val="20000"/>
              </a:spcBef>
              <a:spcAft>
                <a:spcPct val="0"/>
              </a:spcAft>
              <a:buSzPct val="100000"/>
              <a:buFont typeface="Arial" panose="020B0604020202020204" pitchFamily="34" charset="0"/>
              <a:buChar char="»"/>
              <a:defRPr sz="2000" b="0" i="0" u="none" baseline="0">
                <a:solidFill>
                  <a:schemeClr val="dk1"/>
                </a:solidFill>
                <a:latin typeface="Calibri" panose="020F0502020204030204" charset="0"/>
                <a:ea typeface="宋体" panose="02010600030101010101" pitchFamily="2" charset="-122"/>
                <a:sym typeface="Arial" panose="020B0604020202020204" pitchFamily="34" charset="0"/>
              </a:defRPr>
            </a:lvl5pPr>
          </a:lstStyle>
          <a:p>
            <a:pPr marL="0" lvl="0" indent="0" algn="ctr">
              <a:spcBef>
                <a:spcPct val="0"/>
              </a:spcBef>
              <a:buFontTx/>
              <a:buNone/>
            </a:pPr>
            <a:r>
              <a:rPr lang="zh-CN" altLang="en-US" sz="2400" b="1" baseline="-25000" dirty="0">
                <a:latin typeface="微软雅黑" panose="020B0503020204020204" pitchFamily="34" charset="-122"/>
                <a:ea typeface="微软雅黑" panose="020B0503020204020204" pitchFamily="34" charset="-122"/>
              </a:rPr>
              <a:t>汇报人：宋振</a:t>
            </a:r>
            <a:r>
              <a:rPr lang="zh-CN" altLang="en-US" sz="2400" b="1" baseline="-25000" dirty="0">
                <a:latin typeface="微软雅黑" panose="020B0503020204020204" pitchFamily="34" charset="-122"/>
                <a:ea typeface="微软雅黑" panose="020B0503020204020204" pitchFamily="34" charset="-122"/>
              </a:rPr>
              <a:t>桥</a:t>
            </a:r>
            <a:endParaRPr lang="zh-CN" altLang="en-US" sz="2400" b="1" baseline="-25000" dirty="0">
              <a:latin typeface="微软雅黑" panose="020B0503020204020204" pitchFamily="34" charset="-122"/>
              <a:ea typeface="微软雅黑" panose="020B0503020204020204" pitchFamily="34" charset="-122"/>
            </a:endParaRPr>
          </a:p>
        </p:txBody>
      </p:sp>
      <p:sp>
        <p:nvSpPr>
          <p:cNvPr id="8" name="矩形 15"/>
          <p:cNvSpPr/>
          <p:nvPr/>
        </p:nvSpPr>
        <p:spPr>
          <a:xfrm>
            <a:off x="0" y="2456180"/>
            <a:ext cx="12192000" cy="2348230"/>
          </a:xfrm>
          <a:prstGeom prst="rect">
            <a:avLst/>
          </a:prstGeom>
          <a:solidFill>
            <a:srgbClr val="CC2000"/>
          </a:solidFill>
          <a:ln w="12700" cap="flat" cmpd="sng" algn="ctr">
            <a:noFill/>
            <a:prstDash val="solid"/>
          </a:ln>
        </p:spPr>
        <p:txBody>
          <a:bodyPr rot="0" spcFirstLastPara="0" vertOverflow="overflow" horzOverflow="overflow" vert="horz" wrap="square" lIns="121920" tIns="324000" rIns="121920" bIns="60960" numCol="1" spcCol="0" rtlCol="0" fromWordArt="0" anchor="t" anchorCtr="0" forceAA="0" compatLnSpc="1">
            <a:noAutofit/>
          </a:bodyPr>
          <a:lstStyle/>
          <a:p>
            <a:pPr algn="ctr" defTabSz="1218565" fontAlgn="base">
              <a:lnSpc>
                <a:spcPts val="6880"/>
              </a:lnSpc>
              <a:spcBef>
                <a:spcPct val="0"/>
              </a:spcBef>
              <a:spcAft>
                <a:spcPct val="0"/>
              </a:spcAft>
            </a:pPr>
            <a:endParaRPr lang="en-US" altLang="zh-CN" sz="3600" b="1" dirty="0">
              <a:solidFill>
                <a:schemeClr val="bg1"/>
              </a:solidFill>
              <a:latin typeface="黑体" panose="02010609060101010101" charset="-122"/>
              <a:ea typeface="黑体" panose="02010609060101010101" charset="-122"/>
              <a:cs typeface="黑体" panose="02010609060101010101" charset="-122"/>
            </a:endParaRPr>
          </a:p>
          <a:p>
            <a:pPr algn="ctr" defTabSz="1218565" fontAlgn="base">
              <a:lnSpc>
                <a:spcPts val="6880"/>
              </a:lnSpc>
              <a:spcBef>
                <a:spcPct val="0"/>
              </a:spcBef>
              <a:spcAft>
                <a:spcPct val="0"/>
              </a:spcAft>
            </a:pPr>
            <a:r>
              <a:rPr lang="zh-CN" altLang="en-US" sz="3600" b="1" dirty="0">
                <a:solidFill>
                  <a:schemeClr val="bg1"/>
                </a:solidFill>
                <a:latin typeface="黑体" panose="02010609060101010101" charset="-122"/>
                <a:ea typeface="黑体" panose="02010609060101010101" charset="-122"/>
                <a:cs typeface="黑体" panose="02010609060101010101" charset="-122"/>
              </a:rPr>
              <a:t>2026财年集团市场“砺剑·护航”专项大检查复盘汇报</a:t>
            </a:r>
            <a:endParaRPr lang="zh-CN" altLang="en-US" sz="3600" b="1" dirty="0">
              <a:solidFill>
                <a:schemeClr val="bg1"/>
              </a:solidFill>
              <a:latin typeface="黑体" panose="02010609060101010101" charset="-122"/>
              <a:ea typeface="黑体" panose="02010609060101010101" charset="-122"/>
              <a:cs typeface="黑体" panose="02010609060101010101" charset="-122"/>
            </a:endParaRPr>
          </a:p>
        </p:txBody>
      </p:sp>
      <p:pic>
        <p:nvPicPr>
          <p:cNvPr id="102" name="图片 101" descr="微信图片_20210702102959"/>
          <p:cNvPicPr>
            <a:picLocks noChangeAspect="1"/>
          </p:cNvPicPr>
          <p:nvPr/>
        </p:nvPicPr>
        <p:blipFill>
          <a:blip r:embed="rId1"/>
          <a:stretch>
            <a:fillRect/>
          </a:stretch>
        </p:blipFill>
        <p:spPr>
          <a:xfrm>
            <a:off x="3812540" y="173355"/>
            <a:ext cx="4239260" cy="3613785"/>
          </a:xfrm>
          <a:prstGeom prst="rect">
            <a:avLst/>
          </a:prstGeom>
        </p:spPr>
      </p:pic>
      <p:sp>
        <p:nvSpPr>
          <p:cNvPr id="2" name="文本框 1"/>
          <p:cNvSpPr txBox="1"/>
          <p:nvPr/>
        </p:nvSpPr>
        <p:spPr>
          <a:xfrm>
            <a:off x="6189045" y="4938585"/>
            <a:ext cx="3583940" cy="460375"/>
          </a:xfrm>
          <a:prstGeom prst="rect">
            <a:avLst/>
          </a:prstGeom>
          <a:noFill/>
        </p:spPr>
        <p:txBody>
          <a:bodyPr wrap="none" rtlCol="0">
            <a:spAutoFit/>
          </a:bodyPr>
          <a:lstStyle/>
          <a:p>
            <a:r>
              <a:rPr lang="en-US" altLang="zh-CN" sz="2400" b="1" dirty="0">
                <a:latin typeface="微软雅黑" panose="020B0503020204020204" pitchFamily="34" charset="-122"/>
                <a:ea typeface="微软雅黑" panose="020B0503020204020204" pitchFamily="34" charset="-122"/>
              </a:rPr>
              <a:t>——</a:t>
            </a:r>
            <a:r>
              <a:rPr lang="zh-CN" altLang="en-US" sz="2400" b="1" dirty="0">
                <a:latin typeface="微软雅黑" panose="020B0503020204020204" pitchFamily="34" charset="-122"/>
                <a:ea typeface="微软雅黑" panose="020B0503020204020204" pitchFamily="34" charset="-122"/>
              </a:rPr>
              <a:t>第五组（</a:t>
            </a:r>
            <a:r>
              <a:rPr lang="zh-CN" altLang="en-US" sz="2400" b="1" dirty="0">
                <a:latin typeface="微软雅黑" panose="020B0503020204020204" pitchFamily="34" charset="-122"/>
                <a:ea typeface="微软雅黑" panose="020B0503020204020204" pitchFamily="34" charset="-122"/>
              </a:rPr>
              <a:t>河南地区）</a:t>
            </a:r>
            <a:endParaRPr lang="zh-CN" altLang="en-US" sz="2400" b="1" dirty="0">
              <a:latin typeface="微软雅黑" panose="020B0503020204020204" pitchFamily="34" charset="-122"/>
              <a:ea typeface="微软雅黑" panose="020B0503020204020204" pitchFamily="34" charset="-122"/>
            </a:endParaRPr>
          </a:p>
        </p:txBody>
      </p:sp>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91"/>
          <p:cNvSpPr>
            <a:spLocks noChangeArrowheads="1"/>
          </p:cNvSpPr>
          <p:nvPr/>
        </p:nvSpPr>
        <p:spPr bwMode="auto">
          <a:xfrm flipV="1">
            <a:off x="10513060" y="2277745"/>
            <a:ext cx="1678940" cy="2200275"/>
          </a:xfrm>
          <a:custGeom>
            <a:avLst/>
            <a:gdLst/>
            <a:ahLst/>
            <a:cxnLst/>
            <a:rect l="l" t="t" r="r" b="b"/>
            <a:pathLst>
              <a:path w="1752600" h="1295400">
                <a:moveTo>
                  <a:pt x="0" y="1295400"/>
                </a:moveTo>
                <a:lnTo>
                  <a:pt x="1752600" y="1295400"/>
                </a:lnTo>
                <a:lnTo>
                  <a:pt x="1752600" y="0"/>
                </a:lnTo>
                <a:lnTo>
                  <a:pt x="714154" y="0"/>
                </a:lnTo>
                <a:close/>
              </a:path>
            </a:pathLst>
          </a:custGeom>
          <a:solidFill>
            <a:srgbClr val="CC2000"/>
          </a:solidFill>
          <a:ln>
            <a:noFill/>
          </a:ln>
          <a:effectLst/>
        </p:spPr>
        <p:txBody>
          <a:bodyPr wrap="none" anchor="ctr"/>
          <a:lstStyle/>
          <a:p>
            <a:endParaRPr lang="zh-CN" altLang="en-US" sz="2160" dirty="0">
              <a:solidFill>
                <a:schemeClr val="bg1"/>
              </a:solidFill>
              <a:ea typeface="微软雅黑" panose="020B0503020204020204" pitchFamily="34" charset="-122"/>
            </a:endParaRPr>
          </a:p>
        </p:txBody>
      </p:sp>
      <p:sp>
        <p:nvSpPr>
          <p:cNvPr id="3" name="AutoShape 292"/>
          <p:cNvSpPr>
            <a:spLocks noChangeArrowheads="1"/>
          </p:cNvSpPr>
          <p:nvPr/>
        </p:nvSpPr>
        <p:spPr bwMode="auto">
          <a:xfrm flipV="1">
            <a:off x="0" y="2305050"/>
            <a:ext cx="4353560" cy="2200275"/>
          </a:xfrm>
          <a:custGeom>
            <a:avLst/>
            <a:gdLst/>
            <a:ahLst/>
            <a:cxnLst/>
            <a:rect l="l" t="t" r="r" b="b"/>
            <a:pathLst>
              <a:path w="4191000" h="1295400">
                <a:moveTo>
                  <a:pt x="0" y="1295400"/>
                </a:moveTo>
                <a:lnTo>
                  <a:pt x="3476846" y="1295400"/>
                </a:lnTo>
                <a:lnTo>
                  <a:pt x="4191000" y="0"/>
                </a:lnTo>
                <a:lnTo>
                  <a:pt x="0" y="0"/>
                </a:lnTo>
                <a:close/>
              </a:path>
            </a:pathLst>
          </a:custGeom>
          <a:solidFill>
            <a:srgbClr val="CC2000"/>
          </a:solidFill>
          <a:ln>
            <a:noFill/>
          </a:ln>
          <a:effectLst/>
        </p:spPr>
        <p:txBody>
          <a:bodyPr wrap="none" anchor="ctr"/>
          <a:lstStyle/>
          <a:p>
            <a:endParaRPr lang="zh-CN" altLang="en-US" sz="2160" dirty="0">
              <a:solidFill>
                <a:schemeClr val="bg1"/>
              </a:solidFill>
              <a:ea typeface="微软雅黑" panose="020B0503020204020204" pitchFamily="34" charset="-122"/>
            </a:endParaRPr>
          </a:p>
        </p:txBody>
      </p:sp>
      <p:sp>
        <p:nvSpPr>
          <p:cNvPr id="4" name="WordArt 293"/>
          <p:cNvSpPr>
            <a:spLocks noChangeArrowheads="1" noChangeShapeType="1" noTextEdit="1"/>
          </p:cNvSpPr>
          <p:nvPr/>
        </p:nvSpPr>
        <p:spPr bwMode="auto">
          <a:xfrm>
            <a:off x="699483" y="2644916"/>
            <a:ext cx="2419469" cy="951042"/>
          </a:xfrm>
          <a:prstGeom prst="rect">
            <a:avLst/>
          </a:prstGeom>
          <a:extLst>
            <a:ext uri="{91240B29-F687-4F45-9708-019B960494DF}">
              <a14:hiddenLine xmlns:a14="http://schemas.microsoft.com/office/drawing/2010/main" w="9525">
                <a:solidFill>
                  <a:srgbClr val="000000"/>
                </a:solidFill>
                <a:round/>
              </a14:hiddenLine>
            </a:ext>
          </a:extLst>
        </p:spPr>
        <p:txBody>
          <a:bodyPr wrap="none" fromWordArt="1" anchor="ctr"/>
          <a:lstStyle/>
          <a:p>
            <a:pPr algn="ctr"/>
            <a:r>
              <a:rPr lang="zh-CN" altLang="en-US" sz="8800" kern="10" spc="840" dirty="0">
                <a:solidFill>
                  <a:schemeClr val="bg1"/>
                </a:solidFill>
                <a:latin typeface="黑体" panose="02010609060101010101" charset="-122"/>
                <a:ea typeface="黑体" panose="02010609060101010101" charset="-122"/>
                <a:cs typeface="黑体" panose="02010609060101010101" charset="-122"/>
              </a:rPr>
              <a:t>目</a:t>
            </a:r>
            <a:r>
              <a:rPr lang="en-US" altLang="zh-CN" sz="2000" kern="10" spc="840" dirty="0">
                <a:solidFill>
                  <a:schemeClr val="bg1"/>
                </a:solidFill>
                <a:latin typeface="黑体" panose="02010609060101010101" charset="-122"/>
                <a:ea typeface="黑体" panose="02010609060101010101" charset="-122"/>
                <a:cs typeface="黑体" panose="02010609060101010101" charset="-122"/>
              </a:rPr>
              <a:t> </a:t>
            </a:r>
            <a:r>
              <a:rPr lang="zh-CN" altLang="en-US" sz="8800" kern="10" spc="840" dirty="0">
                <a:solidFill>
                  <a:schemeClr val="bg1"/>
                </a:solidFill>
                <a:latin typeface="黑体" panose="02010609060101010101" charset="-122"/>
                <a:ea typeface="黑体" panose="02010609060101010101" charset="-122"/>
                <a:cs typeface="黑体" panose="02010609060101010101" charset="-122"/>
              </a:rPr>
              <a:t>录</a:t>
            </a:r>
            <a:endParaRPr lang="zh-CN" altLang="en-US" sz="8800" kern="10" spc="840" dirty="0">
              <a:solidFill>
                <a:schemeClr val="bg1"/>
              </a:solidFill>
              <a:latin typeface="黑体" panose="02010609060101010101" charset="-122"/>
              <a:ea typeface="黑体" panose="02010609060101010101" charset="-122"/>
              <a:cs typeface="黑体" panose="02010609060101010101" charset="-122"/>
            </a:endParaRPr>
          </a:p>
        </p:txBody>
      </p:sp>
      <p:sp>
        <p:nvSpPr>
          <p:cNvPr id="5" name="WordArt 294"/>
          <p:cNvSpPr>
            <a:spLocks noChangeArrowheads="1" noChangeShapeType="1" noTextEdit="1"/>
          </p:cNvSpPr>
          <p:nvPr/>
        </p:nvSpPr>
        <p:spPr bwMode="auto">
          <a:xfrm>
            <a:off x="1317739" y="3811419"/>
            <a:ext cx="2678842" cy="498982"/>
          </a:xfrm>
          <a:prstGeom prst="rect">
            <a:avLst/>
          </a:prstGeom>
          <a:extLst>
            <a:ext uri="{91240B29-F687-4F45-9708-019B960494DF}">
              <a14:hiddenLine xmlns:a14="http://schemas.microsoft.com/office/drawing/2010/main" w="9525">
                <a:solidFill>
                  <a:srgbClr val="000000"/>
                </a:solidFill>
                <a:round/>
              </a14:hiddenLine>
            </a:ext>
          </a:extLst>
        </p:spPr>
        <p:txBody>
          <a:bodyPr wrap="none" fromWordArt="1" anchor="ctr"/>
          <a:lstStyle/>
          <a:p>
            <a:pPr algn="ctr"/>
            <a:r>
              <a:rPr lang="en-US" altLang="zh-CN" sz="3360" kern="10" dirty="0">
                <a:solidFill>
                  <a:schemeClr val="bg1"/>
                </a:solidFill>
                <a:latin typeface="微软雅黑" panose="020B0503020204020204" pitchFamily="34" charset="-122"/>
                <a:ea typeface="微软雅黑" panose="020B0503020204020204" pitchFamily="34" charset="-122"/>
              </a:rPr>
              <a:t>   </a:t>
            </a:r>
            <a:r>
              <a:rPr lang="en-US" altLang="zh-CN" sz="3200" kern="10" dirty="0">
                <a:solidFill>
                  <a:schemeClr val="bg1"/>
                </a:solidFill>
                <a:latin typeface="微软雅黑" panose="020B0503020204020204" pitchFamily="34" charset="-122"/>
                <a:ea typeface="微软雅黑" panose="020B0503020204020204" pitchFamily="34" charset="-122"/>
              </a:rPr>
              <a:t>CONTENTS   </a:t>
            </a:r>
            <a:endParaRPr lang="en-US" altLang="zh-CN" sz="3200" kern="10" dirty="0">
              <a:solidFill>
                <a:schemeClr val="bg1"/>
              </a:solidFill>
              <a:latin typeface="微软雅黑" panose="020B0503020204020204" pitchFamily="34" charset="-122"/>
              <a:ea typeface="微软雅黑" panose="020B0503020204020204" pitchFamily="34" charset="-122"/>
            </a:endParaRPr>
          </a:p>
        </p:txBody>
      </p:sp>
      <p:sp>
        <p:nvSpPr>
          <p:cNvPr id="14" name="灯片编号占位符 13"/>
          <p:cNvSpPr>
            <a:spLocks noGrp="1"/>
          </p:cNvSpPr>
          <p:nvPr>
            <p:ph type="sldNum" sz="quarter" idx="4294967295"/>
          </p:nvPr>
        </p:nvSpPr>
        <p:spPr>
          <a:xfrm>
            <a:off x="9357995" y="6059001"/>
            <a:ext cx="2743200" cy="365125"/>
          </a:xfrm>
        </p:spPr>
        <p:txBody>
          <a:bodyPr/>
          <a:lstStyle/>
          <a:p>
            <a:fld id="{B71D9F64-F3E7-47CB-8C4E-3862B61F6E20}" type="slidenum">
              <a:rPr lang="zh-CN" altLang="en-US" smtClean="0"/>
            </a:fld>
            <a:endParaRPr lang="zh-CN" altLang="en-US"/>
          </a:p>
        </p:txBody>
      </p:sp>
      <p:sp>
        <p:nvSpPr>
          <p:cNvPr id="9" name="Rectangle 22"/>
          <p:cNvSpPr>
            <a:spLocks noChangeArrowheads="1"/>
          </p:cNvSpPr>
          <p:nvPr/>
        </p:nvSpPr>
        <p:spPr bwMode="auto">
          <a:xfrm>
            <a:off x="4476750" y="2042160"/>
            <a:ext cx="5496560" cy="9036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l" eaLnBrk="1" fontAlgn="base" hangingPunct="1">
              <a:lnSpc>
                <a:spcPct val="120000"/>
              </a:lnSpc>
              <a:buClrTx/>
              <a:buSzTx/>
            </a:pPr>
            <a:r>
              <a:rPr lang="en-US" altLang="zh-CN" sz="4400" b="1" dirty="0">
                <a:latin typeface="微软雅黑" panose="020B0503020204020204" pitchFamily="34" charset="-122"/>
                <a:ea typeface="微软雅黑" panose="020B0503020204020204" pitchFamily="34" charset="-122"/>
                <a:sym typeface="+mn-ea"/>
              </a:rPr>
              <a:t>2.</a:t>
            </a:r>
            <a:r>
              <a:rPr lang="zh-CN" altLang="en-US" sz="2800" b="1" dirty="0">
                <a:latin typeface="微软雅黑" panose="020B0503020204020204" pitchFamily="34" charset="-122"/>
                <a:ea typeface="微软雅黑" panose="020B0503020204020204" pitchFamily="34" charset="-122"/>
                <a:sym typeface="+mn-ea"/>
              </a:rPr>
              <a:t>市场检查结果通报</a:t>
            </a:r>
            <a:endParaRPr lang="zh-CN" altLang="en-US" sz="2800" b="1" dirty="0">
              <a:latin typeface="微软雅黑" panose="020B0503020204020204" pitchFamily="34" charset="-122"/>
              <a:ea typeface="微软雅黑" panose="020B0503020204020204" pitchFamily="34" charset="-122"/>
              <a:sym typeface="+mn-ea"/>
            </a:endParaRPr>
          </a:p>
        </p:txBody>
      </p:sp>
      <p:pic>
        <p:nvPicPr>
          <p:cNvPr id="13" name="图片 12" descr="微信图片_202105200954034"/>
          <p:cNvPicPr>
            <a:picLocks noChangeAspect="1"/>
          </p:cNvPicPr>
          <p:nvPr/>
        </p:nvPicPr>
        <p:blipFill>
          <a:blip r:embed="rId1"/>
          <a:stretch>
            <a:fillRect/>
          </a:stretch>
        </p:blipFill>
        <p:spPr>
          <a:xfrm>
            <a:off x="424815" y="4768215"/>
            <a:ext cx="2493010" cy="1842135"/>
          </a:xfrm>
          <a:prstGeom prst="rect">
            <a:avLst/>
          </a:prstGeom>
        </p:spPr>
      </p:pic>
      <p:pic>
        <p:nvPicPr>
          <p:cNvPr id="15" name="图片 14" descr="微信图片_20210702103005"/>
          <p:cNvPicPr>
            <a:picLocks noChangeAspect="1"/>
          </p:cNvPicPr>
          <p:nvPr/>
        </p:nvPicPr>
        <p:blipFill>
          <a:blip r:embed="rId2"/>
          <a:stretch>
            <a:fillRect/>
          </a:stretch>
        </p:blipFill>
        <p:spPr>
          <a:xfrm>
            <a:off x="10456545" y="161290"/>
            <a:ext cx="1237615" cy="1055370"/>
          </a:xfrm>
          <a:prstGeom prst="rect">
            <a:avLst/>
          </a:prstGeom>
        </p:spPr>
      </p:pic>
      <p:sp>
        <p:nvSpPr>
          <p:cNvPr id="6" name="Rectangle 22"/>
          <p:cNvSpPr>
            <a:spLocks noChangeArrowheads="1"/>
          </p:cNvSpPr>
          <p:nvPr/>
        </p:nvSpPr>
        <p:spPr bwMode="auto">
          <a:xfrm>
            <a:off x="5268595" y="3811270"/>
            <a:ext cx="5513705" cy="9036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l" eaLnBrk="1" fontAlgn="base" hangingPunct="1">
              <a:lnSpc>
                <a:spcPct val="120000"/>
              </a:lnSpc>
              <a:buClrTx/>
              <a:buSzTx/>
            </a:pPr>
            <a:r>
              <a:rPr lang="en-US" altLang="zh-CN" sz="4400" b="1" dirty="0">
                <a:latin typeface="微软雅黑" panose="020B0503020204020204" pitchFamily="34" charset="-122"/>
                <a:ea typeface="微软雅黑" panose="020B0503020204020204" pitchFamily="34" charset="-122"/>
                <a:sym typeface="+mn-ea"/>
              </a:rPr>
              <a:t>4.</a:t>
            </a:r>
            <a:r>
              <a:rPr lang="zh-CN" altLang="en-US" sz="2800" b="1" dirty="0">
                <a:latin typeface="微软雅黑" panose="020B0503020204020204" pitchFamily="34" charset="-122"/>
                <a:ea typeface="微软雅黑" panose="020B0503020204020204" pitchFamily="34" charset="-122"/>
                <a:sym typeface="+mn-ea"/>
              </a:rPr>
              <a:t>战区共识意见（初稿）</a:t>
            </a:r>
            <a:endParaRPr lang="zh-CN" altLang="en-US" sz="2800" b="1" dirty="0">
              <a:latin typeface="微软雅黑" panose="020B0503020204020204" pitchFamily="34" charset="-122"/>
              <a:ea typeface="微软雅黑" panose="020B0503020204020204" pitchFamily="34" charset="-122"/>
              <a:sym typeface="+mn-ea"/>
            </a:endParaRPr>
          </a:p>
        </p:txBody>
      </p:sp>
      <p:sp>
        <p:nvSpPr>
          <p:cNvPr id="8" name="Rectangle 22"/>
          <p:cNvSpPr>
            <a:spLocks noChangeArrowheads="1"/>
          </p:cNvSpPr>
          <p:nvPr>
            <p:custDataLst>
              <p:tags r:id="rId3"/>
            </p:custDataLst>
          </p:nvPr>
        </p:nvSpPr>
        <p:spPr bwMode="auto">
          <a:xfrm>
            <a:off x="4823405" y="2945495"/>
            <a:ext cx="6105525" cy="9036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l" eaLnBrk="1" fontAlgn="base" hangingPunct="1">
              <a:lnSpc>
                <a:spcPct val="120000"/>
              </a:lnSpc>
              <a:buClrTx/>
              <a:buSzTx/>
            </a:pPr>
            <a:r>
              <a:rPr lang="en-US" altLang="zh-CN" sz="4400" b="1" dirty="0">
                <a:latin typeface="微软雅黑" panose="020B0503020204020204" pitchFamily="34" charset="-122"/>
                <a:ea typeface="微软雅黑" panose="020B0503020204020204" pitchFamily="34" charset="-122"/>
                <a:sym typeface="+mn-ea"/>
              </a:rPr>
              <a:t>3.</a:t>
            </a:r>
            <a:r>
              <a:rPr lang="zh-CN" altLang="en-US" sz="2800" b="1" dirty="0">
                <a:latin typeface="微软雅黑" panose="020B0503020204020204" pitchFamily="34" charset="-122"/>
                <a:ea typeface="微软雅黑" panose="020B0503020204020204" pitchFamily="34" charset="-122"/>
                <a:sym typeface="+mn-ea"/>
              </a:rPr>
              <a:t>市场重点问题及改善建议</a:t>
            </a:r>
            <a:endParaRPr lang="zh-CN" altLang="en-US" sz="2800" b="1" dirty="0">
              <a:latin typeface="微软雅黑" panose="020B0503020204020204" pitchFamily="34" charset="-122"/>
              <a:ea typeface="微软雅黑" panose="020B0503020204020204" pitchFamily="34" charset="-122"/>
              <a:sym typeface="+mn-ea"/>
            </a:endParaRPr>
          </a:p>
        </p:txBody>
      </p:sp>
      <p:sp>
        <p:nvSpPr>
          <p:cNvPr id="10" name="Rectangle 22"/>
          <p:cNvSpPr>
            <a:spLocks noChangeArrowheads="1"/>
          </p:cNvSpPr>
          <p:nvPr>
            <p:custDataLst>
              <p:tags r:id="rId4"/>
            </p:custDataLst>
          </p:nvPr>
        </p:nvSpPr>
        <p:spPr bwMode="auto">
          <a:xfrm>
            <a:off x="3977585" y="1138285"/>
            <a:ext cx="6105525" cy="9036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l" eaLnBrk="1" fontAlgn="base" hangingPunct="1">
              <a:lnSpc>
                <a:spcPct val="120000"/>
              </a:lnSpc>
              <a:buClrTx/>
              <a:buSzTx/>
            </a:pPr>
            <a:r>
              <a:rPr lang="en-US" altLang="zh-CN" sz="4400" b="1" dirty="0">
                <a:latin typeface="微软雅黑" panose="020B0503020204020204" pitchFamily="34" charset="-122"/>
                <a:ea typeface="微软雅黑" panose="020B0503020204020204" pitchFamily="34" charset="-122"/>
                <a:sym typeface="+mn-ea"/>
              </a:rPr>
              <a:t>1.</a:t>
            </a:r>
            <a:r>
              <a:rPr lang="zh-CN" altLang="en-US" sz="2800" b="1" dirty="0">
                <a:latin typeface="微软雅黑" panose="020B0503020204020204" pitchFamily="34" charset="-122"/>
                <a:ea typeface="微软雅黑" panose="020B0503020204020204" pitchFamily="34" charset="-122"/>
                <a:sym typeface="+mn-ea"/>
              </a:rPr>
              <a:t>市场概况与检查概览</a:t>
            </a:r>
            <a:endParaRPr lang="zh-CN" altLang="en-US" sz="2800" b="1" dirty="0">
              <a:latin typeface="微软雅黑" panose="020B0503020204020204" pitchFamily="34" charset="-122"/>
              <a:ea typeface="微软雅黑" panose="020B0503020204020204" pitchFamily="34" charset="-122"/>
              <a:sym typeface="+mn-ea"/>
            </a:endParaRPr>
          </a:p>
        </p:txBody>
      </p:sp>
      <p:sp>
        <p:nvSpPr>
          <p:cNvPr id="7" name="Rectangle 22"/>
          <p:cNvSpPr>
            <a:spLocks noChangeArrowheads="1"/>
          </p:cNvSpPr>
          <p:nvPr/>
        </p:nvSpPr>
        <p:spPr bwMode="auto">
          <a:xfrm>
            <a:off x="5664835" y="4704080"/>
            <a:ext cx="5513705" cy="9036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l" eaLnBrk="1" fontAlgn="base" hangingPunct="1">
              <a:lnSpc>
                <a:spcPct val="120000"/>
              </a:lnSpc>
              <a:buClrTx/>
              <a:buSzTx/>
            </a:pPr>
            <a:r>
              <a:rPr lang="en-US" altLang="zh-CN" sz="4400" b="1" dirty="0">
                <a:latin typeface="微软雅黑" panose="020B0503020204020204" pitchFamily="34" charset="-122"/>
                <a:ea typeface="微软雅黑" panose="020B0503020204020204" pitchFamily="34" charset="-122"/>
                <a:sym typeface="+mn-ea"/>
              </a:rPr>
              <a:t>5.</a:t>
            </a:r>
            <a:r>
              <a:rPr lang="zh-CN" altLang="en-US" sz="2800" b="1" dirty="0">
                <a:latin typeface="微软雅黑" panose="020B0503020204020204" pitchFamily="34" charset="-122"/>
                <a:ea typeface="微软雅黑" panose="020B0503020204020204" pitchFamily="34" charset="-122"/>
                <a:sym typeface="+mn-ea"/>
              </a:rPr>
              <a:t>总结与探讨建议</a:t>
            </a:r>
            <a:endParaRPr lang="zh-CN" altLang="en-US" sz="2800" b="1" dirty="0">
              <a:latin typeface="微软雅黑" panose="020B0503020204020204" pitchFamily="34" charset="-122"/>
              <a:ea typeface="微软雅黑" panose="020B0503020204020204" pitchFamily="34" charset="-122"/>
              <a:sym typeface="+mn-ea"/>
            </a:endParaRPr>
          </a:p>
        </p:txBody>
      </p:sp>
    </p:spTree>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8" name="文本框 8"/>
          <p:cNvSpPr txBox="1"/>
          <p:nvPr/>
        </p:nvSpPr>
        <p:spPr>
          <a:xfrm>
            <a:off x="1467318" y="2967335"/>
            <a:ext cx="8947217" cy="1753235"/>
          </a:xfrm>
          <a:prstGeom prst="rect">
            <a:avLst/>
          </a:prstGeom>
          <a:noFill/>
        </p:spPr>
        <p:txBody>
          <a:bodyPr wrap="square" rtlCol="0">
            <a:spAutoFit/>
          </a:bodyPr>
          <a:lstStyle/>
          <a:p>
            <a:pPr algn="ctr"/>
            <a:r>
              <a:rPr lang="en-US" altLang="zh-CN" sz="5400" b="1" dirty="0">
                <a:latin typeface="微软雅黑" panose="020B0503020204020204" pitchFamily="34" charset="-122"/>
                <a:ea typeface="微软雅黑" panose="020B0503020204020204" pitchFamily="34" charset="-122"/>
                <a:sym typeface="+mn-ea"/>
              </a:rPr>
              <a:t>1.</a:t>
            </a:r>
            <a:r>
              <a:rPr lang="zh-CN" altLang="en-US" sz="5400" b="1" dirty="0">
                <a:latin typeface="微软雅黑" panose="020B0503020204020204" pitchFamily="34" charset="-122"/>
                <a:ea typeface="微软雅黑" panose="020B0503020204020204" pitchFamily="34" charset="-122"/>
                <a:sym typeface="+mn-ea"/>
              </a:rPr>
              <a:t>市场概况与检查概览</a:t>
            </a:r>
            <a:endParaRPr lang="zh-CN" altLang="en-US" sz="5400" b="1" dirty="0">
              <a:latin typeface="微软雅黑" panose="020B0503020204020204" pitchFamily="34" charset="-122"/>
              <a:ea typeface="微软雅黑" panose="020B0503020204020204" pitchFamily="34" charset="-122"/>
              <a:sym typeface="+mn-ea"/>
            </a:endParaRPr>
          </a:p>
          <a:p>
            <a:pPr algn="ctr"/>
            <a:endParaRPr lang="zh-CN" altLang="en-US" sz="5400" b="1" dirty="0">
              <a:latin typeface="微软雅黑" panose="020B0503020204020204" pitchFamily="34" charset="-122"/>
              <a:ea typeface="微软雅黑" panose="020B0503020204020204" pitchFamily="34" charset="-122"/>
            </a:endParaRPr>
          </a:p>
        </p:txBody>
      </p:sp>
      <p:grpSp>
        <p:nvGrpSpPr>
          <p:cNvPr id="57" name="组合 13"/>
          <p:cNvGrpSpPr/>
          <p:nvPr/>
        </p:nvGrpSpPr>
        <p:grpSpPr>
          <a:xfrm rot="5400000">
            <a:off x="4743853" y="253539"/>
            <a:ext cx="2572212" cy="6350923"/>
            <a:chOff x="3617229" y="570765"/>
            <a:chExt cx="1571244" cy="3879481"/>
          </a:xfrm>
        </p:grpSpPr>
        <p:pic>
          <p:nvPicPr>
            <p:cNvPr id="2097153" name="Picture 2" descr="C:\Users\Administrator\Desktop\1.png"/>
            <p:cNvPicPr>
              <a:picLocks noChangeAspect="1" noChangeArrowheads="1"/>
            </p:cNvPicPr>
            <p:nvPr/>
          </p:nvPicPr>
          <p:blipFill>
            <a:blip r:embed="rId1" cstate="print"/>
            <a:srcRect/>
            <a:stretch>
              <a:fillRect/>
            </a:stretch>
          </p:blipFill>
          <p:spPr bwMode="auto">
            <a:xfrm rot="16200000">
              <a:off x="4220259" y="3482034"/>
              <a:ext cx="1554647" cy="381778"/>
            </a:xfrm>
            <a:prstGeom prst="rect">
              <a:avLst/>
            </a:prstGeom>
            <a:noFill/>
          </p:spPr>
        </p:pic>
        <p:pic>
          <p:nvPicPr>
            <p:cNvPr id="2097154" name="Picture 2" descr="C:\Users\Administrator\Desktop\1.png"/>
            <p:cNvPicPr>
              <a:picLocks noChangeAspect="1" noChangeArrowheads="1"/>
            </p:cNvPicPr>
            <p:nvPr/>
          </p:nvPicPr>
          <p:blipFill>
            <a:blip r:embed="rId1" cstate="print"/>
            <a:srcRect/>
            <a:stretch>
              <a:fillRect/>
            </a:stretch>
          </p:blipFill>
          <p:spPr bwMode="auto">
            <a:xfrm rot="16200000">
              <a:off x="4220260" y="1164820"/>
              <a:ext cx="1554647" cy="381778"/>
            </a:xfrm>
            <a:prstGeom prst="rect">
              <a:avLst/>
            </a:prstGeom>
            <a:noFill/>
          </p:spPr>
        </p:pic>
        <p:pic>
          <p:nvPicPr>
            <p:cNvPr id="2097155" name="Picture 2" descr="C:\Users\Administrator\Desktop\1.png"/>
            <p:cNvPicPr>
              <a:picLocks noChangeAspect="1" noChangeArrowheads="1"/>
            </p:cNvPicPr>
            <p:nvPr/>
          </p:nvPicPr>
          <p:blipFill>
            <a:blip r:embed="rId1" cstate="print"/>
            <a:srcRect/>
            <a:stretch>
              <a:fillRect/>
            </a:stretch>
          </p:blipFill>
          <p:spPr bwMode="auto">
            <a:xfrm rot="5400000" flipH="1">
              <a:off x="3030794" y="3474414"/>
              <a:ext cx="1554647" cy="381778"/>
            </a:xfrm>
            <a:prstGeom prst="rect">
              <a:avLst/>
            </a:prstGeom>
            <a:noFill/>
          </p:spPr>
        </p:pic>
        <p:pic>
          <p:nvPicPr>
            <p:cNvPr id="2097156" name="Picture 2" descr="C:\Users\Administrator\Desktop\1.png"/>
            <p:cNvPicPr>
              <a:picLocks noChangeAspect="1" noChangeArrowheads="1"/>
            </p:cNvPicPr>
            <p:nvPr/>
          </p:nvPicPr>
          <p:blipFill>
            <a:blip r:embed="rId1" cstate="print"/>
            <a:srcRect/>
            <a:stretch>
              <a:fillRect/>
            </a:stretch>
          </p:blipFill>
          <p:spPr bwMode="auto">
            <a:xfrm rot="5400000" flipH="1">
              <a:off x="3030795" y="1157200"/>
              <a:ext cx="1554647" cy="381778"/>
            </a:xfrm>
            <a:prstGeom prst="rect">
              <a:avLst/>
            </a:prstGeom>
            <a:noFill/>
          </p:spPr>
        </p:pic>
      </p:grpSp>
      <p:pic>
        <p:nvPicPr>
          <p:cNvPr id="8" name="图片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5737" y="125730"/>
            <a:ext cx="1056074" cy="900000"/>
          </a:xfrm>
          <a:prstGeom prst="rect">
            <a:avLst/>
          </a:prstGeom>
        </p:spPr>
      </p:pic>
    </p:spTree>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224987" y="263525"/>
            <a:ext cx="1056074" cy="900000"/>
          </a:xfrm>
          <a:prstGeom prst="rect">
            <a:avLst/>
          </a:prstGeom>
        </p:spPr>
      </p:pic>
      <p:sp>
        <p:nvSpPr>
          <p:cNvPr id="74" name="文本框 73"/>
          <p:cNvSpPr txBox="1"/>
          <p:nvPr/>
        </p:nvSpPr>
        <p:spPr>
          <a:xfrm>
            <a:off x="2392680" y="448310"/>
            <a:ext cx="4084955" cy="645160"/>
          </a:xfrm>
          <a:prstGeom prst="rect">
            <a:avLst/>
          </a:prstGeom>
          <a:noFill/>
        </p:spPr>
        <p:txBody>
          <a:bodyPr wrap="square" rtlCol="0">
            <a:spAutoFit/>
          </a:bodyPr>
          <a:lstStyle>
            <a:defPPr>
              <a:defRPr lang="zh-CN"/>
            </a:defPPr>
            <a:lvl1pPr>
              <a:defRPr sz="3200" b="1">
                <a:solidFill>
                  <a:srgbClr val="860000"/>
                </a:solidFill>
                <a:latin typeface="时尚中黑简体" panose="01010104010101010101" pitchFamily="2" charset="-122"/>
                <a:ea typeface="时尚中黑简体" panose="01010104010101010101" pitchFamily="2" charset="-122"/>
              </a:defRPr>
            </a:lvl1pPr>
          </a:lstStyle>
          <a:p>
            <a:r>
              <a:rPr lang="zh-CN" altLang="en-US" sz="3600" dirty="0">
                <a:solidFill>
                  <a:srgbClr val="C00000"/>
                </a:solidFill>
                <a:latin typeface="微软雅黑" panose="020B0503020204020204" pitchFamily="34" charset="-122"/>
                <a:ea typeface="微软雅黑" panose="020B0503020204020204" pitchFamily="34" charset="-122"/>
                <a:sym typeface="+mn-ea"/>
              </a:rPr>
              <a:t>河南市场铺市</a:t>
            </a:r>
            <a:r>
              <a:rPr lang="zh-CN" altLang="en-US" sz="3600" dirty="0">
                <a:solidFill>
                  <a:srgbClr val="C00000"/>
                </a:solidFill>
                <a:latin typeface="微软雅黑" panose="020B0503020204020204" pitchFamily="34" charset="-122"/>
                <a:ea typeface="微软雅黑" panose="020B0503020204020204" pitchFamily="34" charset="-122"/>
                <a:sym typeface="+mn-ea"/>
              </a:rPr>
              <a:t>情况</a:t>
            </a:r>
            <a:endParaRPr lang="zh-CN" altLang="en-US" sz="3600" dirty="0">
              <a:solidFill>
                <a:srgbClr val="C00000"/>
              </a:solidFill>
              <a:latin typeface="微软雅黑" panose="020B0503020204020204" pitchFamily="34" charset="-122"/>
              <a:ea typeface="微软雅黑" panose="020B0503020204020204" pitchFamily="34" charset="-122"/>
              <a:sym typeface="+mn-ea"/>
            </a:endParaRPr>
          </a:p>
        </p:txBody>
      </p:sp>
      <p:sp>
        <p:nvSpPr>
          <p:cNvPr id="29" name="矩形 28"/>
          <p:cNvSpPr/>
          <p:nvPr/>
        </p:nvSpPr>
        <p:spPr>
          <a:xfrm>
            <a:off x="1530350" y="373380"/>
            <a:ext cx="436245" cy="720090"/>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矩形 32"/>
          <p:cNvSpPr/>
          <p:nvPr>
            <p:custDataLst>
              <p:tags r:id="rId9"/>
            </p:custDataLst>
          </p:nvPr>
        </p:nvSpPr>
        <p:spPr>
          <a:xfrm>
            <a:off x="2061210" y="373380"/>
            <a:ext cx="191770" cy="720090"/>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p:cNvSpPr/>
          <p:nvPr>
            <p:custDataLst>
              <p:tags r:id="rId10"/>
            </p:custDataLst>
          </p:nvPr>
        </p:nvSpPr>
        <p:spPr>
          <a:xfrm>
            <a:off x="6341110" y="365760"/>
            <a:ext cx="352425" cy="720090"/>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矩形 58"/>
          <p:cNvSpPr/>
          <p:nvPr>
            <p:custDataLst>
              <p:tags r:id="rId11"/>
            </p:custDataLst>
          </p:nvPr>
        </p:nvSpPr>
        <p:spPr>
          <a:xfrm>
            <a:off x="11323955" y="5967095"/>
            <a:ext cx="567690" cy="578485"/>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矩形 69"/>
          <p:cNvSpPr/>
          <p:nvPr>
            <p:custDataLst>
              <p:tags r:id="rId12"/>
            </p:custDataLst>
          </p:nvPr>
        </p:nvSpPr>
        <p:spPr>
          <a:xfrm>
            <a:off x="11001375" y="5967095"/>
            <a:ext cx="223520" cy="578485"/>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2" name="图片 101" descr="微信图片_20210702102959"/>
          <p:cNvPicPr>
            <a:picLocks noChangeAspect="1"/>
          </p:cNvPicPr>
          <p:nvPr>
            <p:custDataLst>
              <p:tags r:id="rId13"/>
            </p:custDataLst>
          </p:nvPr>
        </p:nvPicPr>
        <p:blipFill>
          <a:blip r:embed="rId14"/>
          <a:stretch>
            <a:fillRect/>
          </a:stretch>
        </p:blipFill>
        <p:spPr>
          <a:xfrm>
            <a:off x="11398250" y="6079490"/>
            <a:ext cx="414655" cy="353695"/>
          </a:xfrm>
          <a:prstGeom prst="rect">
            <a:avLst/>
          </a:prstGeom>
        </p:spPr>
      </p:pic>
      <p:pic>
        <p:nvPicPr>
          <p:cNvPr id="9" name="图片 8" descr="ai_picture_ai_change_1787726306650"/>
          <p:cNvPicPr>
            <a:picLocks noChangeAspect="1"/>
          </p:cNvPicPr>
          <p:nvPr>
            <p:custDataLst>
              <p:tags r:id="rId15"/>
            </p:custDataLst>
          </p:nvPr>
        </p:nvPicPr>
        <p:blipFill>
          <a:blip r:embed="rId16"/>
          <a:srcRect t="9" b="9"/>
          <a:stretch>
            <a:fillRect/>
          </a:stretch>
        </p:blipFill>
        <p:spPr>
          <a:xfrm>
            <a:off x="4003040" y="2235200"/>
            <a:ext cx="3366135" cy="4488815"/>
          </a:xfrm>
          <a:prstGeom prst="rect">
            <a:avLst/>
          </a:prstGeom>
        </p:spPr>
      </p:pic>
      <p:graphicFrame>
        <p:nvGraphicFramePr>
          <p:cNvPr id="10" name="图表 9" descr="7b0a202020202263686172745265734964223a20223530303733323735220a7d0a"/>
          <p:cNvGraphicFramePr/>
          <p:nvPr/>
        </p:nvGraphicFramePr>
        <p:xfrm>
          <a:off x="732155" y="1163320"/>
          <a:ext cx="3168015" cy="1751965"/>
        </p:xfrm>
        <a:graphic>
          <a:graphicData uri="http://schemas.openxmlformats.org/drawingml/2006/chart">
            <c:chart xmlns:c="http://schemas.openxmlformats.org/drawingml/2006/chart" xmlns:r="http://schemas.openxmlformats.org/officeDocument/2006/relationships" r:id="rId1"/>
          </a:graphicData>
        </a:graphic>
      </p:graphicFrame>
      <p:graphicFrame>
        <p:nvGraphicFramePr>
          <p:cNvPr id="11" name="图表 10"/>
          <p:cNvGraphicFramePr/>
          <p:nvPr/>
        </p:nvGraphicFramePr>
        <p:xfrm>
          <a:off x="741680" y="3058160"/>
          <a:ext cx="3167380" cy="160401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2" name="图表 11"/>
          <p:cNvGraphicFramePr/>
          <p:nvPr/>
        </p:nvGraphicFramePr>
        <p:xfrm>
          <a:off x="732155" y="4840605"/>
          <a:ext cx="3176905" cy="175133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3" name="图表 12"/>
          <p:cNvGraphicFramePr/>
          <p:nvPr/>
        </p:nvGraphicFramePr>
        <p:xfrm>
          <a:off x="4124960" y="1172845"/>
          <a:ext cx="3167380" cy="174244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4" name="图表 13"/>
          <p:cNvGraphicFramePr/>
          <p:nvPr/>
        </p:nvGraphicFramePr>
        <p:xfrm>
          <a:off x="7517130" y="1163320"/>
          <a:ext cx="3167380" cy="1743075"/>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15" name="图表 14"/>
          <p:cNvGraphicFramePr/>
          <p:nvPr/>
        </p:nvGraphicFramePr>
        <p:xfrm>
          <a:off x="7517130" y="3063875"/>
          <a:ext cx="3175635" cy="1750695"/>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16" name="图表 15"/>
          <p:cNvGraphicFramePr/>
          <p:nvPr/>
        </p:nvGraphicFramePr>
        <p:xfrm>
          <a:off x="7517765" y="4972050"/>
          <a:ext cx="3166745" cy="1751965"/>
        </p:xfrm>
        <a:graphic>
          <a:graphicData uri="http://schemas.openxmlformats.org/drawingml/2006/chart">
            <c:chart xmlns:c="http://schemas.openxmlformats.org/drawingml/2006/chart" xmlns:r="http://schemas.openxmlformats.org/officeDocument/2006/relationships" r:id="rId7"/>
          </a:graphicData>
        </a:graphic>
      </p:graphicFrame>
      <p:sp>
        <p:nvSpPr>
          <p:cNvPr id="17" name="椭圆 16"/>
          <p:cNvSpPr/>
          <p:nvPr/>
        </p:nvSpPr>
        <p:spPr>
          <a:xfrm>
            <a:off x="5376545" y="4255770"/>
            <a:ext cx="530225" cy="234950"/>
          </a:xfrm>
          <a:prstGeom prst="ellipse">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18" name="直接箭头连接符 17"/>
          <p:cNvCxnSpPr>
            <a:stCxn id="17" idx="1"/>
          </p:cNvCxnSpPr>
          <p:nvPr/>
        </p:nvCxnSpPr>
        <p:spPr>
          <a:xfrm flipH="1" flipV="1">
            <a:off x="3957955" y="2950210"/>
            <a:ext cx="1496060" cy="1339850"/>
          </a:xfrm>
          <a:prstGeom prst="straightConnector1">
            <a:avLst/>
          </a:prstGeom>
          <a:ln>
            <a:solidFill>
              <a:srgbClr val="FF0000"/>
            </a:solidFill>
            <a:tailEnd type="arrow"/>
          </a:ln>
        </p:spPr>
        <p:style>
          <a:lnRef idx="2">
            <a:schemeClr val="accent1"/>
          </a:lnRef>
          <a:fillRef idx="0">
            <a:srgbClr val="FFFFFF"/>
          </a:fillRef>
          <a:effectRef idx="0">
            <a:srgbClr val="FFFFFF"/>
          </a:effectRef>
          <a:fontRef idx="minor">
            <a:schemeClr val="tx1"/>
          </a:fontRef>
        </p:style>
      </p:cxnSp>
      <p:cxnSp>
        <p:nvCxnSpPr>
          <p:cNvPr id="19" name="直接箭头连接符 18"/>
          <p:cNvCxnSpPr>
            <a:stCxn id="17" idx="3"/>
          </p:cNvCxnSpPr>
          <p:nvPr/>
        </p:nvCxnSpPr>
        <p:spPr>
          <a:xfrm flipH="1">
            <a:off x="3983990" y="4456430"/>
            <a:ext cx="1470025" cy="991235"/>
          </a:xfrm>
          <a:prstGeom prst="straightConnector1">
            <a:avLst/>
          </a:prstGeom>
          <a:ln>
            <a:solidFill>
              <a:srgbClr val="FF0000"/>
            </a:solidFill>
            <a:tailEnd type="arrow"/>
          </a:ln>
        </p:spPr>
        <p:style>
          <a:lnRef idx="2">
            <a:schemeClr val="accent1"/>
          </a:lnRef>
          <a:fillRef idx="0">
            <a:srgbClr val="FFFFFF"/>
          </a:fillRef>
          <a:effectRef idx="0">
            <a:srgbClr val="FFFFFF"/>
          </a:effectRef>
          <a:fontRef idx="minor">
            <a:schemeClr val="tx1"/>
          </a:fontRef>
        </p:style>
      </p:cxnSp>
      <p:sp>
        <p:nvSpPr>
          <p:cNvPr id="20" name="椭圆 19"/>
          <p:cNvSpPr/>
          <p:nvPr/>
        </p:nvSpPr>
        <p:spPr>
          <a:xfrm>
            <a:off x="4636770" y="4446905"/>
            <a:ext cx="513080" cy="278130"/>
          </a:xfrm>
          <a:prstGeom prst="ellipse">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21" name="直接箭头连接符 20"/>
          <p:cNvCxnSpPr>
            <a:stCxn id="20" idx="1"/>
          </p:cNvCxnSpPr>
          <p:nvPr/>
        </p:nvCxnSpPr>
        <p:spPr>
          <a:xfrm flipH="1" flipV="1">
            <a:off x="3983990" y="3985260"/>
            <a:ext cx="727710" cy="502285"/>
          </a:xfrm>
          <a:prstGeom prst="straightConnector1">
            <a:avLst/>
          </a:prstGeom>
          <a:ln>
            <a:solidFill>
              <a:srgbClr val="FF0000"/>
            </a:solidFill>
            <a:tailEnd type="arrow"/>
          </a:ln>
        </p:spPr>
        <p:style>
          <a:lnRef idx="2">
            <a:schemeClr val="accent1"/>
          </a:lnRef>
          <a:fillRef idx="0">
            <a:srgbClr val="FFFFFF"/>
          </a:fillRef>
          <a:effectRef idx="0">
            <a:srgbClr val="FFFFFF"/>
          </a:effectRef>
          <a:fontRef idx="minor">
            <a:schemeClr val="tx1"/>
          </a:fontRef>
        </p:style>
      </p:cxnSp>
      <p:sp>
        <p:nvSpPr>
          <p:cNvPr id="22" name="椭圆 21"/>
          <p:cNvSpPr/>
          <p:nvPr/>
        </p:nvSpPr>
        <p:spPr>
          <a:xfrm>
            <a:off x="5976620" y="4316095"/>
            <a:ext cx="426720" cy="200660"/>
          </a:xfrm>
          <a:prstGeom prst="ellipse">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23" name="直接箭头连接符 22"/>
          <p:cNvCxnSpPr>
            <a:stCxn id="22" idx="0"/>
          </p:cNvCxnSpPr>
          <p:nvPr/>
        </p:nvCxnSpPr>
        <p:spPr>
          <a:xfrm flipH="1" flipV="1">
            <a:off x="6011545" y="3002280"/>
            <a:ext cx="178435" cy="1313815"/>
          </a:xfrm>
          <a:prstGeom prst="straightConnector1">
            <a:avLst/>
          </a:prstGeom>
          <a:ln>
            <a:solidFill>
              <a:srgbClr val="FF0000"/>
            </a:solidFill>
            <a:tailEnd type="arrow"/>
          </a:ln>
        </p:spPr>
        <p:style>
          <a:lnRef idx="2">
            <a:schemeClr val="accent1"/>
          </a:lnRef>
          <a:fillRef idx="0">
            <a:srgbClr val="FFFFFF"/>
          </a:fillRef>
          <a:effectRef idx="0">
            <a:srgbClr val="FFFFFF"/>
          </a:effectRef>
          <a:fontRef idx="minor">
            <a:schemeClr val="tx1"/>
          </a:fontRef>
        </p:style>
      </p:cxnSp>
      <p:cxnSp>
        <p:nvCxnSpPr>
          <p:cNvPr id="24" name="直接箭头连接符 23"/>
          <p:cNvCxnSpPr>
            <a:stCxn id="22" idx="7"/>
          </p:cNvCxnSpPr>
          <p:nvPr/>
        </p:nvCxnSpPr>
        <p:spPr>
          <a:xfrm flipV="1">
            <a:off x="6341110" y="2906395"/>
            <a:ext cx="1167765" cy="1438910"/>
          </a:xfrm>
          <a:prstGeom prst="straightConnector1">
            <a:avLst/>
          </a:prstGeom>
          <a:ln>
            <a:solidFill>
              <a:srgbClr val="FF0000"/>
            </a:solidFill>
            <a:tailEnd type="arrow"/>
          </a:ln>
        </p:spPr>
        <p:style>
          <a:lnRef idx="2">
            <a:schemeClr val="accent1"/>
          </a:lnRef>
          <a:fillRef idx="0">
            <a:srgbClr val="FFFFFF"/>
          </a:fillRef>
          <a:effectRef idx="0">
            <a:srgbClr val="FFFFFF"/>
          </a:effectRef>
          <a:fontRef idx="minor">
            <a:schemeClr val="tx1"/>
          </a:fontRef>
        </p:style>
      </p:cxnSp>
      <p:sp>
        <p:nvSpPr>
          <p:cNvPr id="25" name="椭圆 24"/>
          <p:cNvSpPr/>
          <p:nvPr/>
        </p:nvSpPr>
        <p:spPr>
          <a:xfrm>
            <a:off x="6098540" y="4829810"/>
            <a:ext cx="582930" cy="217805"/>
          </a:xfrm>
          <a:prstGeom prst="ellipse">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26" name="直接箭头连接符 25"/>
          <p:cNvCxnSpPr>
            <a:stCxn id="25" idx="7"/>
          </p:cNvCxnSpPr>
          <p:nvPr/>
        </p:nvCxnSpPr>
        <p:spPr>
          <a:xfrm flipV="1">
            <a:off x="6596380" y="4229100"/>
            <a:ext cx="851535" cy="632460"/>
          </a:xfrm>
          <a:prstGeom prst="straightConnector1">
            <a:avLst/>
          </a:prstGeom>
          <a:ln>
            <a:solidFill>
              <a:srgbClr val="FF0000"/>
            </a:solidFill>
            <a:tailEnd type="arrow"/>
          </a:ln>
        </p:spPr>
        <p:style>
          <a:lnRef idx="2">
            <a:schemeClr val="accent1"/>
          </a:lnRef>
          <a:fillRef idx="0">
            <a:srgbClr val="FFFFFF"/>
          </a:fillRef>
          <a:effectRef idx="0">
            <a:srgbClr val="FFFFFF"/>
          </a:effectRef>
          <a:fontRef idx="minor">
            <a:schemeClr val="tx1"/>
          </a:fontRef>
        </p:style>
      </p:cxnSp>
      <p:sp>
        <p:nvSpPr>
          <p:cNvPr id="27" name="椭圆 26"/>
          <p:cNvSpPr/>
          <p:nvPr/>
        </p:nvSpPr>
        <p:spPr>
          <a:xfrm>
            <a:off x="5628640" y="5351780"/>
            <a:ext cx="704850" cy="234950"/>
          </a:xfrm>
          <a:prstGeom prst="ellipse">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28" name="直接箭头连接符 27"/>
          <p:cNvCxnSpPr>
            <a:stCxn id="27" idx="6"/>
          </p:cNvCxnSpPr>
          <p:nvPr/>
        </p:nvCxnSpPr>
        <p:spPr>
          <a:xfrm>
            <a:off x="6333490" y="5469255"/>
            <a:ext cx="1131570" cy="65405"/>
          </a:xfrm>
          <a:prstGeom prst="straightConnector1">
            <a:avLst/>
          </a:prstGeom>
          <a:ln>
            <a:solidFill>
              <a:srgbClr val="FF0000"/>
            </a:solidFill>
            <a:tailEnd type="arrow"/>
          </a:ln>
        </p:spPr>
        <p:style>
          <a:lnRef idx="2">
            <a:schemeClr val="accent1"/>
          </a:lnRef>
          <a:fillRef idx="0">
            <a:srgbClr val="FFFFFF"/>
          </a:fillRef>
          <a:effectRef idx="0">
            <a:srgbClr val="FFFFFF"/>
          </a:effectRef>
          <a:fontRef idx="minor">
            <a:schemeClr val="tx1"/>
          </a:fontRef>
        </p:style>
      </p:cxnSp>
    </p:spTree>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224987" y="263525"/>
            <a:ext cx="1056074" cy="900000"/>
          </a:xfrm>
          <a:prstGeom prst="rect">
            <a:avLst/>
          </a:prstGeom>
        </p:spPr>
      </p:pic>
      <p:sp>
        <p:nvSpPr>
          <p:cNvPr id="74" name="文本框 73"/>
          <p:cNvSpPr txBox="1"/>
          <p:nvPr/>
        </p:nvSpPr>
        <p:spPr>
          <a:xfrm>
            <a:off x="2392680" y="448310"/>
            <a:ext cx="4364355" cy="645160"/>
          </a:xfrm>
          <a:prstGeom prst="rect">
            <a:avLst/>
          </a:prstGeom>
          <a:noFill/>
        </p:spPr>
        <p:txBody>
          <a:bodyPr wrap="square" rtlCol="0">
            <a:spAutoFit/>
          </a:bodyPr>
          <a:lstStyle>
            <a:defPPr>
              <a:defRPr lang="zh-CN"/>
            </a:defPPr>
            <a:lvl1pPr>
              <a:defRPr sz="3200" b="1">
                <a:solidFill>
                  <a:srgbClr val="860000"/>
                </a:solidFill>
                <a:latin typeface="时尚中黑简体" panose="01010104010101010101" pitchFamily="2" charset="-122"/>
                <a:ea typeface="时尚中黑简体" panose="01010104010101010101" pitchFamily="2" charset="-122"/>
              </a:defRPr>
            </a:lvl1pPr>
          </a:lstStyle>
          <a:p>
            <a:r>
              <a:rPr lang="zh-CN" altLang="en-US" sz="3600" dirty="0">
                <a:solidFill>
                  <a:srgbClr val="C00000"/>
                </a:solidFill>
                <a:latin typeface="微软雅黑" panose="020B0503020204020204" pitchFamily="34" charset="-122"/>
                <a:ea typeface="微软雅黑" panose="020B0503020204020204" pitchFamily="34" charset="-122"/>
                <a:sym typeface="+mn-ea"/>
              </a:rPr>
              <a:t>河南市场份额</a:t>
            </a:r>
            <a:r>
              <a:rPr lang="zh-CN" altLang="en-US" sz="3600" dirty="0">
                <a:solidFill>
                  <a:srgbClr val="C00000"/>
                </a:solidFill>
                <a:latin typeface="微软雅黑" panose="020B0503020204020204" pitchFamily="34" charset="-122"/>
                <a:ea typeface="微软雅黑" panose="020B0503020204020204" pitchFamily="34" charset="-122"/>
                <a:sym typeface="+mn-ea"/>
              </a:rPr>
              <a:t>情况</a:t>
            </a:r>
            <a:endParaRPr lang="zh-CN" altLang="en-US" sz="3600" dirty="0">
              <a:solidFill>
                <a:srgbClr val="C00000"/>
              </a:solidFill>
              <a:latin typeface="微软雅黑" panose="020B0503020204020204" pitchFamily="34" charset="-122"/>
              <a:ea typeface="微软雅黑" panose="020B0503020204020204" pitchFamily="34" charset="-122"/>
              <a:sym typeface="+mn-ea"/>
            </a:endParaRPr>
          </a:p>
        </p:txBody>
      </p:sp>
      <p:sp>
        <p:nvSpPr>
          <p:cNvPr id="29" name="矩形 28"/>
          <p:cNvSpPr/>
          <p:nvPr/>
        </p:nvSpPr>
        <p:spPr>
          <a:xfrm>
            <a:off x="1530350" y="373380"/>
            <a:ext cx="436245" cy="720090"/>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矩形 32"/>
          <p:cNvSpPr/>
          <p:nvPr>
            <p:custDataLst>
              <p:tags r:id="rId9"/>
            </p:custDataLst>
          </p:nvPr>
        </p:nvSpPr>
        <p:spPr>
          <a:xfrm>
            <a:off x="2061210" y="373380"/>
            <a:ext cx="191770" cy="720090"/>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p:cNvSpPr/>
          <p:nvPr>
            <p:custDataLst>
              <p:tags r:id="rId10"/>
            </p:custDataLst>
          </p:nvPr>
        </p:nvSpPr>
        <p:spPr>
          <a:xfrm>
            <a:off x="6372860" y="373380"/>
            <a:ext cx="352425" cy="720090"/>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矩形 58"/>
          <p:cNvSpPr/>
          <p:nvPr>
            <p:custDataLst>
              <p:tags r:id="rId11"/>
            </p:custDataLst>
          </p:nvPr>
        </p:nvSpPr>
        <p:spPr>
          <a:xfrm>
            <a:off x="11323955" y="5967095"/>
            <a:ext cx="567690" cy="578485"/>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矩形 69"/>
          <p:cNvSpPr/>
          <p:nvPr>
            <p:custDataLst>
              <p:tags r:id="rId12"/>
            </p:custDataLst>
          </p:nvPr>
        </p:nvSpPr>
        <p:spPr>
          <a:xfrm>
            <a:off x="11001375" y="5967095"/>
            <a:ext cx="223520" cy="578485"/>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2" name="图片 101" descr="微信图片_20210702102959"/>
          <p:cNvPicPr>
            <a:picLocks noChangeAspect="1"/>
          </p:cNvPicPr>
          <p:nvPr>
            <p:custDataLst>
              <p:tags r:id="rId13"/>
            </p:custDataLst>
          </p:nvPr>
        </p:nvPicPr>
        <p:blipFill>
          <a:blip r:embed="rId14"/>
          <a:stretch>
            <a:fillRect/>
          </a:stretch>
        </p:blipFill>
        <p:spPr>
          <a:xfrm>
            <a:off x="11398250" y="6079490"/>
            <a:ext cx="414655" cy="353695"/>
          </a:xfrm>
          <a:prstGeom prst="rect">
            <a:avLst/>
          </a:prstGeom>
        </p:spPr>
      </p:pic>
      <p:pic>
        <p:nvPicPr>
          <p:cNvPr id="9" name="图片 8" descr="ai_picture_ai_change_1787726306650"/>
          <p:cNvPicPr>
            <a:picLocks noChangeAspect="1"/>
          </p:cNvPicPr>
          <p:nvPr>
            <p:custDataLst>
              <p:tags r:id="rId15"/>
            </p:custDataLst>
          </p:nvPr>
        </p:nvPicPr>
        <p:blipFill>
          <a:blip r:embed="rId16"/>
          <a:srcRect t="9" b="9"/>
          <a:stretch>
            <a:fillRect/>
          </a:stretch>
        </p:blipFill>
        <p:spPr>
          <a:xfrm>
            <a:off x="4012565" y="1664970"/>
            <a:ext cx="3937000" cy="5250180"/>
          </a:xfrm>
          <a:prstGeom prst="rect">
            <a:avLst/>
          </a:prstGeom>
        </p:spPr>
      </p:pic>
      <p:graphicFrame>
        <p:nvGraphicFramePr>
          <p:cNvPr id="3" name="图表 2"/>
          <p:cNvGraphicFramePr/>
          <p:nvPr/>
        </p:nvGraphicFramePr>
        <p:xfrm>
          <a:off x="1450975" y="1294130"/>
          <a:ext cx="3517265" cy="1735455"/>
        </p:xfrm>
        <a:graphic>
          <a:graphicData uri="http://schemas.openxmlformats.org/drawingml/2006/chart">
            <c:chart xmlns:c="http://schemas.openxmlformats.org/drawingml/2006/chart" xmlns:r="http://schemas.openxmlformats.org/officeDocument/2006/relationships" r:id="rId1"/>
          </a:graphicData>
        </a:graphic>
      </p:graphicFrame>
      <p:graphicFrame>
        <p:nvGraphicFramePr>
          <p:cNvPr id="7" name="图表 6"/>
          <p:cNvGraphicFramePr/>
          <p:nvPr/>
        </p:nvGraphicFramePr>
        <p:xfrm>
          <a:off x="239395" y="3029585"/>
          <a:ext cx="3517900" cy="18034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30" name="图表 29"/>
          <p:cNvGraphicFramePr/>
          <p:nvPr/>
        </p:nvGraphicFramePr>
        <p:xfrm>
          <a:off x="1194435" y="4894580"/>
          <a:ext cx="3517265" cy="174561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31" name="图表 30"/>
          <p:cNvGraphicFramePr/>
          <p:nvPr/>
        </p:nvGraphicFramePr>
        <p:xfrm>
          <a:off x="4288155" y="989330"/>
          <a:ext cx="3506470" cy="173482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32" name="图表 31"/>
          <p:cNvGraphicFramePr/>
          <p:nvPr/>
        </p:nvGraphicFramePr>
        <p:xfrm>
          <a:off x="7303135" y="1372870"/>
          <a:ext cx="3524885" cy="1735455"/>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35" name="图表 34"/>
          <p:cNvGraphicFramePr/>
          <p:nvPr/>
        </p:nvGraphicFramePr>
        <p:xfrm>
          <a:off x="8444230" y="2924810"/>
          <a:ext cx="3505835" cy="1800225"/>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36" name="图表 35"/>
          <p:cNvGraphicFramePr/>
          <p:nvPr/>
        </p:nvGraphicFramePr>
        <p:xfrm>
          <a:off x="7561580" y="4829810"/>
          <a:ext cx="3508375" cy="1810385"/>
        </p:xfrm>
        <a:graphic>
          <a:graphicData uri="http://schemas.openxmlformats.org/drawingml/2006/chart">
            <c:chart xmlns:c="http://schemas.openxmlformats.org/drawingml/2006/chart" xmlns:r="http://schemas.openxmlformats.org/officeDocument/2006/relationships" r:id="rId7"/>
          </a:graphicData>
        </a:graphic>
      </p:graphicFrame>
      <p:sp>
        <p:nvSpPr>
          <p:cNvPr id="38" name="椭圆 37"/>
          <p:cNvSpPr/>
          <p:nvPr/>
        </p:nvSpPr>
        <p:spPr>
          <a:xfrm>
            <a:off x="5680710" y="4048760"/>
            <a:ext cx="522605" cy="191770"/>
          </a:xfrm>
          <a:prstGeom prst="ellipse">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9" name="椭圆 38"/>
          <p:cNvSpPr/>
          <p:nvPr/>
        </p:nvSpPr>
        <p:spPr>
          <a:xfrm>
            <a:off x="5889625" y="5284470"/>
            <a:ext cx="835660" cy="235585"/>
          </a:xfrm>
          <a:prstGeom prst="ellipse">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0" name="椭圆 39"/>
          <p:cNvSpPr/>
          <p:nvPr/>
        </p:nvSpPr>
        <p:spPr>
          <a:xfrm>
            <a:off x="4740910" y="4344670"/>
            <a:ext cx="591820" cy="182880"/>
          </a:xfrm>
          <a:prstGeom prst="ellipse">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1" name="椭圆 40"/>
          <p:cNvSpPr/>
          <p:nvPr/>
        </p:nvSpPr>
        <p:spPr>
          <a:xfrm>
            <a:off x="6490335" y="4719320"/>
            <a:ext cx="617855" cy="217170"/>
          </a:xfrm>
          <a:prstGeom prst="ellipse">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2" name="椭圆 41"/>
          <p:cNvSpPr/>
          <p:nvPr/>
        </p:nvSpPr>
        <p:spPr>
          <a:xfrm>
            <a:off x="6333490" y="4101465"/>
            <a:ext cx="478790" cy="226060"/>
          </a:xfrm>
          <a:prstGeom prst="ellipse">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43" name="直接箭头连接符 42"/>
          <p:cNvCxnSpPr>
            <a:stCxn id="38" idx="1"/>
          </p:cNvCxnSpPr>
          <p:nvPr/>
        </p:nvCxnSpPr>
        <p:spPr>
          <a:xfrm flipH="1" flipV="1">
            <a:off x="3879215" y="2717165"/>
            <a:ext cx="1878330" cy="1359535"/>
          </a:xfrm>
          <a:prstGeom prst="straightConnector1">
            <a:avLst/>
          </a:prstGeom>
          <a:ln>
            <a:solidFill>
              <a:srgbClr val="FF0000"/>
            </a:solidFill>
            <a:tailEnd type="arrow"/>
          </a:ln>
        </p:spPr>
        <p:style>
          <a:lnRef idx="2">
            <a:schemeClr val="accent1"/>
          </a:lnRef>
          <a:fillRef idx="0">
            <a:srgbClr val="FFFFFF"/>
          </a:fillRef>
          <a:effectRef idx="0">
            <a:srgbClr val="FFFFFF"/>
          </a:effectRef>
          <a:fontRef idx="minor">
            <a:schemeClr val="tx1"/>
          </a:fontRef>
        </p:style>
      </p:cxnSp>
      <p:cxnSp>
        <p:nvCxnSpPr>
          <p:cNvPr id="44" name="直接箭头连接符 43"/>
          <p:cNvCxnSpPr>
            <a:stCxn id="38" idx="4"/>
          </p:cNvCxnSpPr>
          <p:nvPr/>
        </p:nvCxnSpPr>
        <p:spPr>
          <a:xfrm flipH="1">
            <a:off x="3722370" y="4240530"/>
            <a:ext cx="2219960" cy="1453515"/>
          </a:xfrm>
          <a:prstGeom prst="straightConnector1">
            <a:avLst/>
          </a:prstGeom>
          <a:ln>
            <a:solidFill>
              <a:srgbClr val="FF0000"/>
            </a:solidFill>
            <a:tailEnd type="arrow"/>
          </a:ln>
        </p:spPr>
        <p:style>
          <a:lnRef idx="2">
            <a:schemeClr val="accent1"/>
          </a:lnRef>
          <a:fillRef idx="0">
            <a:srgbClr val="FFFFFF"/>
          </a:fillRef>
          <a:effectRef idx="0">
            <a:srgbClr val="FFFFFF"/>
          </a:effectRef>
          <a:fontRef idx="minor">
            <a:schemeClr val="tx1"/>
          </a:fontRef>
        </p:style>
      </p:cxnSp>
      <p:cxnSp>
        <p:nvCxnSpPr>
          <p:cNvPr id="45" name="直接箭头连接符 44"/>
          <p:cNvCxnSpPr>
            <a:stCxn id="40" idx="2"/>
          </p:cNvCxnSpPr>
          <p:nvPr/>
        </p:nvCxnSpPr>
        <p:spPr>
          <a:xfrm flipH="1" flipV="1">
            <a:off x="2948305" y="4135755"/>
            <a:ext cx="1792605" cy="300355"/>
          </a:xfrm>
          <a:prstGeom prst="straightConnector1">
            <a:avLst/>
          </a:prstGeom>
          <a:ln>
            <a:solidFill>
              <a:srgbClr val="FF0000"/>
            </a:solidFill>
            <a:tailEnd type="arrow"/>
          </a:ln>
        </p:spPr>
        <p:style>
          <a:lnRef idx="2">
            <a:schemeClr val="accent1"/>
          </a:lnRef>
          <a:fillRef idx="0">
            <a:srgbClr val="FFFFFF"/>
          </a:fillRef>
          <a:effectRef idx="0">
            <a:srgbClr val="FFFFFF"/>
          </a:effectRef>
          <a:fontRef idx="minor">
            <a:schemeClr val="tx1"/>
          </a:fontRef>
        </p:style>
      </p:cxnSp>
      <p:cxnSp>
        <p:nvCxnSpPr>
          <p:cNvPr id="46" name="直接箭头连接符 45"/>
          <p:cNvCxnSpPr>
            <a:stCxn id="42" idx="0"/>
            <a:endCxn id="31" idx="2"/>
          </p:cNvCxnSpPr>
          <p:nvPr/>
        </p:nvCxnSpPr>
        <p:spPr>
          <a:xfrm flipH="1" flipV="1">
            <a:off x="6041390" y="2724150"/>
            <a:ext cx="531495" cy="1377315"/>
          </a:xfrm>
          <a:prstGeom prst="straightConnector1">
            <a:avLst/>
          </a:prstGeom>
          <a:ln>
            <a:solidFill>
              <a:srgbClr val="FF0000"/>
            </a:solidFill>
            <a:tailEnd type="arrow"/>
          </a:ln>
        </p:spPr>
        <p:style>
          <a:lnRef idx="2">
            <a:schemeClr val="accent1"/>
          </a:lnRef>
          <a:fillRef idx="0">
            <a:srgbClr val="FFFFFF"/>
          </a:fillRef>
          <a:effectRef idx="0">
            <a:srgbClr val="FFFFFF"/>
          </a:effectRef>
          <a:fontRef idx="minor">
            <a:schemeClr val="tx1"/>
          </a:fontRef>
        </p:style>
      </p:cxnSp>
      <p:cxnSp>
        <p:nvCxnSpPr>
          <p:cNvPr id="47" name="直接箭头连接符 46"/>
          <p:cNvCxnSpPr>
            <a:stCxn id="42" idx="7"/>
          </p:cNvCxnSpPr>
          <p:nvPr/>
        </p:nvCxnSpPr>
        <p:spPr>
          <a:xfrm flipV="1">
            <a:off x="6742430" y="2830830"/>
            <a:ext cx="1775460" cy="1303655"/>
          </a:xfrm>
          <a:prstGeom prst="straightConnector1">
            <a:avLst/>
          </a:prstGeom>
          <a:ln>
            <a:solidFill>
              <a:srgbClr val="FF0000"/>
            </a:solidFill>
            <a:tailEnd type="arrow"/>
          </a:ln>
        </p:spPr>
        <p:style>
          <a:lnRef idx="2">
            <a:schemeClr val="accent1"/>
          </a:lnRef>
          <a:fillRef idx="0">
            <a:srgbClr val="FFFFFF"/>
          </a:fillRef>
          <a:effectRef idx="0">
            <a:srgbClr val="FFFFFF"/>
          </a:effectRef>
          <a:fontRef idx="minor">
            <a:schemeClr val="tx1"/>
          </a:fontRef>
        </p:style>
      </p:cxnSp>
      <p:cxnSp>
        <p:nvCxnSpPr>
          <p:cNvPr id="48" name="直接箭头连接符 47"/>
          <p:cNvCxnSpPr>
            <a:stCxn id="41" idx="7"/>
          </p:cNvCxnSpPr>
          <p:nvPr/>
        </p:nvCxnSpPr>
        <p:spPr>
          <a:xfrm flipV="1">
            <a:off x="7018020" y="4092575"/>
            <a:ext cx="2474595" cy="658495"/>
          </a:xfrm>
          <a:prstGeom prst="straightConnector1">
            <a:avLst/>
          </a:prstGeom>
          <a:ln>
            <a:solidFill>
              <a:srgbClr val="FF0000"/>
            </a:solidFill>
            <a:tailEnd type="arrow"/>
          </a:ln>
        </p:spPr>
        <p:style>
          <a:lnRef idx="2">
            <a:schemeClr val="accent1"/>
          </a:lnRef>
          <a:fillRef idx="0">
            <a:srgbClr val="FFFFFF"/>
          </a:fillRef>
          <a:effectRef idx="0">
            <a:srgbClr val="FFFFFF"/>
          </a:effectRef>
          <a:fontRef idx="minor">
            <a:schemeClr val="tx1"/>
          </a:fontRef>
        </p:style>
      </p:cxnSp>
      <p:cxnSp>
        <p:nvCxnSpPr>
          <p:cNvPr id="49" name="直接箭头连接符 48"/>
          <p:cNvCxnSpPr>
            <a:stCxn id="39" idx="6"/>
          </p:cNvCxnSpPr>
          <p:nvPr/>
        </p:nvCxnSpPr>
        <p:spPr>
          <a:xfrm>
            <a:off x="6725285" y="5402580"/>
            <a:ext cx="1801495" cy="386715"/>
          </a:xfrm>
          <a:prstGeom prst="straightConnector1">
            <a:avLst/>
          </a:prstGeom>
          <a:ln>
            <a:solidFill>
              <a:srgbClr val="FF0000"/>
            </a:solidFill>
            <a:tailEnd type="arrow"/>
          </a:ln>
        </p:spPr>
        <p:style>
          <a:lnRef idx="2">
            <a:schemeClr val="accent1"/>
          </a:lnRef>
          <a:fillRef idx="0">
            <a:srgbClr val="FFFFFF"/>
          </a:fillRef>
          <a:effectRef idx="0">
            <a:srgbClr val="FFFFFF"/>
          </a:effectRef>
          <a:fontRef idx="minor">
            <a:schemeClr val="tx1"/>
          </a:fontRef>
        </p:style>
      </p:cxnSp>
    </p:spTree>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224987" y="263525"/>
            <a:ext cx="1056074" cy="900000"/>
          </a:xfrm>
          <a:prstGeom prst="rect">
            <a:avLst/>
          </a:prstGeom>
        </p:spPr>
      </p:pic>
      <p:sp>
        <p:nvSpPr>
          <p:cNvPr id="74" name="文本框 73"/>
          <p:cNvSpPr txBox="1"/>
          <p:nvPr/>
        </p:nvSpPr>
        <p:spPr>
          <a:xfrm>
            <a:off x="2392680" y="448310"/>
            <a:ext cx="6879590" cy="645160"/>
          </a:xfrm>
          <a:prstGeom prst="rect">
            <a:avLst/>
          </a:prstGeom>
          <a:noFill/>
        </p:spPr>
        <p:txBody>
          <a:bodyPr wrap="square" rtlCol="0">
            <a:spAutoFit/>
          </a:bodyPr>
          <a:lstStyle>
            <a:defPPr>
              <a:defRPr lang="zh-CN"/>
            </a:defPPr>
            <a:lvl1pPr>
              <a:defRPr sz="3200" b="1">
                <a:solidFill>
                  <a:srgbClr val="860000"/>
                </a:solidFill>
                <a:latin typeface="时尚中黑简体" panose="01010104010101010101" pitchFamily="2" charset="-122"/>
                <a:ea typeface="时尚中黑简体" panose="01010104010101010101" pitchFamily="2" charset="-122"/>
              </a:defRPr>
            </a:lvl1pPr>
          </a:lstStyle>
          <a:p>
            <a:r>
              <a:rPr lang="zh-CN" altLang="en-US" sz="3600" dirty="0">
                <a:solidFill>
                  <a:srgbClr val="C00000"/>
                </a:solidFill>
                <a:latin typeface="微软雅黑" panose="020B0503020204020204" pitchFamily="34" charset="-122"/>
                <a:ea typeface="微软雅黑" panose="020B0503020204020204" pitchFamily="34" charset="-122"/>
                <a:sym typeface="+mn-ea"/>
              </a:rPr>
              <a:t>市场经营</a:t>
            </a:r>
            <a:r>
              <a:rPr lang="zh-CN" altLang="en-US" sz="3600" dirty="0">
                <a:solidFill>
                  <a:srgbClr val="C00000"/>
                </a:solidFill>
                <a:latin typeface="微软雅黑" panose="020B0503020204020204" pitchFamily="34" charset="-122"/>
                <a:ea typeface="微软雅黑" panose="020B0503020204020204" pitchFamily="34" charset="-122"/>
                <a:sym typeface="+mn-ea"/>
              </a:rPr>
              <a:t>现状</a:t>
            </a:r>
            <a:endParaRPr lang="zh-CN" altLang="en-US" sz="3600" dirty="0">
              <a:solidFill>
                <a:srgbClr val="C00000"/>
              </a:solidFill>
              <a:latin typeface="微软雅黑" panose="020B0503020204020204" pitchFamily="34" charset="-122"/>
              <a:ea typeface="微软雅黑" panose="020B0503020204020204" pitchFamily="34" charset="-122"/>
              <a:sym typeface="+mn-ea"/>
            </a:endParaRPr>
          </a:p>
        </p:txBody>
      </p:sp>
      <p:sp>
        <p:nvSpPr>
          <p:cNvPr id="29" name="矩形 28"/>
          <p:cNvSpPr/>
          <p:nvPr/>
        </p:nvSpPr>
        <p:spPr>
          <a:xfrm>
            <a:off x="1530350" y="373380"/>
            <a:ext cx="436245" cy="720090"/>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矩形 32"/>
          <p:cNvSpPr/>
          <p:nvPr>
            <p:custDataLst>
              <p:tags r:id="rId2"/>
            </p:custDataLst>
          </p:nvPr>
        </p:nvSpPr>
        <p:spPr>
          <a:xfrm>
            <a:off x="2061210" y="373380"/>
            <a:ext cx="191770" cy="720090"/>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p:cNvSpPr/>
          <p:nvPr>
            <p:custDataLst>
              <p:tags r:id="rId3"/>
            </p:custDataLst>
          </p:nvPr>
        </p:nvSpPr>
        <p:spPr>
          <a:xfrm>
            <a:off x="5461635" y="373380"/>
            <a:ext cx="352425" cy="720090"/>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矩形 58"/>
          <p:cNvSpPr/>
          <p:nvPr>
            <p:custDataLst>
              <p:tags r:id="rId4"/>
            </p:custDataLst>
          </p:nvPr>
        </p:nvSpPr>
        <p:spPr>
          <a:xfrm>
            <a:off x="11323955" y="5967095"/>
            <a:ext cx="567690" cy="578485"/>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矩形 69"/>
          <p:cNvSpPr/>
          <p:nvPr>
            <p:custDataLst>
              <p:tags r:id="rId5"/>
            </p:custDataLst>
          </p:nvPr>
        </p:nvSpPr>
        <p:spPr>
          <a:xfrm>
            <a:off x="11001375" y="5967095"/>
            <a:ext cx="223520" cy="578485"/>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2" name="图片 101" descr="微信图片_20210702102959"/>
          <p:cNvPicPr>
            <a:picLocks noChangeAspect="1"/>
          </p:cNvPicPr>
          <p:nvPr>
            <p:custDataLst>
              <p:tags r:id="rId6"/>
            </p:custDataLst>
          </p:nvPr>
        </p:nvPicPr>
        <p:blipFill>
          <a:blip r:embed="rId7"/>
          <a:stretch>
            <a:fillRect/>
          </a:stretch>
        </p:blipFill>
        <p:spPr>
          <a:xfrm>
            <a:off x="11398250" y="6079490"/>
            <a:ext cx="414655" cy="353695"/>
          </a:xfrm>
          <a:prstGeom prst="rect">
            <a:avLst/>
          </a:prstGeom>
        </p:spPr>
      </p:pic>
      <p:pic>
        <p:nvPicPr>
          <p:cNvPr id="9" name="图片 8" descr="ai_picture_ai_change_1787726306650"/>
          <p:cNvPicPr>
            <a:picLocks noChangeAspect="1"/>
          </p:cNvPicPr>
          <p:nvPr>
            <p:custDataLst>
              <p:tags r:id="rId8"/>
            </p:custDataLst>
          </p:nvPr>
        </p:nvPicPr>
        <p:blipFill>
          <a:blip r:embed="rId9"/>
          <a:srcRect t="9" b="9"/>
          <a:stretch>
            <a:fillRect/>
          </a:stretch>
        </p:blipFill>
        <p:spPr>
          <a:xfrm>
            <a:off x="3742690" y="1295400"/>
            <a:ext cx="3937000" cy="5250180"/>
          </a:xfrm>
          <a:prstGeom prst="rect">
            <a:avLst/>
          </a:prstGeom>
        </p:spPr>
      </p:pic>
      <p:sp>
        <p:nvSpPr>
          <p:cNvPr id="2" name="文本框 1"/>
          <p:cNvSpPr txBox="1"/>
          <p:nvPr/>
        </p:nvSpPr>
        <p:spPr>
          <a:xfrm>
            <a:off x="589915" y="1644650"/>
            <a:ext cx="2984500" cy="3969385"/>
          </a:xfrm>
          <a:prstGeom prst="rect">
            <a:avLst/>
          </a:prstGeom>
          <a:noFill/>
        </p:spPr>
        <p:txBody>
          <a:bodyPr wrap="square" rtlCol="0">
            <a:spAutoFit/>
          </a:bodyPr>
          <a:p>
            <a:r>
              <a:rPr lang="zh-CN" altLang="en-US" b="1">
                <a:solidFill>
                  <a:srgbClr val="FF0000"/>
                </a:solidFill>
              </a:rPr>
              <a:t>郑州南、中原市场</a:t>
            </a:r>
            <a:r>
              <a:rPr lang="zh-CN" altLang="en-US"/>
              <a:t>：</a:t>
            </a:r>
            <a:endParaRPr lang="zh-CN" altLang="en-US"/>
          </a:p>
          <a:p>
            <a:r>
              <a:rPr lang="zh-CN" altLang="en-US"/>
              <a:t>郑州地区作为省会，槟榔氛围及销量相比周边区域存在一定优势，竞品品类繁多，本品在市场虽处于第一品牌，但仍存在较多不足之处，例不同辖区基础工作差异较大，对于地处偏远、动销缓慢的辖区管理有所松懈（陈列位置、饱满度等）。同时市场管理者深居其位也应时刻保持危机意识和加强自身专业性，避免竞品进攻时出现手足无措的</a:t>
            </a:r>
            <a:r>
              <a:rPr lang="zh-CN" altLang="en-US"/>
              <a:t>现象。</a:t>
            </a:r>
            <a:endParaRPr lang="zh-CN" altLang="en-US"/>
          </a:p>
        </p:txBody>
      </p:sp>
      <p:sp>
        <p:nvSpPr>
          <p:cNvPr id="4" name="椭圆 3"/>
          <p:cNvSpPr/>
          <p:nvPr/>
        </p:nvSpPr>
        <p:spPr>
          <a:xfrm>
            <a:off x="5367655" y="3698240"/>
            <a:ext cx="643890" cy="165735"/>
          </a:xfrm>
          <a:prstGeom prst="ellipse">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5" name="直接箭头连接符 4"/>
          <p:cNvCxnSpPr>
            <a:stCxn id="4" idx="1"/>
          </p:cNvCxnSpPr>
          <p:nvPr/>
        </p:nvCxnSpPr>
        <p:spPr>
          <a:xfrm flipH="1" flipV="1">
            <a:off x="3696335" y="2932430"/>
            <a:ext cx="1765300" cy="789940"/>
          </a:xfrm>
          <a:prstGeom prst="straightConnector1">
            <a:avLst/>
          </a:prstGeom>
          <a:ln>
            <a:solidFill>
              <a:srgbClr val="FF0000"/>
            </a:solidFill>
            <a:tailEnd type="arrow"/>
          </a:ln>
        </p:spPr>
        <p:style>
          <a:lnRef idx="2">
            <a:schemeClr val="accent1"/>
          </a:lnRef>
          <a:fillRef idx="0">
            <a:srgbClr val="FFFFFF"/>
          </a:fillRef>
          <a:effectRef idx="0">
            <a:srgbClr val="FFFFFF"/>
          </a:effectRef>
          <a:fontRef idx="minor">
            <a:schemeClr val="tx1"/>
          </a:fontRef>
        </p:style>
      </p:cxnSp>
      <p:sp>
        <p:nvSpPr>
          <p:cNvPr id="6" name="文本框 5"/>
          <p:cNvSpPr txBox="1"/>
          <p:nvPr/>
        </p:nvSpPr>
        <p:spPr>
          <a:xfrm>
            <a:off x="7997825" y="1644650"/>
            <a:ext cx="3744595" cy="3138170"/>
          </a:xfrm>
          <a:prstGeom prst="rect">
            <a:avLst/>
          </a:prstGeom>
          <a:noFill/>
        </p:spPr>
        <p:txBody>
          <a:bodyPr wrap="square" rtlCol="0">
            <a:spAutoFit/>
          </a:bodyPr>
          <a:p>
            <a:r>
              <a:rPr lang="zh-CN" altLang="en-US" b="1">
                <a:solidFill>
                  <a:srgbClr val="FF0000"/>
                </a:solidFill>
              </a:rPr>
              <a:t>偃师市场</a:t>
            </a:r>
            <a:r>
              <a:rPr lang="zh-CN" altLang="en-US"/>
              <a:t>：</a:t>
            </a:r>
            <a:endParaRPr lang="zh-CN" altLang="en-US"/>
          </a:p>
          <a:p>
            <a:r>
              <a:rPr lang="zh-CN" altLang="en-US"/>
              <a:t>该市场经销商及市场经理管理经验相对稚嫩，主竞品胖哥在该市场及其强势，主城区偃师县已基本沦陷，各项基础工作均不如胖哥，且存在多家终端陈列盒</a:t>
            </a:r>
            <a:r>
              <a:rPr lang="en-US" altLang="zh-CN"/>
              <a:t>/</a:t>
            </a:r>
            <a:r>
              <a:rPr lang="zh-CN" altLang="en-US"/>
              <a:t>架未更新（带有</a:t>
            </a:r>
            <a:r>
              <a:rPr lang="en-US" altLang="zh-CN"/>
              <a:t>“</a:t>
            </a:r>
            <a:r>
              <a:rPr lang="zh-CN" altLang="en-US"/>
              <a:t>槟榔、提神快</a:t>
            </a:r>
            <a:r>
              <a:rPr lang="en-US" altLang="zh-CN"/>
              <a:t>”</a:t>
            </a:r>
            <a:r>
              <a:rPr lang="zh-CN" altLang="en-US"/>
              <a:t>字样），但仓库陈列道具库存相对充足。另外，多家终端反馈各类竞品均有物料发放，例购物袋等，但本品无类似动作，客情关系与竞品相比有所</a:t>
            </a:r>
            <a:r>
              <a:rPr lang="zh-CN" altLang="en-US"/>
              <a:t>不及。</a:t>
            </a:r>
            <a:endParaRPr lang="zh-CN" altLang="en-US"/>
          </a:p>
        </p:txBody>
      </p:sp>
      <p:sp>
        <p:nvSpPr>
          <p:cNvPr id="10" name="椭圆 9"/>
          <p:cNvSpPr/>
          <p:nvPr/>
        </p:nvSpPr>
        <p:spPr>
          <a:xfrm>
            <a:off x="4479925" y="3933190"/>
            <a:ext cx="582930" cy="260985"/>
          </a:xfrm>
          <a:prstGeom prst="ellipse">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11" name="直接箭头连接符 10"/>
          <p:cNvCxnSpPr>
            <a:stCxn id="10" idx="7"/>
          </p:cNvCxnSpPr>
          <p:nvPr/>
        </p:nvCxnSpPr>
        <p:spPr>
          <a:xfrm flipV="1">
            <a:off x="4977765" y="3776980"/>
            <a:ext cx="2783205" cy="194310"/>
          </a:xfrm>
          <a:prstGeom prst="straightConnector1">
            <a:avLst/>
          </a:prstGeom>
          <a:ln>
            <a:solidFill>
              <a:srgbClr val="FF0000"/>
            </a:solidFill>
            <a:tailEnd type="arrow"/>
          </a:ln>
        </p:spPr>
        <p:style>
          <a:lnRef idx="2">
            <a:schemeClr val="accent1"/>
          </a:lnRef>
          <a:fillRef idx="0">
            <a:srgbClr val="FFFFFF"/>
          </a:fillRef>
          <a:effectRef idx="0">
            <a:srgbClr val="FFFFFF"/>
          </a:effectRef>
          <a:fontRef idx="minor">
            <a:schemeClr val="tx1"/>
          </a:fontRef>
        </p:style>
      </p:cxnSp>
    </p:spTree>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224987" y="263525"/>
            <a:ext cx="1056074" cy="900000"/>
          </a:xfrm>
          <a:prstGeom prst="rect">
            <a:avLst/>
          </a:prstGeom>
        </p:spPr>
      </p:pic>
      <p:sp>
        <p:nvSpPr>
          <p:cNvPr id="74" name="文本框 73"/>
          <p:cNvSpPr txBox="1"/>
          <p:nvPr/>
        </p:nvSpPr>
        <p:spPr>
          <a:xfrm>
            <a:off x="2392680" y="448310"/>
            <a:ext cx="6879590" cy="645160"/>
          </a:xfrm>
          <a:prstGeom prst="rect">
            <a:avLst/>
          </a:prstGeom>
          <a:noFill/>
        </p:spPr>
        <p:txBody>
          <a:bodyPr wrap="square" rtlCol="0">
            <a:spAutoFit/>
          </a:bodyPr>
          <a:lstStyle>
            <a:defPPr>
              <a:defRPr lang="zh-CN"/>
            </a:defPPr>
            <a:lvl1pPr>
              <a:defRPr sz="3200" b="1">
                <a:solidFill>
                  <a:srgbClr val="860000"/>
                </a:solidFill>
                <a:latin typeface="时尚中黑简体" panose="01010104010101010101" pitchFamily="2" charset="-122"/>
                <a:ea typeface="时尚中黑简体" panose="01010104010101010101" pitchFamily="2" charset="-122"/>
              </a:defRPr>
            </a:lvl1pPr>
          </a:lstStyle>
          <a:p>
            <a:r>
              <a:rPr lang="zh-CN" altLang="en-US" sz="3600" dirty="0">
                <a:solidFill>
                  <a:srgbClr val="C00000"/>
                </a:solidFill>
                <a:latin typeface="微软雅黑" panose="020B0503020204020204" pitchFamily="34" charset="-122"/>
                <a:ea typeface="微软雅黑" panose="020B0503020204020204" pitchFamily="34" charset="-122"/>
                <a:sym typeface="+mn-ea"/>
              </a:rPr>
              <a:t>市场经营</a:t>
            </a:r>
            <a:r>
              <a:rPr lang="zh-CN" altLang="en-US" sz="3600" dirty="0">
                <a:solidFill>
                  <a:srgbClr val="C00000"/>
                </a:solidFill>
                <a:latin typeface="微软雅黑" panose="020B0503020204020204" pitchFamily="34" charset="-122"/>
                <a:ea typeface="微软雅黑" panose="020B0503020204020204" pitchFamily="34" charset="-122"/>
                <a:sym typeface="+mn-ea"/>
              </a:rPr>
              <a:t>现状</a:t>
            </a:r>
            <a:endParaRPr lang="zh-CN" altLang="en-US" sz="3600" dirty="0">
              <a:solidFill>
                <a:srgbClr val="C00000"/>
              </a:solidFill>
              <a:latin typeface="微软雅黑" panose="020B0503020204020204" pitchFamily="34" charset="-122"/>
              <a:ea typeface="微软雅黑" panose="020B0503020204020204" pitchFamily="34" charset="-122"/>
              <a:sym typeface="+mn-ea"/>
            </a:endParaRPr>
          </a:p>
        </p:txBody>
      </p:sp>
      <p:sp>
        <p:nvSpPr>
          <p:cNvPr id="29" name="矩形 28"/>
          <p:cNvSpPr/>
          <p:nvPr/>
        </p:nvSpPr>
        <p:spPr>
          <a:xfrm>
            <a:off x="1530350" y="373380"/>
            <a:ext cx="436245" cy="720090"/>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矩形 32"/>
          <p:cNvSpPr/>
          <p:nvPr>
            <p:custDataLst>
              <p:tags r:id="rId2"/>
            </p:custDataLst>
          </p:nvPr>
        </p:nvSpPr>
        <p:spPr>
          <a:xfrm>
            <a:off x="2061210" y="373380"/>
            <a:ext cx="191770" cy="720090"/>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p:cNvSpPr/>
          <p:nvPr>
            <p:custDataLst>
              <p:tags r:id="rId3"/>
            </p:custDataLst>
          </p:nvPr>
        </p:nvSpPr>
        <p:spPr>
          <a:xfrm>
            <a:off x="5371465" y="373380"/>
            <a:ext cx="352425" cy="720090"/>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矩形 58"/>
          <p:cNvSpPr/>
          <p:nvPr>
            <p:custDataLst>
              <p:tags r:id="rId4"/>
            </p:custDataLst>
          </p:nvPr>
        </p:nvSpPr>
        <p:spPr>
          <a:xfrm>
            <a:off x="11323955" y="5967095"/>
            <a:ext cx="567690" cy="578485"/>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矩形 69"/>
          <p:cNvSpPr/>
          <p:nvPr>
            <p:custDataLst>
              <p:tags r:id="rId5"/>
            </p:custDataLst>
          </p:nvPr>
        </p:nvSpPr>
        <p:spPr>
          <a:xfrm>
            <a:off x="11001375" y="5967095"/>
            <a:ext cx="223520" cy="578485"/>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2" name="图片 101" descr="微信图片_20210702102959"/>
          <p:cNvPicPr>
            <a:picLocks noChangeAspect="1"/>
          </p:cNvPicPr>
          <p:nvPr>
            <p:custDataLst>
              <p:tags r:id="rId6"/>
            </p:custDataLst>
          </p:nvPr>
        </p:nvPicPr>
        <p:blipFill>
          <a:blip r:embed="rId7"/>
          <a:stretch>
            <a:fillRect/>
          </a:stretch>
        </p:blipFill>
        <p:spPr>
          <a:xfrm>
            <a:off x="11398250" y="6079490"/>
            <a:ext cx="414655" cy="353695"/>
          </a:xfrm>
          <a:prstGeom prst="rect">
            <a:avLst/>
          </a:prstGeom>
        </p:spPr>
      </p:pic>
      <p:pic>
        <p:nvPicPr>
          <p:cNvPr id="9" name="图片 8" descr="ai_picture_ai_change_1787726306650"/>
          <p:cNvPicPr>
            <a:picLocks noChangeAspect="1"/>
          </p:cNvPicPr>
          <p:nvPr>
            <p:custDataLst>
              <p:tags r:id="rId8"/>
            </p:custDataLst>
          </p:nvPr>
        </p:nvPicPr>
        <p:blipFill>
          <a:blip r:embed="rId9"/>
          <a:srcRect t="9" b="9"/>
          <a:stretch>
            <a:fillRect/>
          </a:stretch>
        </p:blipFill>
        <p:spPr>
          <a:xfrm>
            <a:off x="3742690" y="1295400"/>
            <a:ext cx="3937000" cy="5250180"/>
          </a:xfrm>
          <a:prstGeom prst="rect">
            <a:avLst/>
          </a:prstGeom>
        </p:spPr>
      </p:pic>
      <p:sp>
        <p:nvSpPr>
          <p:cNvPr id="2" name="文本框 1"/>
          <p:cNvSpPr txBox="1"/>
          <p:nvPr/>
        </p:nvSpPr>
        <p:spPr>
          <a:xfrm>
            <a:off x="589915" y="1644650"/>
            <a:ext cx="2984500" cy="3692525"/>
          </a:xfrm>
          <a:prstGeom prst="rect">
            <a:avLst/>
          </a:prstGeom>
          <a:noFill/>
        </p:spPr>
        <p:txBody>
          <a:bodyPr wrap="square" rtlCol="0">
            <a:spAutoFit/>
          </a:bodyPr>
          <a:p>
            <a:r>
              <a:rPr lang="zh-CN" altLang="en-US" b="1">
                <a:solidFill>
                  <a:srgbClr val="FF0000"/>
                </a:solidFill>
              </a:rPr>
              <a:t>兰考、通许、</a:t>
            </a:r>
            <a:r>
              <a:rPr lang="zh-CN" altLang="en-US" b="1">
                <a:solidFill>
                  <a:srgbClr val="FF0000"/>
                </a:solidFill>
              </a:rPr>
              <a:t>淮阳市场</a:t>
            </a:r>
            <a:r>
              <a:rPr lang="zh-CN" altLang="en-US"/>
              <a:t>：</a:t>
            </a:r>
            <a:endParaRPr lang="zh-CN" altLang="en-US"/>
          </a:p>
          <a:p>
            <a:r>
              <a:rPr lang="zh-CN" altLang="en-US"/>
              <a:t>这三个市场同属豫东分部，市场情况类似，本品一家独大，竞品主要以各类低端杂牌为主，主销</a:t>
            </a:r>
            <a:r>
              <a:rPr lang="en-US" altLang="zh-CN"/>
              <a:t>10</a:t>
            </a:r>
            <a:r>
              <a:rPr lang="zh-CN" altLang="en-US"/>
              <a:t>元及以下产品，无法对本品造成实质性影响。但因无竞争对手，决定了本品在市场的上限，市场管理者应尽快破局。另外，这三个市场现阶段均属于口味王市场，和成份额相对</a:t>
            </a:r>
            <a:r>
              <a:rPr lang="zh-CN" altLang="en-US"/>
              <a:t>较低，与公司高端战略存在偏差。</a:t>
            </a:r>
            <a:endParaRPr lang="zh-CN" altLang="en-US"/>
          </a:p>
        </p:txBody>
      </p:sp>
      <p:sp>
        <p:nvSpPr>
          <p:cNvPr id="6" name="文本框 5"/>
          <p:cNvSpPr txBox="1"/>
          <p:nvPr/>
        </p:nvSpPr>
        <p:spPr>
          <a:xfrm>
            <a:off x="7997825" y="1644650"/>
            <a:ext cx="3744595" cy="2861310"/>
          </a:xfrm>
          <a:prstGeom prst="rect">
            <a:avLst/>
          </a:prstGeom>
          <a:noFill/>
        </p:spPr>
        <p:txBody>
          <a:bodyPr wrap="square" rtlCol="0">
            <a:spAutoFit/>
          </a:bodyPr>
          <a:p>
            <a:r>
              <a:rPr lang="zh-CN" altLang="en-US" b="1">
                <a:solidFill>
                  <a:srgbClr val="FF0000"/>
                </a:solidFill>
              </a:rPr>
              <a:t>上蔡市场</a:t>
            </a:r>
            <a:r>
              <a:rPr lang="zh-CN" altLang="en-US"/>
              <a:t>：</a:t>
            </a:r>
            <a:endParaRPr lang="zh-CN" altLang="en-US"/>
          </a:p>
          <a:p>
            <a:r>
              <a:rPr lang="zh-CN" altLang="en-US"/>
              <a:t>市场品宣竞争尤为激烈，大型核心物料（店招、雨棚等）随处可见，本竞品基本处于五五开局面，本品仅在小型辅助物料上稍占优势。其次，该市场多以大型陈列架为主，但平常月份与春节期间相比销量相差较大，故导致平常月份仅能保证城区饱满度，而春节期间较为热闹的乡镇区域，饱满度</a:t>
            </a:r>
            <a:r>
              <a:rPr lang="zh-CN" altLang="en-US"/>
              <a:t>较差。</a:t>
            </a:r>
            <a:endParaRPr lang="zh-CN" altLang="en-US"/>
          </a:p>
        </p:txBody>
      </p:sp>
      <p:sp>
        <p:nvSpPr>
          <p:cNvPr id="3" name="椭圆 2"/>
          <p:cNvSpPr/>
          <p:nvPr/>
        </p:nvSpPr>
        <p:spPr>
          <a:xfrm>
            <a:off x="5602605" y="4951730"/>
            <a:ext cx="913765" cy="200025"/>
          </a:xfrm>
          <a:prstGeom prst="ellipse">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 name="椭圆 6"/>
          <p:cNvSpPr/>
          <p:nvPr/>
        </p:nvSpPr>
        <p:spPr>
          <a:xfrm>
            <a:off x="6177280" y="4351020"/>
            <a:ext cx="661035" cy="243840"/>
          </a:xfrm>
          <a:prstGeom prst="ellipse">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2" name="椭圆 11"/>
          <p:cNvSpPr/>
          <p:nvPr/>
        </p:nvSpPr>
        <p:spPr>
          <a:xfrm>
            <a:off x="6037580" y="3742055"/>
            <a:ext cx="522605" cy="191135"/>
          </a:xfrm>
          <a:prstGeom prst="ellipse">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13" name="直接箭头连接符 12"/>
          <p:cNvCxnSpPr>
            <a:stCxn id="3" idx="6"/>
          </p:cNvCxnSpPr>
          <p:nvPr/>
        </p:nvCxnSpPr>
        <p:spPr>
          <a:xfrm flipV="1">
            <a:off x="6516370" y="3707130"/>
            <a:ext cx="1348740" cy="1344930"/>
          </a:xfrm>
          <a:prstGeom prst="straightConnector1">
            <a:avLst/>
          </a:prstGeom>
          <a:ln>
            <a:solidFill>
              <a:srgbClr val="FF0000"/>
            </a:solidFill>
            <a:tailEnd type="arrow"/>
          </a:ln>
        </p:spPr>
        <p:style>
          <a:lnRef idx="2">
            <a:schemeClr val="accent1"/>
          </a:lnRef>
          <a:fillRef idx="0">
            <a:srgbClr val="FFFFFF"/>
          </a:fillRef>
          <a:effectRef idx="0">
            <a:srgbClr val="FFFFFF"/>
          </a:effectRef>
          <a:fontRef idx="minor">
            <a:schemeClr val="tx1"/>
          </a:fontRef>
        </p:style>
      </p:cxnSp>
      <p:cxnSp>
        <p:nvCxnSpPr>
          <p:cNvPr id="14" name="直接箭头连接符 13"/>
          <p:cNvCxnSpPr>
            <a:stCxn id="12" idx="1"/>
          </p:cNvCxnSpPr>
          <p:nvPr/>
        </p:nvCxnSpPr>
        <p:spPr>
          <a:xfrm flipH="1" flipV="1">
            <a:off x="3749040" y="3010535"/>
            <a:ext cx="2365375" cy="759460"/>
          </a:xfrm>
          <a:prstGeom prst="straightConnector1">
            <a:avLst/>
          </a:prstGeom>
          <a:ln>
            <a:solidFill>
              <a:srgbClr val="FF0000"/>
            </a:solidFill>
            <a:tailEnd type="arrow"/>
          </a:ln>
        </p:spPr>
        <p:style>
          <a:lnRef idx="2">
            <a:schemeClr val="accent1"/>
          </a:lnRef>
          <a:fillRef idx="0">
            <a:srgbClr val="FFFFFF"/>
          </a:fillRef>
          <a:effectRef idx="0">
            <a:srgbClr val="FFFFFF"/>
          </a:effectRef>
          <a:fontRef idx="minor">
            <a:schemeClr val="tx1"/>
          </a:fontRef>
        </p:style>
      </p:cxnSp>
      <p:cxnSp>
        <p:nvCxnSpPr>
          <p:cNvPr id="15" name="直接箭头连接符 14"/>
          <p:cNvCxnSpPr>
            <a:stCxn id="7" idx="1"/>
          </p:cNvCxnSpPr>
          <p:nvPr/>
        </p:nvCxnSpPr>
        <p:spPr>
          <a:xfrm flipH="1" flipV="1">
            <a:off x="3749040" y="3158490"/>
            <a:ext cx="2524760" cy="1228090"/>
          </a:xfrm>
          <a:prstGeom prst="straightConnector1">
            <a:avLst/>
          </a:prstGeom>
          <a:ln>
            <a:solidFill>
              <a:srgbClr val="FF0000"/>
            </a:solidFill>
            <a:tailEnd type="arrow"/>
          </a:ln>
        </p:spPr>
        <p:style>
          <a:lnRef idx="2">
            <a:schemeClr val="accent1"/>
          </a:lnRef>
          <a:fillRef idx="0">
            <a:srgbClr val="FFFFFF"/>
          </a:fillRef>
          <a:effectRef idx="0">
            <a:srgbClr val="FFFFFF"/>
          </a:effectRef>
          <a:fontRef idx="minor">
            <a:schemeClr val="tx1"/>
          </a:fontRef>
        </p:style>
      </p:cxnSp>
    </p:spTree>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8" name="文本框 8"/>
          <p:cNvSpPr txBox="1"/>
          <p:nvPr/>
        </p:nvSpPr>
        <p:spPr>
          <a:xfrm>
            <a:off x="1467318" y="2967335"/>
            <a:ext cx="8947217" cy="1753235"/>
          </a:xfrm>
          <a:prstGeom prst="rect">
            <a:avLst/>
          </a:prstGeom>
          <a:noFill/>
        </p:spPr>
        <p:txBody>
          <a:bodyPr wrap="square" rtlCol="0">
            <a:spAutoFit/>
          </a:bodyPr>
          <a:lstStyle/>
          <a:p>
            <a:pPr algn="ctr"/>
            <a:r>
              <a:rPr lang="en-US" altLang="zh-CN" sz="5400" b="1" dirty="0">
                <a:latin typeface="微软雅黑" panose="020B0503020204020204" pitchFamily="34" charset="-122"/>
                <a:ea typeface="微软雅黑" panose="020B0503020204020204" pitchFamily="34" charset="-122"/>
                <a:sym typeface="+mn-ea"/>
              </a:rPr>
              <a:t>2.</a:t>
            </a:r>
            <a:r>
              <a:rPr lang="zh-CN" altLang="en-US" sz="5400" b="1" dirty="0">
                <a:latin typeface="微软雅黑" panose="020B0503020204020204" pitchFamily="34" charset="-122"/>
                <a:ea typeface="微软雅黑" panose="020B0503020204020204" pitchFamily="34" charset="-122"/>
                <a:sym typeface="+mn-ea"/>
              </a:rPr>
              <a:t>市场检查结果通报</a:t>
            </a:r>
            <a:endParaRPr lang="zh-CN" altLang="en-US" sz="5400" b="1" dirty="0">
              <a:latin typeface="微软雅黑" panose="020B0503020204020204" pitchFamily="34" charset="-122"/>
              <a:ea typeface="微软雅黑" panose="020B0503020204020204" pitchFamily="34" charset="-122"/>
              <a:sym typeface="+mn-ea"/>
            </a:endParaRPr>
          </a:p>
          <a:p>
            <a:pPr algn="ctr"/>
            <a:endParaRPr lang="zh-CN" altLang="en-US" sz="5400" b="1" dirty="0">
              <a:latin typeface="微软雅黑" panose="020B0503020204020204" pitchFamily="34" charset="-122"/>
              <a:ea typeface="微软雅黑" panose="020B0503020204020204" pitchFamily="34" charset="-122"/>
            </a:endParaRPr>
          </a:p>
        </p:txBody>
      </p:sp>
      <p:grpSp>
        <p:nvGrpSpPr>
          <p:cNvPr id="57" name="组合 13"/>
          <p:cNvGrpSpPr/>
          <p:nvPr/>
        </p:nvGrpSpPr>
        <p:grpSpPr>
          <a:xfrm rot="5400000">
            <a:off x="4743853" y="253539"/>
            <a:ext cx="2572212" cy="6350923"/>
            <a:chOff x="3617229" y="570765"/>
            <a:chExt cx="1571244" cy="3879481"/>
          </a:xfrm>
        </p:grpSpPr>
        <p:pic>
          <p:nvPicPr>
            <p:cNvPr id="2097153" name="Picture 2" descr="C:\Users\Administrator\Desktop\1.png"/>
            <p:cNvPicPr>
              <a:picLocks noChangeAspect="1" noChangeArrowheads="1"/>
            </p:cNvPicPr>
            <p:nvPr/>
          </p:nvPicPr>
          <p:blipFill>
            <a:blip r:embed="rId1" cstate="print"/>
            <a:srcRect/>
            <a:stretch>
              <a:fillRect/>
            </a:stretch>
          </p:blipFill>
          <p:spPr bwMode="auto">
            <a:xfrm rot="16200000">
              <a:off x="4220259" y="3482034"/>
              <a:ext cx="1554647" cy="381778"/>
            </a:xfrm>
            <a:prstGeom prst="rect">
              <a:avLst/>
            </a:prstGeom>
            <a:noFill/>
          </p:spPr>
        </p:pic>
        <p:pic>
          <p:nvPicPr>
            <p:cNvPr id="2097154" name="Picture 2" descr="C:\Users\Administrator\Desktop\1.png"/>
            <p:cNvPicPr>
              <a:picLocks noChangeAspect="1" noChangeArrowheads="1"/>
            </p:cNvPicPr>
            <p:nvPr/>
          </p:nvPicPr>
          <p:blipFill>
            <a:blip r:embed="rId1" cstate="print"/>
            <a:srcRect/>
            <a:stretch>
              <a:fillRect/>
            </a:stretch>
          </p:blipFill>
          <p:spPr bwMode="auto">
            <a:xfrm rot="16200000">
              <a:off x="4220260" y="1164820"/>
              <a:ext cx="1554647" cy="381778"/>
            </a:xfrm>
            <a:prstGeom prst="rect">
              <a:avLst/>
            </a:prstGeom>
            <a:noFill/>
          </p:spPr>
        </p:pic>
        <p:pic>
          <p:nvPicPr>
            <p:cNvPr id="2097155" name="Picture 2" descr="C:\Users\Administrator\Desktop\1.png"/>
            <p:cNvPicPr>
              <a:picLocks noChangeAspect="1" noChangeArrowheads="1"/>
            </p:cNvPicPr>
            <p:nvPr/>
          </p:nvPicPr>
          <p:blipFill>
            <a:blip r:embed="rId1" cstate="print"/>
            <a:srcRect/>
            <a:stretch>
              <a:fillRect/>
            </a:stretch>
          </p:blipFill>
          <p:spPr bwMode="auto">
            <a:xfrm rot="5400000" flipH="1">
              <a:off x="3030794" y="3474414"/>
              <a:ext cx="1554647" cy="381778"/>
            </a:xfrm>
            <a:prstGeom prst="rect">
              <a:avLst/>
            </a:prstGeom>
            <a:noFill/>
          </p:spPr>
        </p:pic>
        <p:pic>
          <p:nvPicPr>
            <p:cNvPr id="2097156" name="Picture 2" descr="C:\Users\Administrator\Desktop\1.png"/>
            <p:cNvPicPr>
              <a:picLocks noChangeAspect="1" noChangeArrowheads="1"/>
            </p:cNvPicPr>
            <p:nvPr/>
          </p:nvPicPr>
          <p:blipFill>
            <a:blip r:embed="rId1" cstate="print"/>
            <a:srcRect/>
            <a:stretch>
              <a:fillRect/>
            </a:stretch>
          </p:blipFill>
          <p:spPr bwMode="auto">
            <a:xfrm rot="5400000" flipH="1">
              <a:off x="3030795" y="1157200"/>
              <a:ext cx="1554647" cy="381778"/>
            </a:xfrm>
            <a:prstGeom prst="rect">
              <a:avLst/>
            </a:prstGeom>
            <a:noFill/>
          </p:spPr>
        </p:pic>
      </p:grpSp>
      <p:pic>
        <p:nvPicPr>
          <p:cNvPr id="8" name="图片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5737" y="125730"/>
            <a:ext cx="1056074" cy="900000"/>
          </a:xfrm>
          <a:prstGeom prst="rect">
            <a:avLst/>
          </a:prstGeom>
        </p:spPr>
      </p:pic>
    </p:spTree>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224987" y="263525"/>
            <a:ext cx="1056074" cy="900000"/>
          </a:xfrm>
          <a:prstGeom prst="rect">
            <a:avLst/>
          </a:prstGeom>
        </p:spPr>
      </p:pic>
      <p:sp>
        <p:nvSpPr>
          <p:cNvPr id="74" name="文本框 73"/>
          <p:cNvSpPr txBox="1"/>
          <p:nvPr/>
        </p:nvSpPr>
        <p:spPr>
          <a:xfrm>
            <a:off x="2392680" y="448310"/>
            <a:ext cx="4226560" cy="645160"/>
          </a:xfrm>
          <a:prstGeom prst="rect">
            <a:avLst/>
          </a:prstGeom>
          <a:noFill/>
        </p:spPr>
        <p:txBody>
          <a:bodyPr wrap="square" rtlCol="0">
            <a:spAutoFit/>
          </a:bodyPr>
          <a:lstStyle>
            <a:defPPr>
              <a:defRPr lang="zh-CN"/>
            </a:defPPr>
            <a:lvl1pPr>
              <a:defRPr sz="3200" b="1">
                <a:solidFill>
                  <a:srgbClr val="860000"/>
                </a:solidFill>
                <a:latin typeface="时尚中黑简体" panose="01010104010101010101" pitchFamily="2" charset="-122"/>
                <a:ea typeface="时尚中黑简体" panose="01010104010101010101" pitchFamily="2" charset="-122"/>
              </a:defRPr>
            </a:lvl1pPr>
          </a:lstStyle>
          <a:p>
            <a:r>
              <a:rPr lang="zh-CN" altLang="en-US" sz="3600" dirty="0">
                <a:solidFill>
                  <a:srgbClr val="C00000"/>
                </a:solidFill>
                <a:latin typeface="微软雅黑" panose="020B0503020204020204" pitchFamily="34" charset="-122"/>
                <a:ea typeface="微软雅黑" panose="020B0503020204020204" pitchFamily="34" charset="-122"/>
                <a:sym typeface="+mn-ea"/>
              </a:rPr>
              <a:t>市场检查结果通报</a:t>
            </a:r>
            <a:endParaRPr lang="zh-CN" altLang="en-US" sz="3600" dirty="0">
              <a:solidFill>
                <a:srgbClr val="C00000"/>
              </a:solidFill>
              <a:latin typeface="微软雅黑" panose="020B0503020204020204" pitchFamily="34" charset="-122"/>
              <a:ea typeface="微软雅黑" panose="020B0503020204020204" pitchFamily="34" charset="-122"/>
              <a:sym typeface="+mn-ea"/>
            </a:endParaRPr>
          </a:p>
        </p:txBody>
      </p:sp>
      <p:sp>
        <p:nvSpPr>
          <p:cNvPr id="29" name="矩形 28"/>
          <p:cNvSpPr/>
          <p:nvPr/>
        </p:nvSpPr>
        <p:spPr>
          <a:xfrm>
            <a:off x="1530350" y="373380"/>
            <a:ext cx="436245" cy="720090"/>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矩形 32"/>
          <p:cNvSpPr/>
          <p:nvPr>
            <p:custDataLst>
              <p:tags r:id="rId2"/>
            </p:custDataLst>
          </p:nvPr>
        </p:nvSpPr>
        <p:spPr>
          <a:xfrm>
            <a:off x="2061210" y="373380"/>
            <a:ext cx="191770" cy="720090"/>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p:cNvSpPr/>
          <p:nvPr>
            <p:custDataLst>
              <p:tags r:id="rId3"/>
            </p:custDataLst>
          </p:nvPr>
        </p:nvSpPr>
        <p:spPr>
          <a:xfrm>
            <a:off x="6372225" y="373380"/>
            <a:ext cx="352425" cy="720090"/>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矩形 58"/>
          <p:cNvSpPr/>
          <p:nvPr>
            <p:custDataLst>
              <p:tags r:id="rId4"/>
            </p:custDataLst>
          </p:nvPr>
        </p:nvSpPr>
        <p:spPr>
          <a:xfrm>
            <a:off x="11323955" y="5967095"/>
            <a:ext cx="567690" cy="578485"/>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矩形 69"/>
          <p:cNvSpPr/>
          <p:nvPr>
            <p:custDataLst>
              <p:tags r:id="rId5"/>
            </p:custDataLst>
          </p:nvPr>
        </p:nvSpPr>
        <p:spPr>
          <a:xfrm>
            <a:off x="11001375" y="5967095"/>
            <a:ext cx="223520" cy="578485"/>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2" name="图片 101" descr="微信图片_20210702102959"/>
          <p:cNvPicPr>
            <a:picLocks noChangeAspect="1"/>
          </p:cNvPicPr>
          <p:nvPr>
            <p:custDataLst>
              <p:tags r:id="rId6"/>
            </p:custDataLst>
          </p:nvPr>
        </p:nvPicPr>
        <p:blipFill>
          <a:blip r:embed="rId7"/>
          <a:stretch>
            <a:fillRect/>
          </a:stretch>
        </p:blipFill>
        <p:spPr>
          <a:xfrm>
            <a:off x="11398250" y="6079490"/>
            <a:ext cx="414655" cy="353695"/>
          </a:xfrm>
          <a:prstGeom prst="rect">
            <a:avLst/>
          </a:prstGeom>
        </p:spPr>
      </p:pic>
      <p:graphicFrame>
        <p:nvGraphicFramePr>
          <p:cNvPr id="2" name="表格 1"/>
          <p:cNvGraphicFramePr/>
          <p:nvPr/>
        </p:nvGraphicFramePr>
        <p:xfrm>
          <a:off x="500380" y="1389380"/>
          <a:ext cx="10897870" cy="3345815"/>
        </p:xfrm>
        <a:graphic>
          <a:graphicData uri="http://schemas.openxmlformats.org/drawingml/2006/table">
            <a:tbl>
              <a:tblPr/>
              <a:tblGrid>
                <a:gridCol w="673735"/>
                <a:gridCol w="763905"/>
                <a:gridCol w="401320"/>
                <a:gridCol w="401320"/>
                <a:gridCol w="4714875"/>
                <a:gridCol w="1074420"/>
                <a:gridCol w="2247900"/>
                <a:gridCol w="620395"/>
              </a:tblGrid>
              <a:tr h="908050">
                <a:tc>
                  <a:txBody>
                    <a:bodyPr/>
                    <a:p>
                      <a:pPr algn="ctr" fontAlgn="ctr"/>
                      <a:r>
                        <a:rPr lang="zh-CN" altLang="en-US" sz="1400" b="0" i="0">
                          <a:solidFill>
                            <a:srgbClr val="000000"/>
                          </a:solidFill>
                          <a:ea typeface="+mn-lt"/>
                        </a:rPr>
                        <a:t>市场名</a:t>
                      </a:r>
                      <a:endParaRPr lang="zh-CN" altLang="en-US" sz="1400" b="0" i="0">
                        <a:solidFill>
                          <a:srgbClr val="000000"/>
                        </a:solidFill>
                        <a:ea typeface="+mn-lt"/>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0000"/>
                    </a:solidFill>
                  </a:tcPr>
                </a:tc>
                <a:tc>
                  <a:txBody>
                    <a:bodyPr/>
                    <a:p>
                      <a:pPr algn="ctr" fontAlgn="ctr"/>
                      <a:r>
                        <a:rPr lang="zh-CN" altLang="en-US" sz="1400" b="0" i="0">
                          <a:solidFill>
                            <a:srgbClr val="000000"/>
                          </a:solidFill>
                          <a:ea typeface="+mn-lt"/>
                        </a:rPr>
                        <a:t>检核得分</a:t>
                      </a:r>
                      <a:endParaRPr lang="zh-CN" altLang="en-US" sz="1400" b="0" i="0">
                        <a:solidFill>
                          <a:srgbClr val="000000"/>
                        </a:solidFill>
                        <a:ea typeface="+mn-lt"/>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0000"/>
                    </a:solidFill>
                  </a:tcPr>
                </a:tc>
                <a:tc>
                  <a:txBody>
                    <a:bodyPr/>
                    <a:p>
                      <a:pPr algn="ctr" fontAlgn="ctr"/>
                      <a:r>
                        <a:rPr lang="zh-CN" altLang="en-US" sz="1400" b="0" i="0">
                          <a:solidFill>
                            <a:srgbClr val="000000"/>
                          </a:solidFill>
                          <a:ea typeface="+mn-lt"/>
                        </a:rPr>
                        <a:t>加分</a:t>
                      </a:r>
                      <a:endParaRPr lang="zh-CN" altLang="en-US" sz="1400" b="0" i="0">
                        <a:solidFill>
                          <a:srgbClr val="000000"/>
                        </a:solidFill>
                        <a:ea typeface="+mn-lt"/>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0000"/>
                    </a:solidFill>
                  </a:tcPr>
                </a:tc>
                <a:tc>
                  <a:txBody>
                    <a:bodyPr/>
                    <a:p>
                      <a:pPr algn="ctr" fontAlgn="ctr"/>
                      <a:r>
                        <a:rPr lang="zh-CN" altLang="en-US" sz="1400" b="0" i="0">
                          <a:solidFill>
                            <a:srgbClr val="000000"/>
                          </a:solidFill>
                          <a:ea typeface="+mn-lt"/>
                        </a:rPr>
                        <a:t>减分</a:t>
                      </a:r>
                      <a:endParaRPr lang="zh-CN" altLang="en-US" sz="1400" b="0" i="0">
                        <a:solidFill>
                          <a:srgbClr val="000000"/>
                        </a:solidFill>
                        <a:ea typeface="+mn-lt"/>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0000"/>
                    </a:solidFill>
                  </a:tcPr>
                </a:tc>
                <a:tc>
                  <a:txBody>
                    <a:bodyPr/>
                    <a:p>
                      <a:pPr algn="ctr" fontAlgn="ctr"/>
                      <a:r>
                        <a:rPr lang="zh-CN" altLang="en-US" sz="1400" b="0" i="0">
                          <a:solidFill>
                            <a:srgbClr val="000000"/>
                          </a:solidFill>
                          <a:ea typeface="+mn-lt"/>
                        </a:rPr>
                        <a:t>加减分原因</a:t>
                      </a:r>
                      <a:endParaRPr lang="zh-CN" altLang="en-US" sz="1400" b="0" i="0">
                        <a:solidFill>
                          <a:srgbClr val="000000"/>
                        </a:solidFill>
                        <a:ea typeface="+mn-lt"/>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0000"/>
                    </a:solidFill>
                  </a:tcPr>
                </a:tc>
                <a:tc>
                  <a:txBody>
                    <a:bodyPr/>
                    <a:p>
                      <a:pPr algn="ctr" fontAlgn="ctr"/>
                      <a:r>
                        <a:rPr lang="zh-CN" altLang="en-US" sz="1400" b="0" i="0">
                          <a:solidFill>
                            <a:srgbClr val="000000"/>
                          </a:solidFill>
                          <a:ea typeface="+mn-lt"/>
                        </a:rPr>
                        <a:t>市场月均销量</a:t>
                      </a:r>
                      <a:endParaRPr lang="zh-CN" altLang="en-US" sz="1400" b="0" i="0">
                        <a:solidFill>
                          <a:srgbClr val="000000"/>
                        </a:solidFill>
                        <a:ea typeface="+mn-lt"/>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0000"/>
                    </a:solidFill>
                  </a:tcPr>
                </a:tc>
                <a:tc>
                  <a:txBody>
                    <a:bodyPr/>
                    <a:p>
                      <a:pPr algn="ctr" fontAlgn="ctr"/>
                      <a:r>
                        <a:rPr lang="zh-CN" altLang="en-US" sz="1400" b="0" i="0">
                          <a:solidFill>
                            <a:srgbClr val="000000"/>
                          </a:solidFill>
                          <a:ea typeface="+mn-lt"/>
                        </a:rPr>
                        <a:t>市场辖区</a:t>
                      </a:r>
                      <a:endParaRPr lang="zh-CN" altLang="en-US" sz="1400" b="0" i="0">
                        <a:solidFill>
                          <a:srgbClr val="000000"/>
                        </a:solidFill>
                        <a:ea typeface="+mn-lt"/>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0000"/>
                    </a:solidFill>
                  </a:tcPr>
                </a:tc>
                <a:tc>
                  <a:txBody>
                    <a:bodyPr/>
                    <a:p>
                      <a:pPr algn="ctr" fontAlgn="ctr"/>
                      <a:r>
                        <a:rPr lang="zh-CN" altLang="en-US" sz="1400" b="0" i="0">
                          <a:solidFill>
                            <a:srgbClr val="000000"/>
                          </a:solidFill>
                          <a:ea typeface="+mn-lt"/>
                        </a:rPr>
                        <a:t>最终得分</a:t>
                      </a:r>
                      <a:endParaRPr lang="zh-CN" altLang="en-US" sz="1400" b="0" i="0">
                        <a:solidFill>
                          <a:srgbClr val="000000"/>
                        </a:solidFill>
                        <a:ea typeface="+mn-lt"/>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0000"/>
                    </a:solidFill>
                  </a:tcPr>
                </a:tc>
              </a:tr>
              <a:tr h="313690">
                <a:tc>
                  <a:txBody>
                    <a:bodyPr/>
                    <a:p>
                      <a:pPr algn="ctr" fontAlgn="ctr"/>
                      <a:r>
                        <a:rPr lang="zh-CN" altLang="en-US" sz="1400" b="0" i="0">
                          <a:solidFill>
                            <a:srgbClr val="000000"/>
                          </a:solidFill>
                          <a:ea typeface="+mn-lt"/>
                        </a:rPr>
                        <a:t>中原</a:t>
                      </a:r>
                      <a:endParaRPr lang="zh-CN" altLang="en-US" sz="1400" b="0" i="0">
                        <a:solidFill>
                          <a:srgbClr val="000000"/>
                        </a:solidFill>
                        <a:ea typeface="+mn-lt"/>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400" b="0" i="0">
                          <a:solidFill>
                            <a:srgbClr val="000000"/>
                          </a:solidFill>
                          <a:ea typeface="+mn-lt"/>
                        </a:rPr>
                        <a:t>89.6</a:t>
                      </a:r>
                      <a:endParaRPr lang="en-US" altLang="zh-CN" sz="1400" b="0" i="0">
                        <a:solidFill>
                          <a:srgbClr val="000000"/>
                        </a:solidFill>
                        <a:ea typeface="+mn-lt"/>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1400" b="0" i="0">
                        <a:solidFill>
                          <a:srgbClr val="000000"/>
                        </a:solidFill>
                        <a:ea typeface="+mn-lt"/>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1400" b="0" i="0">
                        <a:solidFill>
                          <a:srgbClr val="000000"/>
                        </a:solidFill>
                        <a:ea typeface="+mn-lt"/>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1400" b="0" i="0">
                        <a:solidFill>
                          <a:srgbClr val="000000"/>
                        </a:solidFill>
                        <a:ea typeface="+mn-lt"/>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400" b="0" i="0">
                          <a:solidFill>
                            <a:srgbClr val="000000"/>
                          </a:solidFill>
                          <a:ea typeface="+mn-lt"/>
                          <a:cs typeface="+mn-lt"/>
                        </a:rPr>
                        <a:t>700</a:t>
                      </a:r>
                      <a:r>
                        <a:rPr lang="zh-CN" altLang="en-US" sz="1400" b="0" i="0">
                          <a:solidFill>
                            <a:srgbClr val="000000"/>
                          </a:solidFill>
                          <a:ea typeface="+mn-lt"/>
                          <a:cs typeface="+mn-lt"/>
                        </a:rPr>
                        <a:t>万左右</a:t>
                      </a:r>
                      <a:endParaRPr lang="zh-CN" altLang="en-US" sz="1400" b="0" i="0">
                        <a:solidFill>
                          <a:srgbClr val="000000"/>
                        </a:solidFill>
                        <a:ea typeface="+mn-lt"/>
                        <a:cs typeface="+mn-lt"/>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1400" b="0" i="0">
                          <a:solidFill>
                            <a:srgbClr val="000000"/>
                          </a:solidFill>
                          <a:ea typeface="+mn-lt"/>
                        </a:rPr>
                        <a:t>中原区及荥阳、上街区</a:t>
                      </a:r>
                      <a:endParaRPr lang="zh-CN" altLang="en-US" sz="1400" b="0" i="0">
                        <a:solidFill>
                          <a:srgbClr val="000000"/>
                        </a:solidFill>
                        <a:ea typeface="+mn-lt"/>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400" b="0" i="0">
                          <a:solidFill>
                            <a:srgbClr val="000000"/>
                          </a:solidFill>
                          <a:ea typeface="+mn-lt"/>
                        </a:rPr>
                        <a:t>89.6</a:t>
                      </a:r>
                      <a:endParaRPr lang="en-US" altLang="zh-CN" sz="1400" b="0" i="0">
                        <a:solidFill>
                          <a:srgbClr val="000000"/>
                        </a:solidFill>
                        <a:ea typeface="+mn-lt"/>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313690">
                <a:tc>
                  <a:txBody>
                    <a:bodyPr/>
                    <a:p>
                      <a:pPr algn="ctr" fontAlgn="ctr"/>
                      <a:r>
                        <a:rPr lang="zh-CN" altLang="en-US" sz="1400" b="0" i="0">
                          <a:solidFill>
                            <a:srgbClr val="000000"/>
                          </a:solidFill>
                          <a:ea typeface="+mn-lt"/>
                        </a:rPr>
                        <a:t>淮阳</a:t>
                      </a:r>
                      <a:endParaRPr lang="zh-CN" altLang="en-US" sz="1400" b="0" i="0">
                        <a:solidFill>
                          <a:srgbClr val="000000"/>
                        </a:solidFill>
                        <a:ea typeface="+mn-lt"/>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400" b="0" i="0">
                          <a:solidFill>
                            <a:srgbClr val="000000"/>
                          </a:solidFill>
                          <a:ea typeface="+mn-lt"/>
                        </a:rPr>
                        <a:t>87</a:t>
                      </a:r>
                      <a:endParaRPr lang="en-US" altLang="zh-CN" sz="1400" b="0" i="0">
                        <a:solidFill>
                          <a:srgbClr val="000000"/>
                        </a:solidFill>
                        <a:ea typeface="+mn-lt"/>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400" b="0" i="0">
                          <a:solidFill>
                            <a:srgbClr val="000000"/>
                          </a:solidFill>
                          <a:ea typeface="+mn-lt"/>
                        </a:rPr>
                        <a:t>2</a:t>
                      </a:r>
                      <a:endParaRPr lang="en-US" altLang="zh-CN" sz="1400" b="0" i="0">
                        <a:solidFill>
                          <a:srgbClr val="000000"/>
                        </a:solidFill>
                        <a:ea typeface="+mn-lt"/>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1400" b="0" i="0">
                        <a:solidFill>
                          <a:srgbClr val="000000"/>
                        </a:solidFill>
                        <a:ea typeface="+mn-lt"/>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1400" b="0" i="0">
                          <a:solidFill>
                            <a:srgbClr val="000000"/>
                          </a:solidFill>
                          <a:ea typeface="+mn-lt"/>
                        </a:rPr>
                        <a:t>高考送考活动为市场独有特色、经销商尽职尽责亲自管理市场</a:t>
                      </a:r>
                      <a:endParaRPr lang="zh-CN" altLang="en-US" sz="1400" b="0" i="0">
                        <a:solidFill>
                          <a:srgbClr val="000000"/>
                        </a:solidFill>
                        <a:ea typeface="+mn-lt"/>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400" b="0" i="0">
                          <a:solidFill>
                            <a:srgbClr val="000000"/>
                          </a:solidFill>
                          <a:ea typeface="+mn-lt"/>
                          <a:cs typeface="+mn-lt"/>
                        </a:rPr>
                        <a:t>520</a:t>
                      </a:r>
                      <a:r>
                        <a:rPr lang="zh-CN" altLang="en-US" sz="1400" b="0" i="0">
                          <a:solidFill>
                            <a:srgbClr val="000000"/>
                          </a:solidFill>
                          <a:ea typeface="+mn-lt"/>
                          <a:cs typeface="+mn-lt"/>
                        </a:rPr>
                        <a:t>万左右</a:t>
                      </a:r>
                      <a:endParaRPr lang="zh-CN" altLang="en-US" sz="1400" b="0" i="0">
                        <a:solidFill>
                          <a:srgbClr val="000000"/>
                        </a:solidFill>
                        <a:ea typeface="+mn-lt"/>
                        <a:cs typeface="+mn-lt"/>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1400" b="0" i="0">
                          <a:solidFill>
                            <a:srgbClr val="000000"/>
                          </a:solidFill>
                          <a:ea typeface="+mn-lt"/>
                        </a:rPr>
                        <a:t>淮阳、太康</a:t>
                      </a:r>
                      <a:endParaRPr lang="zh-CN" altLang="en-US" sz="1400" b="0" i="0">
                        <a:solidFill>
                          <a:srgbClr val="000000"/>
                        </a:solidFill>
                        <a:ea typeface="+mn-lt"/>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400" b="0" i="0">
                          <a:solidFill>
                            <a:srgbClr val="000000"/>
                          </a:solidFill>
                          <a:ea typeface="+mn-lt"/>
                        </a:rPr>
                        <a:t>89</a:t>
                      </a:r>
                      <a:endParaRPr lang="en-US" altLang="zh-CN" sz="1400" b="0" i="0">
                        <a:solidFill>
                          <a:srgbClr val="000000"/>
                        </a:solidFill>
                        <a:ea typeface="+mn-lt"/>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314325">
                <a:tc>
                  <a:txBody>
                    <a:bodyPr/>
                    <a:p>
                      <a:pPr algn="ctr" fontAlgn="ctr"/>
                      <a:r>
                        <a:rPr lang="zh-CN" altLang="en-US" sz="1400" b="0" i="0">
                          <a:solidFill>
                            <a:srgbClr val="000000"/>
                          </a:solidFill>
                          <a:ea typeface="+mn-lt"/>
                        </a:rPr>
                        <a:t>郑州南</a:t>
                      </a:r>
                      <a:endParaRPr lang="zh-CN" altLang="en-US" sz="1400" b="0" i="0">
                        <a:solidFill>
                          <a:srgbClr val="000000"/>
                        </a:solidFill>
                        <a:ea typeface="+mn-lt"/>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400" b="0" i="0">
                          <a:solidFill>
                            <a:srgbClr val="000000"/>
                          </a:solidFill>
                          <a:ea typeface="+mn-lt"/>
                        </a:rPr>
                        <a:t>88.9</a:t>
                      </a:r>
                      <a:endParaRPr lang="en-US" altLang="zh-CN" sz="1400" b="0" i="0">
                        <a:solidFill>
                          <a:srgbClr val="000000"/>
                        </a:solidFill>
                        <a:ea typeface="+mn-lt"/>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1400" b="0" i="0">
                        <a:solidFill>
                          <a:srgbClr val="000000"/>
                        </a:solidFill>
                        <a:ea typeface="+mn-lt"/>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1400" b="0" i="0">
                        <a:solidFill>
                          <a:srgbClr val="000000"/>
                        </a:solidFill>
                        <a:ea typeface="+mn-lt"/>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1400" b="0" i="0">
                        <a:solidFill>
                          <a:srgbClr val="000000"/>
                        </a:solidFill>
                        <a:ea typeface="+mn-lt"/>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400" b="0" i="0">
                          <a:solidFill>
                            <a:srgbClr val="000000"/>
                          </a:solidFill>
                          <a:ea typeface="+mn-lt"/>
                          <a:cs typeface="+mn-lt"/>
                        </a:rPr>
                        <a:t>1000</a:t>
                      </a:r>
                      <a:r>
                        <a:rPr lang="zh-CN" altLang="en-US" sz="1400" b="0" i="0">
                          <a:solidFill>
                            <a:srgbClr val="000000"/>
                          </a:solidFill>
                          <a:ea typeface="+mn-lt"/>
                          <a:cs typeface="+mn-lt"/>
                        </a:rPr>
                        <a:t>万左右</a:t>
                      </a:r>
                      <a:endParaRPr lang="zh-CN" altLang="en-US" sz="1400" b="0" i="0">
                        <a:solidFill>
                          <a:srgbClr val="000000"/>
                        </a:solidFill>
                        <a:ea typeface="+mn-lt"/>
                        <a:cs typeface="+mn-lt"/>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1400" b="0" i="0">
                          <a:solidFill>
                            <a:srgbClr val="000000"/>
                          </a:solidFill>
                          <a:ea typeface="+mn-lt"/>
                        </a:rPr>
                        <a:t>二七区、郑东新区、管城回族区</a:t>
                      </a:r>
                      <a:endParaRPr lang="zh-CN" altLang="en-US" sz="1400" b="0" i="0">
                        <a:solidFill>
                          <a:srgbClr val="000000"/>
                        </a:solidFill>
                        <a:ea typeface="+mn-lt"/>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400" b="0" i="0">
                          <a:solidFill>
                            <a:srgbClr val="000000"/>
                          </a:solidFill>
                          <a:ea typeface="+mn-lt"/>
                        </a:rPr>
                        <a:t>88.9</a:t>
                      </a:r>
                      <a:endParaRPr lang="en-US" altLang="zh-CN" sz="1400" b="0" i="0">
                        <a:solidFill>
                          <a:srgbClr val="000000"/>
                        </a:solidFill>
                        <a:ea typeface="+mn-lt"/>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313690">
                <a:tc>
                  <a:txBody>
                    <a:bodyPr/>
                    <a:p>
                      <a:pPr algn="ctr" fontAlgn="ctr"/>
                      <a:r>
                        <a:rPr lang="zh-CN" altLang="en-US" sz="1400" b="0" i="0">
                          <a:solidFill>
                            <a:srgbClr val="000000"/>
                          </a:solidFill>
                          <a:ea typeface="+mn-lt"/>
                        </a:rPr>
                        <a:t>兰考</a:t>
                      </a:r>
                      <a:endParaRPr lang="zh-CN" altLang="en-US" sz="1400" b="0" i="0">
                        <a:solidFill>
                          <a:srgbClr val="000000"/>
                        </a:solidFill>
                        <a:ea typeface="+mn-lt"/>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400" b="0" i="0">
                          <a:solidFill>
                            <a:srgbClr val="000000"/>
                          </a:solidFill>
                          <a:ea typeface="+mn-lt"/>
                        </a:rPr>
                        <a:t>90.8</a:t>
                      </a:r>
                      <a:endParaRPr lang="en-US" altLang="zh-CN" sz="1400" b="0" i="0">
                        <a:solidFill>
                          <a:srgbClr val="000000"/>
                        </a:solidFill>
                        <a:ea typeface="+mn-lt"/>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1400" b="0" i="0">
                        <a:solidFill>
                          <a:srgbClr val="000000"/>
                        </a:solidFill>
                        <a:ea typeface="+mn-lt"/>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400" b="0" i="0">
                          <a:solidFill>
                            <a:srgbClr val="000000"/>
                          </a:solidFill>
                          <a:ea typeface="+mn-lt"/>
                        </a:rPr>
                        <a:t>2</a:t>
                      </a:r>
                      <a:endParaRPr lang="en-US" altLang="zh-CN" sz="1400" b="0" i="0">
                        <a:solidFill>
                          <a:srgbClr val="000000"/>
                        </a:solidFill>
                        <a:ea typeface="+mn-lt"/>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1400" b="0" i="0">
                          <a:solidFill>
                            <a:srgbClr val="000000"/>
                          </a:solidFill>
                          <a:ea typeface="+mn-lt"/>
                          <a:cs typeface="+mn-lt"/>
                        </a:rPr>
                        <a:t>仓库库存为</a:t>
                      </a:r>
                      <a:r>
                        <a:rPr lang="en-US" altLang="zh-CN" sz="1400" b="0" i="0">
                          <a:solidFill>
                            <a:srgbClr val="000000"/>
                          </a:solidFill>
                          <a:ea typeface="+mn-lt"/>
                          <a:cs typeface="+mn-lt"/>
                        </a:rPr>
                        <a:t>0</a:t>
                      </a:r>
                      <a:r>
                        <a:rPr lang="zh-CN" altLang="en-US" sz="1400" b="0" i="0">
                          <a:solidFill>
                            <a:srgbClr val="000000"/>
                          </a:solidFill>
                          <a:ea typeface="+mn-lt"/>
                          <a:cs typeface="+mn-lt"/>
                        </a:rPr>
                        <a:t>，属于不正常现象</a:t>
                      </a:r>
                      <a:endParaRPr lang="zh-CN" altLang="en-US" sz="1400" b="0" i="0">
                        <a:solidFill>
                          <a:srgbClr val="000000"/>
                        </a:solidFill>
                        <a:ea typeface="+mn-lt"/>
                        <a:cs typeface="+mn-lt"/>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400" b="0" i="0">
                          <a:solidFill>
                            <a:srgbClr val="000000"/>
                          </a:solidFill>
                          <a:ea typeface="+mn-lt"/>
                          <a:cs typeface="+mn-lt"/>
                        </a:rPr>
                        <a:t>460</a:t>
                      </a:r>
                      <a:r>
                        <a:rPr lang="zh-CN" altLang="en-US" sz="1400" b="0" i="0">
                          <a:solidFill>
                            <a:srgbClr val="000000"/>
                          </a:solidFill>
                          <a:ea typeface="+mn-lt"/>
                          <a:cs typeface="+mn-lt"/>
                        </a:rPr>
                        <a:t>万左右</a:t>
                      </a:r>
                      <a:endParaRPr lang="zh-CN" altLang="en-US" sz="1400" b="0" i="0">
                        <a:solidFill>
                          <a:srgbClr val="000000"/>
                        </a:solidFill>
                        <a:ea typeface="+mn-lt"/>
                        <a:cs typeface="+mn-lt"/>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1400" b="0" i="0">
                          <a:solidFill>
                            <a:srgbClr val="000000"/>
                          </a:solidFill>
                          <a:ea typeface="+mn-lt"/>
                        </a:rPr>
                        <a:t>兰考县、祁县</a:t>
                      </a:r>
                      <a:endParaRPr lang="zh-CN" altLang="en-US" sz="1400" b="0" i="0">
                        <a:solidFill>
                          <a:srgbClr val="000000"/>
                        </a:solidFill>
                        <a:ea typeface="+mn-lt"/>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400" b="0" i="0">
                          <a:solidFill>
                            <a:srgbClr val="000000"/>
                          </a:solidFill>
                          <a:ea typeface="+mn-lt"/>
                        </a:rPr>
                        <a:t>88.8</a:t>
                      </a:r>
                      <a:endParaRPr lang="en-US" altLang="zh-CN" sz="1400" b="0" i="0">
                        <a:solidFill>
                          <a:srgbClr val="000000"/>
                        </a:solidFill>
                        <a:ea typeface="+mn-lt"/>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313690">
                <a:tc>
                  <a:txBody>
                    <a:bodyPr/>
                    <a:p>
                      <a:pPr algn="ctr" fontAlgn="ctr"/>
                      <a:r>
                        <a:rPr lang="zh-CN" altLang="en-US" sz="1400" b="0" i="0">
                          <a:solidFill>
                            <a:srgbClr val="000000"/>
                          </a:solidFill>
                          <a:ea typeface="+mn-lt"/>
                        </a:rPr>
                        <a:t>通许</a:t>
                      </a:r>
                      <a:endParaRPr lang="zh-CN" altLang="en-US" sz="1400" b="0" i="0">
                        <a:solidFill>
                          <a:srgbClr val="000000"/>
                        </a:solidFill>
                        <a:ea typeface="+mn-lt"/>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400" b="0" i="0">
                          <a:solidFill>
                            <a:srgbClr val="000000"/>
                          </a:solidFill>
                          <a:ea typeface="+mn-lt"/>
                        </a:rPr>
                        <a:t>90.7</a:t>
                      </a:r>
                      <a:endParaRPr lang="en-US" altLang="zh-CN" sz="1400" b="0" i="0">
                        <a:solidFill>
                          <a:srgbClr val="000000"/>
                        </a:solidFill>
                        <a:ea typeface="+mn-lt"/>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1400" b="0" i="0">
                        <a:solidFill>
                          <a:srgbClr val="000000"/>
                        </a:solidFill>
                        <a:ea typeface="+mn-lt"/>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400" b="0" i="0">
                          <a:solidFill>
                            <a:srgbClr val="000000"/>
                          </a:solidFill>
                          <a:ea typeface="+mn-lt"/>
                        </a:rPr>
                        <a:t>2</a:t>
                      </a:r>
                      <a:endParaRPr lang="en-US" altLang="zh-CN" sz="1400" b="0" i="0">
                        <a:solidFill>
                          <a:srgbClr val="000000"/>
                        </a:solidFill>
                        <a:ea typeface="+mn-lt"/>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1400" b="0" i="0">
                          <a:solidFill>
                            <a:srgbClr val="000000"/>
                          </a:solidFill>
                          <a:ea typeface="+mn-lt"/>
                          <a:cs typeface="+mn-lt"/>
                        </a:rPr>
                        <a:t>仓库库存为</a:t>
                      </a:r>
                      <a:r>
                        <a:rPr lang="en-US" altLang="zh-CN" sz="1400" b="0" i="0">
                          <a:solidFill>
                            <a:srgbClr val="000000"/>
                          </a:solidFill>
                          <a:ea typeface="+mn-lt"/>
                          <a:cs typeface="+mn-lt"/>
                        </a:rPr>
                        <a:t>0</a:t>
                      </a:r>
                      <a:r>
                        <a:rPr lang="zh-CN" altLang="en-US" sz="1400" b="0" i="0">
                          <a:solidFill>
                            <a:srgbClr val="000000"/>
                          </a:solidFill>
                          <a:ea typeface="+mn-lt"/>
                          <a:cs typeface="+mn-lt"/>
                        </a:rPr>
                        <a:t>，属于不正常现象</a:t>
                      </a:r>
                      <a:endParaRPr lang="zh-CN" altLang="en-US" sz="1400" b="0" i="0">
                        <a:solidFill>
                          <a:srgbClr val="000000"/>
                        </a:solidFill>
                        <a:ea typeface="+mn-lt"/>
                        <a:cs typeface="+mn-lt"/>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400" b="0" i="0">
                          <a:solidFill>
                            <a:srgbClr val="000000"/>
                          </a:solidFill>
                          <a:ea typeface="+mn-lt"/>
                          <a:cs typeface="+mn-lt"/>
                        </a:rPr>
                        <a:t>410</a:t>
                      </a:r>
                      <a:r>
                        <a:rPr lang="zh-CN" altLang="en-US" sz="1400" b="0" i="0">
                          <a:solidFill>
                            <a:srgbClr val="000000"/>
                          </a:solidFill>
                          <a:ea typeface="+mn-lt"/>
                          <a:cs typeface="+mn-lt"/>
                        </a:rPr>
                        <a:t>万左右</a:t>
                      </a:r>
                      <a:endParaRPr lang="zh-CN" altLang="en-US" sz="1400" b="0" i="0">
                        <a:solidFill>
                          <a:srgbClr val="000000"/>
                        </a:solidFill>
                        <a:ea typeface="+mn-lt"/>
                        <a:cs typeface="+mn-lt"/>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1400" b="0" i="0">
                          <a:solidFill>
                            <a:srgbClr val="000000"/>
                          </a:solidFill>
                          <a:ea typeface="+mn-lt"/>
                        </a:rPr>
                        <a:t>祥符区、通许县</a:t>
                      </a:r>
                      <a:endParaRPr lang="zh-CN" altLang="en-US" sz="1400" b="0" i="0">
                        <a:solidFill>
                          <a:srgbClr val="000000"/>
                        </a:solidFill>
                        <a:ea typeface="+mn-lt"/>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400" b="0" i="0">
                          <a:solidFill>
                            <a:srgbClr val="000000"/>
                          </a:solidFill>
                          <a:ea typeface="+mn-lt"/>
                        </a:rPr>
                        <a:t>88.7</a:t>
                      </a:r>
                      <a:endParaRPr lang="en-US" altLang="zh-CN" sz="1400" b="0" i="0">
                        <a:solidFill>
                          <a:srgbClr val="000000"/>
                        </a:solidFill>
                        <a:ea typeface="+mn-lt"/>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314325">
                <a:tc>
                  <a:txBody>
                    <a:bodyPr/>
                    <a:p>
                      <a:pPr algn="ctr" fontAlgn="ctr"/>
                      <a:r>
                        <a:rPr lang="zh-CN" altLang="en-US" sz="1400" b="0" i="0">
                          <a:solidFill>
                            <a:srgbClr val="000000"/>
                          </a:solidFill>
                          <a:ea typeface="+mn-lt"/>
                        </a:rPr>
                        <a:t>上蔡</a:t>
                      </a:r>
                      <a:endParaRPr lang="zh-CN" altLang="en-US" sz="1400" b="0" i="0">
                        <a:solidFill>
                          <a:srgbClr val="000000"/>
                        </a:solidFill>
                        <a:ea typeface="+mn-lt"/>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400" b="0" i="0">
                          <a:solidFill>
                            <a:srgbClr val="000000"/>
                          </a:solidFill>
                          <a:ea typeface="+mn-lt"/>
                        </a:rPr>
                        <a:t>86.5</a:t>
                      </a:r>
                      <a:endParaRPr lang="en-US" altLang="zh-CN" sz="1400" b="0" i="0">
                        <a:solidFill>
                          <a:srgbClr val="000000"/>
                        </a:solidFill>
                        <a:ea typeface="+mn-lt"/>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1400" b="0" i="0">
                        <a:solidFill>
                          <a:srgbClr val="000000"/>
                        </a:solidFill>
                        <a:ea typeface="+mn-lt"/>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1400" b="0" i="0">
                        <a:solidFill>
                          <a:srgbClr val="000000"/>
                        </a:solidFill>
                        <a:ea typeface="+mn-lt"/>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1400" b="0" i="0">
                        <a:solidFill>
                          <a:srgbClr val="000000"/>
                        </a:solidFill>
                        <a:ea typeface="+mn-lt"/>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400" b="0" i="0">
                          <a:solidFill>
                            <a:srgbClr val="000000"/>
                          </a:solidFill>
                          <a:ea typeface="+mn-lt"/>
                          <a:cs typeface="+mn-lt"/>
                        </a:rPr>
                        <a:t>270</a:t>
                      </a:r>
                      <a:r>
                        <a:rPr lang="zh-CN" altLang="en-US" sz="1400" b="0" i="0">
                          <a:solidFill>
                            <a:srgbClr val="000000"/>
                          </a:solidFill>
                          <a:ea typeface="+mn-lt"/>
                          <a:cs typeface="+mn-lt"/>
                        </a:rPr>
                        <a:t>万左右</a:t>
                      </a:r>
                      <a:endParaRPr lang="zh-CN" altLang="en-US" sz="1400" b="0" i="0">
                        <a:solidFill>
                          <a:srgbClr val="000000"/>
                        </a:solidFill>
                        <a:ea typeface="+mn-lt"/>
                        <a:cs typeface="+mn-lt"/>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1400" b="0" i="0">
                          <a:solidFill>
                            <a:srgbClr val="000000"/>
                          </a:solidFill>
                          <a:ea typeface="+mn-lt"/>
                        </a:rPr>
                        <a:t>上蔡县</a:t>
                      </a:r>
                      <a:endParaRPr lang="zh-CN" altLang="en-US" sz="1400" b="0" i="0">
                        <a:solidFill>
                          <a:srgbClr val="000000"/>
                        </a:solidFill>
                        <a:ea typeface="+mn-lt"/>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400" b="0" i="0">
                          <a:solidFill>
                            <a:srgbClr val="000000"/>
                          </a:solidFill>
                          <a:ea typeface="+mn-lt"/>
                        </a:rPr>
                        <a:t>86.5</a:t>
                      </a:r>
                      <a:endParaRPr lang="en-US" altLang="zh-CN" sz="1400" b="0" i="0">
                        <a:solidFill>
                          <a:srgbClr val="000000"/>
                        </a:solidFill>
                        <a:ea typeface="+mn-lt"/>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313690">
                <a:tc>
                  <a:txBody>
                    <a:bodyPr/>
                    <a:p>
                      <a:pPr algn="ctr" fontAlgn="ctr"/>
                      <a:r>
                        <a:rPr lang="zh-CN" altLang="en-US" sz="1400" b="0" i="0">
                          <a:solidFill>
                            <a:srgbClr val="000000"/>
                          </a:solidFill>
                          <a:ea typeface="+mn-lt"/>
                        </a:rPr>
                        <a:t>偃师</a:t>
                      </a:r>
                      <a:endParaRPr lang="zh-CN" altLang="en-US" sz="1400" b="0" i="0">
                        <a:solidFill>
                          <a:srgbClr val="000000"/>
                        </a:solidFill>
                        <a:ea typeface="+mn-lt"/>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400" b="0" i="0">
                          <a:solidFill>
                            <a:srgbClr val="000000"/>
                          </a:solidFill>
                          <a:ea typeface="+mn-lt"/>
                        </a:rPr>
                        <a:t>75.1</a:t>
                      </a:r>
                      <a:endParaRPr lang="en-US" altLang="zh-CN" sz="1400" b="0" i="0">
                        <a:solidFill>
                          <a:srgbClr val="000000"/>
                        </a:solidFill>
                        <a:ea typeface="+mn-lt"/>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1400" b="0" i="0">
                        <a:solidFill>
                          <a:srgbClr val="000000"/>
                        </a:solidFill>
                        <a:ea typeface="+mn-lt"/>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1400" b="0" i="0">
                        <a:solidFill>
                          <a:srgbClr val="000000"/>
                        </a:solidFill>
                        <a:ea typeface="+mn-lt"/>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1400" b="0" i="0">
                        <a:solidFill>
                          <a:srgbClr val="000000"/>
                        </a:solidFill>
                        <a:ea typeface="+mn-lt"/>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400" b="0" i="0">
                          <a:solidFill>
                            <a:srgbClr val="000000"/>
                          </a:solidFill>
                          <a:ea typeface="+mn-lt"/>
                          <a:cs typeface="+mn-lt"/>
                        </a:rPr>
                        <a:t>150</a:t>
                      </a:r>
                      <a:r>
                        <a:rPr lang="zh-CN" altLang="en-US" sz="1400" b="0" i="0">
                          <a:solidFill>
                            <a:srgbClr val="000000"/>
                          </a:solidFill>
                          <a:ea typeface="+mn-lt"/>
                          <a:cs typeface="+mn-lt"/>
                        </a:rPr>
                        <a:t>万左右</a:t>
                      </a:r>
                      <a:endParaRPr lang="zh-CN" altLang="en-US" sz="1400" b="0" i="0">
                        <a:solidFill>
                          <a:srgbClr val="000000"/>
                        </a:solidFill>
                        <a:ea typeface="+mn-lt"/>
                        <a:cs typeface="+mn-lt"/>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1400" b="0" i="0">
                          <a:solidFill>
                            <a:srgbClr val="000000"/>
                          </a:solidFill>
                          <a:ea typeface="+mn-lt"/>
                        </a:rPr>
                        <a:t>偃师、伊川县</a:t>
                      </a:r>
                      <a:endParaRPr lang="zh-CN" altLang="en-US" sz="1400" b="0" i="0">
                        <a:solidFill>
                          <a:srgbClr val="000000"/>
                        </a:solidFill>
                        <a:ea typeface="+mn-lt"/>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400" b="0" i="0">
                          <a:solidFill>
                            <a:srgbClr val="000000"/>
                          </a:solidFill>
                          <a:ea typeface="+mn-lt"/>
                        </a:rPr>
                        <a:t>75.1</a:t>
                      </a:r>
                      <a:endParaRPr lang="en-US" altLang="zh-CN" sz="1400" b="0" i="0">
                        <a:solidFill>
                          <a:srgbClr val="000000"/>
                        </a:solidFill>
                        <a:ea typeface="+mn-lt"/>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bl>
          </a:graphicData>
        </a:graphic>
      </p:graphicFrame>
      <p:sp>
        <p:nvSpPr>
          <p:cNvPr id="21" name="文本框 20"/>
          <p:cNvSpPr txBox="1"/>
          <p:nvPr/>
        </p:nvSpPr>
        <p:spPr>
          <a:xfrm>
            <a:off x="500380" y="5031105"/>
            <a:ext cx="10822940" cy="1487170"/>
          </a:xfrm>
          <a:prstGeom prst="rect">
            <a:avLst/>
          </a:prstGeom>
          <a:noFill/>
        </p:spPr>
        <p:txBody>
          <a:bodyPr wrap="square" rtlCol="0">
            <a:noAutofit/>
          </a:bodyPr>
          <a:p>
            <a:pPr marL="285750" indent="-285750">
              <a:buFont typeface="Wingdings" panose="05000000000000000000" charset="0"/>
              <a:buChar char="u"/>
            </a:pPr>
            <a:r>
              <a:rPr lang="zh-CN" altLang="en-US"/>
              <a:t>本次检查中</a:t>
            </a:r>
            <a:r>
              <a:rPr lang="zh-CN" altLang="en-US">
                <a:highlight>
                  <a:srgbClr val="00FF00"/>
                </a:highlight>
              </a:rPr>
              <a:t>中原市场</a:t>
            </a:r>
            <a:r>
              <a:rPr lang="zh-CN" altLang="en-US"/>
              <a:t>得分最高</a:t>
            </a:r>
            <a:r>
              <a:rPr lang="en-US" altLang="zh-CN"/>
              <a:t>89.6</a:t>
            </a:r>
            <a:r>
              <a:rPr lang="zh-CN" altLang="en-US"/>
              <a:t>分，</a:t>
            </a:r>
            <a:r>
              <a:rPr lang="zh-CN" altLang="en-US">
                <a:highlight>
                  <a:srgbClr val="FF0000"/>
                </a:highlight>
              </a:rPr>
              <a:t>偃师市场</a:t>
            </a:r>
            <a:r>
              <a:rPr lang="zh-CN" altLang="en-US"/>
              <a:t>得分最低</a:t>
            </a:r>
            <a:r>
              <a:rPr lang="en-US" altLang="zh-CN"/>
              <a:t>75.1</a:t>
            </a:r>
            <a:r>
              <a:rPr lang="zh-CN" altLang="en-US"/>
              <a:t>分；</a:t>
            </a:r>
            <a:endParaRPr lang="zh-CN" altLang="en-US"/>
          </a:p>
          <a:p>
            <a:pPr marL="285750" indent="-285750">
              <a:buFont typeface="Wingdings" panose="05000000000000000000" charset="0"/>
              <a:buChar char="u"/>
            </a:pPr>
            <a:endParaRPr lang="zh-CN" altLang="en-US"/>
          </a:p>
          <a:p>
            <a:pPr marL="285750" indent="-285750">
              <a:buFont typeface="Wingdings" panose="05000000000000000000" charset="0"/>
              <a:buChar char="u"/>
            </a:pPr>
            <a:r>
              <a:rPr lang="zh-CN" altLang="en-US"/>
              <a:t>本次检查中仅有</a:t>
            </a:r>
            <a:r>
              <a:rPr lang="zh-CN" altLang="en-US">
                <a:highlight>
                  <a:srgbClr val="00FF00"/>
                </a:highlight>
              </a:rPr>
              <a:t>淮阳市场</a:t>
            </a:r>
            <a:r>
              <a:rPr lang="zh-CN" altLang="en-US"/>
              <a:t>为经销商亲自管理市场，其余市场多为</a:t>
            </a:r>
            <a:r>
              <a:rPr lang="en-US" altLang="zh-CN"/>
              <a:t>“</a:t>
            </a:r>
            <a:r>
              <a:rPr lang="zh-CN" altLang="en-US"/>
              <a:t>口二代</a:t>
            </a:r>
            <a:r>
              <a:rPr lang="en-US" altLang="zh-CN"/>
              <a:t>”</a:t>
            </a:r>
            <a:r>
              <a:rPr lang="zh-CN" altLang="en-US"/>
              <a:t>或市场经理代管</a:t>
            </a:r>
            <a:r>
              <a:rPr lang="zh-CN" altLang="en-US"/>
              <a:t>市场。</a:t>
            </a:r>
            <a:endParaRPr lang="zh-CN" altLang="en-US"/>
          </a:p>
          <a:p>
            <a:pPr marL="285750" indent="-285750">
              <a:buFont typeface="Wingdings" panose="05000000000000000000" charset="0"/>
              <a:buChar char="u"/>
            </a:pPr>
            <a:endParaRPr lang="zh-CN" altLang="en-US"/>
          </a:p>
          <a:p>
            <a:pPr marL="285750" indent="-285750">
              <a:buFont typeface="Wingdings" panose="05000000000000000000" charset="0"/>
              <a:buChar char="u"/>
            </a:pPr>
            <a:r>
              <a:rPr lang="zh-CN" altLang="en-US"/>
              <a:t>在面谈</a:t>
            </a:r>
            <a:r>
              <a:rPr lang="zh-CN" altLang="en-US">
                <a:highlight>
                  <a:srgbClr val="FF0000"/>
                </a:highlight>
              </a:rPr>
              <a:t>兰考、通许</a:t>
            </a:r>
            <a:r>
              <a:rPr lang="zh-CN" altLang="en-US"/>
              <a:t>市场时发现，两个市场属亲戚关系，且仓库均已无库存，属不正常</a:t>
            </a:r>
            <a:r>
              <a:rPr lang="zh-CN" altLang="en-US"/>
              <a:t>现象。</a:t>
            </a:r>
            <a:endParaRPr lang="zh-CN" altLang="en-US"/>
          </a:p>
        </p:txBody>
      </p:sp>
    </p:spTree>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8" name="文本框 8"/>
          <p:cNvSpPr txBox="1"/>
          <p:nvPr/>
        </p:nvSpPr>
        <p:spPr>
          <a:xfrm>
            <a:off x="1467318" y="2967335"/>
            <a:ext cx="8947217" cy="1753235"/>
          </a:xfrm>
          <a:prstGeom prst="rect">
            <a:avLst/>
          </a:prstGeom>
          <a:noFill/>
        </p:spPr>
        <p:txBody>
          <a:bodyPr wrap="square" rtlCol="0">
            <a:spAutoFit/>
          </a:bodyPr>
          <a:lstStyle/>
          <a:p>
            <a:pPr algn="ctr"/>
            <a:r>
              <a:rPr lang="en-US" altLang="zh-CN" sz="5400" b="1" dirty="0">
                <a:latin typeface="微软雅黑" panose="020B0503020204020204" pitchFamily="34" charset="-122"/>
                <a:ea typeface="微软雅黑" panose="020B0503020204020204" pitchFamily="34" charset="-122"/>
                <a:sym typeface="+mn-ea"/>
              </a:rPr>
              <a:t>3.</a:t>
            </a:r>
            <a:r>
              <a:rPr lang="zh-CN" altLang="en-US" sz="5400" b="1" dirty="0">
                <a:latin typeface="微软雅黑" panose="020B0503020204020204" pitchFamily="34" charset="-122"/>
                <a:ea typeface="微软雅黑" panose="020B0503020204020204" pitchFamily="34" charset="-122"/>
                <a:sym typeface="+mn-ea"/>
              </a:rPr>
              <a:t>市场重点问题及改善建议</a:t>
            </a:r>
            <a:endParaRPr lang="zh-CN" altLang="en-US" sz="5400" b="1" dirty="0">
              <a:latin typeface="微软雅黑" panose="020B0503020204020204" pitchFamily="34" charset="-122"/>
              <a:ea typeface="微软雅黑" panose="020B0503020204020204" pitchFamily="34" charset="-122"/>
              <a:sym typeface="+mn-ea"/>
            </a:endParaRPr>
          </a:p>
          <a:p>
            <a:pPr algn="ctr"/>
            <a:endParaRPr lang="zh-CN" altLang="en-US" sz="5400" b="1" dirty="0">
              <a:latin typeface="微软雅黑" panose="020B0503020204020204" pitchFamily="34" charset="-122"/>
              <a:ea typeface="微软雅黑" panose="020B0503020204020204" pitchFamily="34" charset="-122"/>
            </a:endParaRPr>
          </a:p>
        </p:txBody>
      </p:sp>
      <p:grpSp>
        <p:nvGrpSpPr>
          <p:cNvPr id="57" name="组合 13"/>
          <p:cNvGrpSpPr/>
          <p:nvPr/>
        </p:nvGrpSpPr>
        <p:grpSpPr>
          <a:xfrm rot="5400000">
            <a:off x="4743853" y="253539"/>
            <a:ext cx="2572212" cy="6350923"/>
            <a:chOff x="3617229" y="570765"/>
            <a:chExt cx="1571244" cy="3879481"/>
          </a:xfrm>
        </p:grpSpPr>
        <p:pic>
          <p:nvPicPr>
            <p:cNvPr id="2097153" name="Picture 2" descr="C:\Users\Administrator\Desktop\1.png"/>
            <p:cNvPicPr>
              <a:picLocks noChangeAspect="1" noChangeArrowheads="1"/>
            </p:cNvPicPr>
            <p:nvPr/>
          </p:nvPicPr>
          <p:blipFill>
            <a:blip r:embed="rId1" cstate="print"/>
            <a:srcRect/>
            <a:stretch>
              <a:fillRect/>
            </a:stretch>
          </p:blipFill>
          <p:spPr bwMode="auto">
            <a:xfrm rot="16200000">
              <a:off x="4220259" y="3482034"/>
              <a:ext cx="1554647" cy="381778"/>
            </a:xfrm>
            <a:prstGeom prst="rect">
              <a:avLst/>
            </a:prstGeom>
            <a:noFill/>
          </p:spPr>
        </p:pic>
        <p:pic>
          <p:nvPicPr>
            <p:cNvPr id="2097154" name="Picture 2" descr="C:\Users\Administrator\Desktop\1.png"/>
            <p:cNvPicPr>
              <a:picLocks noChangeAspect="1" noChangeArrowheads="1"/>
            </p:cNvPicPr>
            <p:nvPr/>
          </p:nvPicPr>
          <p:blipFill>
            <a:blip r:embed="rId1" cstate="print"/>
            <a:srcRect/>
            <a:stretch>
              <a:fillRect/>
            </a:stretch>
          </p:blipFill>
          <p:spPr bwMode="auto">
            <a:xfrm rot="16200000">
              <a:off x="4220260" y="1164820"/>
              <a:ext cx="1554647" cy="381778"/>
            </a:xfrm>
            <a:prstGeom prst="rect">
              <a:avLst/>
            </a:prstGeom>
            <a:noFill/>
          </p:spPr>
        </p:pic>
        <p:pic>
          <p:nvPicPr>
            <p:cNvPr id="2097155" name="Picture 2" descr="C:\Users\Administrator\Desktop\1.png"/>
            <p:cNvPicPr>
              <a:picLocks noChangeAspect="1" noChangeArrowheads="1"/>
            </p:cNvPicPr>
            <p:nvPr/>
          </p:nvPicPr>
          <p:blipFill>
            <a:blip r:embed="rId1" cstate="print"/>
            <a:srcRect/>
            <a:stretch>
              <a:fillRect/>
            </a:stretch>
          </p:blipFill>
          <p:spPr bwMode="auto">
            <a:xfrm rot="5400000" flipH="1">
              <a:off x="3030794" y="3474414"/>
              <a:ext cx="1554647" cy="381778"/>
            </a:xfrm>
            <a:prstGeom prst="rect">
              <a:avLst/>
            </a:prstGeom>
            <a:noFill/>
          </p:spPr>
        </p:pic>
        <p:pic>
          <p:nvPicPr>
            <p:cNvPr id="2097156" name="Picture 2" descr="C:\Users\Administrator\Desktop\1.png"/>
            <p:cNvPicPr>
              <a:picLocks noChangeAspect="1" noChangeArrowheads="1"/>
            </p:cNvPicPr>
            <p:nvPr/>
          </p:nvPicPr>
          <p:blipFill>
            <a:blip r:embed="rId1" cstate="print"/>
            <a:srcRect/>
            <a:stretch>
              <a:fillRect/>
            </a:stretch>
          </p:blipFill>
          <p:spPr bwMode="auto">
            <a:xfrm rot="5400000" flipH="1">
              <a:off x="3030795" y="1157200"/>
              <a:ext cx="1554647" cy="381778"/>
            </a:xfrm>
            <a:prstGeom prst="rect">
              <a:avLst/>
            </a:prstGeom>
            <a:noFill/>
          </p:spPr>
        </p:pic>
      </p:grpSp>
      <p:pic>
        <p:nvPicPr>
          <p:cNvPr id="8" name="图片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5737" y="125730"/>
            <a:ext cx="1056074" cy="900000"/>
          </a:xfrm>
          <a:prstGeom prst="rect">
            <a:avLst/>
          </a:prstGeom>
        </p:spPr>
      </p:pic>
    </p:spTree>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224987" y="263525"/>
            <a:ext cx="1056074" cy="900000"/>
          </a:xfrm>
          <a:prstGeom prst="rect">
            <a:avLst/>
          </a:prstGeom>
        </p:spPr>
      </p:pic>
      <p:sp>
        <p:nvSpPr>
          <p:cNvPr id="74" name="文本框 73"/>
          <p:cNvSpPr txBox="1"/>
          <p:nvPr/>
        </p:nvSpPr>
        <p:spPr>
          <a:xfrm>
            <a:off x="2392680" y="448310"/>
            <a:ext cx="5748020" cy="645160"/>
          </a:xfrm>
          <a:prstGeom prst="rect">
            <a:avLst/>
          </a:prstGeom>
          <a:noFill/>
        </p:spPr>
        <p:txBody>
          <a:bodyPr wrap="square" rtlCol="0">
            <a:spAutoFit/>
          </a:bodyPr>
          <a:lstStyle>
            <a:defPPr>
              <a:defRPr lang="zh-CN"/>
            </a:defPPr>
            <a:lvl1pPr>
              <a:defRPr sz="3200" b="1">
                <a:solidFill>
                  <a:srgbClr val="860000"/>
                </a:solidFill>
                <a:latin typeface="时尚中黑简体" panose="01010104010101010101" pitchFamily="2" charset="-122"/>
                <a:ea typeface="时尚中黑简体" panose="01010104010101010101" pitchFamily="2" charset="-122"/>
              </a:defRPr>
            </a:lvl1pPr>
          </a:lstStyle>
          <a:p>
            <a:r>
              <a:rPr lang="zh-CN" altLang="en-US" sz="3600" dirty="0">
                <a:solidFill>
                  <a:srgbClr val="C00000"/>
                </a:solidFill>
                <a:latin typeface="微软雅黑" panose="020B0503020204020204" pitchFamily="34" charset="-122"/>
                <a:ea typeface="微软雅黑" panose="020B0503020204020204" pitchFamily="34" charset="-122"/>
                <a:sym typeface="+mn-ea"/>
              </a:rPr>
              <a:t>市场重点问题及改善建议</a:t>
            </a:r>
            <a:endParaRPr lang="zh-CN" altLang="en-US" sz="3600" dirty="0">
              <a:solidFill>
                <a:srgbClr val="C00000"/>
              </a:solidFill>
              <a:latin typeface="微软雅黑" panose="020B0503020204020204" pitchFamily="34" charset="-122"/>
              <a:ea typeface="微软雅黑" panose="020B0503020204020204" pitchFamily="34" charset="-122"/>
              <a:sym typeface="+mn-ea"/>
            </a:endParaRPr>
          </a:p>
        </p:txBody>
      </p:sp>
      <p:sp>
        <p:nvSpPr>
          <p:cNvPr id="29" name="矩形 28"/>
          <p:cNvSpPr/>
          <p:nvPr/>
        </p:nvSpPr>
        <p:spPr>
          <a:xfrm>
            <a:off x="1530350" y="373380"/>
            <a:ext cx="436245" cy="720090"/>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矩形 32"/>
          <p:cNvSpPr/>
          <p:nvPr>
            <p:custDataLst>
              <p:tags r:id="rId2"/>
            </p:custDataLst>
          </p:nvPr>
        </p:nvSpPr>
        <p:spPr>
          <a:xfrm>
            <a:off x="2061210" y="373380"/>
            <a:ext cx="191770" cy="720090"/>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p:cNvSpPr/>
          <p:nvPr>
            <p:custDataLst>
              <p:tags r:id="rId3"/>
            </p:custDataLst>
          </p:nvPr>
        </p:nvSpPr>
        <p:spPr>
          <a:xfrm>
            <a:off x="7749540" y="373380"/>
            <a:ext cx="352425" cy="720090"/>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矩形 58"/>
          <p:cNvSpPr/>
          <p:nvPr>
            <p:custDataLst>
              <p:tags r:id="rId4"/>
            </p:custDataLst>
          </p:nvPr>
        </p:nvSpPr>
        <p:spPr>
          <a:xfrm>
            <a:off x="11323955" y="5967095"/>
            <a:ext cx="567690" cy="578485"/>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矩形 69"/>
          <p:cNvSpPr/>
          <p:nvPr>
            <p:custDataLst>
              <p:tags r:id="rId5"/>
            </p:custDataLst>
          </p:nvPr>
        </p:nvSpPr>
        <p:spPr>
          <a:xfrm>
            <a:off x="11001375" y="5967095"/>
            <a:ext cx="223520" cy="578485"/>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2" name="图片 101" descr="微信图片_20210702102959"/>
          <p:cNvPicPr>
            <a:picLocks noChangeAspect="1"/>
          </p:cNvPicPr>
          <p:nvPr>
            <p:custDataLst>
              <p:tags r:id="rId6"/>
            </p:custDataLst>
          </p:nvPr>
        </p:nvPicPr>
        <p:blipFill>
          <a:blip r:embed="rId7"/>
          <a:stretch>
            <a:fillRect/>
          </a:stretch>
        </p:blipFill>
        <p:spPr>
          <a:xfrm>
            <a:off x="11398250" y="6079490"/>
            <a:ext cx="414655" cy="353695"/>
          </a:xfrm>
          <a:prstGeom prst="rect">
            <a:avLst/>
          </a:prstGeom>
        </p:spPr>
      </p:pic>
      <p:sp>
        <p:nvSpPr>
          <p:cNvPr id="22" name="等腰三角形 21"/>
          <p:cNvSpPr/>
          <p:nvPr/>
        </p:nvSpPr>
        <p:spPr>
          <a:xfrm>
            <a:off x="520790" y="1473797"/>
            <a:ext cx="465041" cy="400897"/>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cxnSp>
        <p:nvCxnSpPr>
          <p:cNvPr id="21" name="直接连接符 20"/>
          <p:cNvCxnSpPr/>
          <p:nvPr/>
        </p:nvCxnSpPr>
        <p:spPr>
          <a:xfrm>
            <a:off x="408940" y="2083065"/>
            <a:ext cx="9971405" cy="5715"/>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1196975" y="1473835"/>
            <a:ext cx="6944360" cy="400685"/>
          </a:xfrm>
          <a:prstGeom prst="rect">
            <a:avLst/>
          </a:prstGeom>
          <a:solidFill>
            <a:srgbClr val="FF0000"/>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t>业务员存在工作不检点行为，影响公司品牌</a:t>
            </a:r>
            <a:r>
              <a:rPr lang="zh-CN" altLang="en-US"/>
              <a:t>形象</a:t>
            </a:r>
            <a:endParaRPr lang="zh-CN" altLang="en-US"/>
          </a:p>
        </p:txBody>
      </p:sp>
      <p:sp>
        <p:nvSpPr>
          <p:cNvPr id="7" name="文本框 6"/>
          <p:cNvSpPr txBox="1"/>
          <p:nvPr/>
        </p:nvSpPr>
        <p:spPr>
          <a:xfrm>
            <a:off x="408940" y="2427605"/>
            <a:ext cx="9817100" cy="922020"/>
          </a:xfrm>
          <a:prstGeom prst="rect">
            <a:avLst/>
          </a:prstGeom>
          <a:noFill/>
        </p:spPr>
        <p:txBody>
          <a:bodyPr wrap="square" rtlCol="0">
            <a:spAutoFit/>
          </a:bodyPr>
          <a:p>
            <a:r>
              <a:rPr lang="zh-CN" altLang="en-US" b="1">
                <a:solidFill>
                  <a:srgbClr val="FF0000"/>
                </a:solidFill>
              </a:rPr>
              <a:t>问题点：</a:t>
            </a:r>
            <a:endParaRPr lang="zh-CN" altLang="en-US" b="1">
              <a:solidFill>
                <a:srgbClr val="FF0000"/>
              </a:solidFill>
            </a:endParaRPr>
          </a:p>
          <a:p>
            <a:r>
              <a:rPr lang="zh-CN" altLang="en-US"/>
              <a:t>本次检查过程中有店家反馈业务员存在缺斤少两现象，调换产品时故意</a:t>
            </a:r>
            <a:r>
              <a:rPr lang="zh-CN" altLang="en-US"/>
              <a:t>少换一至两小包，导致终端老板对此业务员信任度下降，并在终端老板群内传播。</a:t>
            </a:r>
            <a:endParaRPr lang="zh-CN" altLang="en-US"/>
          </a:p>
        </p:txBody>
      </p:sp>
      <p:sp>
        <p:nvSpPr>
          <p:cNvPr id="9" name="文本框 8"/>
          <p:cNvSpPr txBox="1"/>
          <p:nvPr/>
        </p:nvSpPr>
        <p:spPr>
          <a:xfrm>
            <a:off x="520700" y="4237990"/>
            <a:ext cx="7466965" cy="2030095"/>
          </a:xfrm>
          <a:prstGeom prst="rect">
            <a:avLst/>
          </a:prstGeom>
          <a:noFill/>
        </p:spPr>
        <p:txBody>
          <a:bodyPr wrap="square" rtlCol="0">
            <a:spAutoFit/>
          </a:bodyPr>
          <a:p>
            <a:r>
              <a:rPr lang="zh-CN" altLang="en-US" b="1">
                <a:solidFill>
                  <a:srgbClr val="FF0000"/>
                </a:solidFill>
              </a:rPr>
              <a:t>改善建议：</a:t>
            </a:r>
            <a:endParaRPr lang="zh-CN" altLang="en-US" b="1">
              <a:solidFill>
                <a:srgbClr val="FF0000"/>
              </a:solidFill>
            </a:endParaRPr>
          </a:p>
          <a:p>
            <a:r>
              <a:rPr lang="en-US" altLang="zh-CN">
                <a:solidFill>
                  <a:schemeClr val="tx1"/>
                </a:solidFill>
              </a:rPr>
              <a:t>1.</a:t>
            </a:r>
            <a:r>
              <a:rPr lang="zh-CN" altLang="en-US">
                <a:solidFill>
                  <a:schemeClr val="tx1"/>
                </a:solidFill>
              </a:rPr>
              <a:t>市场团队自查自纠，及时淘汰劣迹</a:t>
            </a:r>
            <a:r>
              <a:rPr lang="zh-CN" altLang="en-US">
                <a:solidFill>
                  <a:schemeClr val="tx1"/>
                </a:solidFill>
              </a:rPr>
              <a:t>业务员；</a:t>
            </a:r>
            <a:endParaRPr lang="zh-CN" altLang="en-US">
              <a:solidFill>
                <a:schemeClr val="tx1"/>
              </a:solidFill>
            </a:endParaRPr>
          </a:p>
          <a:p>
            <a:endParaRPr lang="zh-CN" altLang="en-US">
              <a:solidFill>
                <a:schemeClr val="tx1"/>
              </a:solidFill>
            </a:endParaRPr>
          </a:p>
          <a:p>
            <a:r>
              <a:rPr lang="en-US" altLang="zh-CN">
                <a:solidFill>
                  <a:schemeClr val="tx1"/>
                </a:solidFill>
              </a:rPr>
              <a:t>2.</a:t>
            </a:r>
            <a:r>
              <a:rPr lang="zh-CN" altLang="en-US">
                <a:solidFill>
                  <a:schemeClr val="tx1"/>
                </a:solidFill>
              </a:rPr>
              <a:t>安抚终端情绪，对受牵连的终端做出合理赔偿，维护</a:t>
            </a:r>
            <a:r>
              <a:rPr lang="zh-CN" altLang="en-US">
                <a:solidFill>
                  <a:schemeClr val="tx1"/>
                </a:solidFill>
              </a:rPr>
              <a:t>客情；</a:t>
            </a:r>
            <a:endParaRPr lang="zh-CN" altLang="en-US">
              <a:solidFill>
                <a:schemeClr val="tx1"/>
              </a:solidFill>
            </a:endParaRPr>
          </a:p>
          <a:p>
            <a:endParaRPr lang="zh-CN" altLang="en-US">
              <a:solidFill>
                <a:schemeClr val="tx1"/>
              </a:solidFill>
            </a:endParaRPr>
          </a:p>
          <a:p>
            <a:r>
              <a:rPr lang="en-US" altLang="zh-CN">
                <a:solidFill>
                  <a:schemeClr val="tx1"/>
                </a:solidFill>
              </a:rPr>
              <a:t>3.</a:t>
            </a:r>
            <a:r>
              <a:rPr lang="zh-CN" altLang="en-US">
                <a:solidFill>
                  <a:schemeClr val="tx1"/>
                </a:solidFill>
              </a:rPr>
              <a:t>建立健康的市场秩序，完善奖惩制度，定期进行相关</a:t>
            </a:r>
            <a:r>
              <a:rPr lang="zh-CN" altLang="en-US">
                <a:solidFill>
                  <a:schemeClr val="tx1"/>
                </a:solidFill>
              </a:rPr>
              <a:t>培训；</a:t>
            </a:r>
            <a:endParaRPr lang="zh-CN" altLang="en-US">
              <a:solidFill>
                <a:schemeClr val="tx1"/>
              </a:solidFill>
            </a:endParaRPr>
          </a:p>
          <a:p>
            <a:endParaRPr lang="zh-CN" altLang="en-US">
              <a:solidFill>
                <a:schemeClr val="tx1"/>
              </a:solidFill>
            </a:endParaRPr>
          </a:p>
        </p:txBody>
      </p:sp>
    </p:spTree>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224987" y="263525"/>
            <a:ext cx="1056074" cy="900000"/>
          </a:xfrm>
          <a:prstGeom prst="rect">
            <a:avLst/>
          </a:prstGeom>
        </p:spPr>
      </p:pic>
      <p:sp>
        <p:nvSpPr>
          <p:cNvPr id="74" name="文本框 73"/>
          <p:cNvSpPr txBox="1"/>
          <p:nvPr/>
        </p:nvSpPr>
        <p:spPr>
          <a:xfrm>
            <a:off x="2392680" y="448310"/>
            <a:ext cx="5748020" cy="645160"/>
          </a:xfrm>
          <a:prstGeom prst="rect">
            <a:avLst/>
          </a:prstGeom>
          <a:noFill/>
        </p:spPr>
        <p:txBody>
          <a:bodyPr wrap="square" rtlCol="0">
            <a:spAutoFit/>
          </a:bodyPr>
          <a:lstStyle>
            <a:defPPr>
              <a:defRPr lang="zh-CN"/>
            </a:defPPr>
            <a:lvl1pPr>
              <a:defRPr sz="3200" b="1">
                <a:solidFill>
                  <a:srgbClr val="860000"/>
                </a:solidFill>
                <a:latin typeface="时尚中黑简体" panose="01010104010101010101" pitchFamily="2" charset="-122"/>
                <a:ea typeface="时尚中黑简体" panose="01010104010101010101" pitchFamily="2" charset="-122"/>
              </a:defRPr>
            </a:lvl1pPr>
          </a:lstStyle>
          <a:p>
            <a:r>
              <a:rPr lang="zh-CN" altLang="en-US" sz="3600" dirty="0">
                <a:solidFill>
                  <a:srgbClr val="C00000"/>
                </a:solidFill>
                <a:latin typeface="微软雅黑" panose="020B0503020204020204" pitchFamily="34" charset="-122"/>
                <a:ea typeface="微软雅黑" panose="020B0503020204020204" pitchFamily="34" charset="-122"/>
                <a:sym typeface="+mn-ea"/>
              </a:rPr>
              <a:t>市场重点问题及改善建议</a:t>
            </a:r>
            <a:endParaRPr lang="zh-CN" altLang="en-US" sz="3600" dirty="0">
              <a:solidFill>
                <a:srgbClr val="C00000"/>
              </a:solidFill>
              <a:latin typeface="微软雅黑" panose="020B0503020204020204" pitchFamily="34" charset="-122"/>
              <a:ea typeface="微软雅黑" panose="020B0503020204020204" pitchFamily="34" charset="-122"/>
              <a:sym typeface="+mn-ea"/>
            </a:endParaRPr>
          </a:p>
        </p:txBody>
      </p:sp>
      <p:sp>
        <p:nvSpPr>
          <p:cNvPr id="29" name="矩形 28"/>
          <p:cNvSpPr/>
          <p:nvPr/>
        </p:nvSpPr>
        <p:spPr>
          <a:xfrm>
            <a:off x="1530350" y="373380"/>
            <a:ext cx="436245" cy="720090"/>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矩形 32"/>
          <p:cNvSpPr/>
          <p:nvPr>
            <p:custDataLst>
              <p:tags r:id="rId2"/>
            </p:custDataLst>
          </p:nvPr>
        </p:nvSpPr>
        <p:spPr>
          <a:xfrm>
            <a:off x="2061210" y="373380"/>
            <a:ext cx="191770" cy="720090"/>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p:cNvSpPr/>
          <p:nvPr>
            <p:custDataLst>
              <p:tags r:id="rId3"/>
            </p:custDataLst>
          </p:nvPr>
        </p:nvSpPr>
        <p:spPr>
          <a:xfrm>
            <a:off x="7749540" y="373380"/>
            <a:ext cx="352425" cy="720090"/>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矩形 58"/>
          <p:cNvSpPr/>
          <p:nvPr>
            <p:custDataLst>
              <p:tags r:id="rId4"/>
            </p:custDataLst>
          </p:nvPr>
        </p:nvSpPr>
        <p:spPr>
          <a:xfrm>
            <a:off x="11323955" y="5967095"/>
            <a:ext cx="567690" cy="578485"/>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矩形 69"/>
          <p:cNvSpPr/>
          <p:nvPr>
            <p:custDataLst>
              <p:tags r:id="rId5"/>
            </p:custDataLst>
          </p:nvPr>
        </p:nvSpPr>
        <p:spPr>
          <a:xfrm>
            <a:off x="11001375" y="5967095"/>
            <a:ext cx="223520" cy="578485"/>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2" name="图片 101" descr="微信图片_20210702102959"/>
          <p:cNvPicPr>
            <a:picLocks noChangeAspect="1"/>
          </p:cNvPicPr>
          <p:nvPr>
            <p:custDataLst>
              <p:tags r:id="rId6"/>
            </p:custDataLst>
          </p:nvPr>
        </p:nvPicPr>
        <p:blipFill>
          <a:blip r:embed="rId7"/>
          <a:stretch>
            <a:fillRect/>
          </a:stretch>
        </p:blipFill>
        <p:spPr>
          <a:xfrm>
            <a:off x="11398250" y="6079490"/>
            <a:ext cx="414655" cy="353695"/>
          </a:xfrm>
          <a:prstGeom prst="rect">
            <a:avLst/>
          </a:prstGeom>
        </p:spPr>
      </p:pic>
      <p:sp>
        <p:nvSpPr>
          <p:cNvPr id="22" name="等腰三角形 21"/>
          <p:cNvSpPr/>
          <p:nvPr/>
        </p:nvSpPr>
        <p:spPr>
          <a:xfrm>
            <a:off x="520790" y="1473797"/>
            <a:ext cx="465041" cy="400897"/>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cxnSp>
        <p:nvCxnSpPr>
          <p:cNvPr id="21" name="直接连接符 20"/>
          <p:cNvCxnSpPr/>
          <p:nvPr/>
        </p:nvCxnSpPr>
        <p:spPr>
          <a:xfrm>
            <a:off x="408940" y="2083065"/>
            <a:ext cx="9971405" cy="5715"/>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1196975" y="1473835"/>
            <a:ext cx="6944360" cy="400685"/>
          </a:xfrm>
          <a:prstGeom prst="rect">
            <a:avLst/>
          </a:prstGeom>
          <a:solidFill>
            <a:srgbClr val="FF0000"/>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t>过期标语未及时撤除，</a:t>
            </a:r>
            <a:r>
              <a:rPr lang="zh-CN" altLang="en-US"/>
              <a:t>易造成经营</a:t>
            </a:r>
            <a:r>
              <a:rPr lang="zh-CN" altLang="en-US"/>
              <a:t>风险</a:t>
            </a:r>
            <a:endParaRPr lang="zh-CN" altLang="en-US"/>
          </a:p>
        </p:txBody>
      </p:sp>
      <p:sp>
        <p:nvSpPr>
          <p:cNvPr id="7" name="文本框 6"/>
          <p:cNvSpPr txBox="1"/>
          <p:nvPr/>
        </p:nvSpPr>
        <p:spPr>
          <a:xfrm>
            <a:off x="408940" y="2427605"/>
            <a:ext cx="9817100" cy="922020"/>
          </a:xfrm>
          <a:prstGeom prst="rect">
            <a:avLst/>
          </a:prstGeom>
          <a:noFill/>
        </p:spPr>
        <p:txBody>
          <a:bodyPr wrap="square" rtlCol="0">
            <a:spAutoFit/>
          </a:bodyPr>
          <a:p>
            <a:r>
              <a:rPr lang="zh-CN" altLang="en-US" b="1">
                <a:solidFill>
                  <a:srgbClr val="FF0000"/>
                </a:solidFill>
              </a:rPr>
              <a:t>问题点：</a:t>
            </a:r>
            <a:endParaRPr lang="zh-CN" altLang="en-US" b="1">
              <a:solidFill>
                <a:srgbClr val="FF0000"/>
              </a:solidFill>
            </a:endParaRPr>
          </a:p>
          <a:p>
            <a:r>
              <a:rPr lang="zh-CN" altLang="en-US"/>
              <a:t>过期标语仍在市场运用</a:t>
            </a:r>
            <a:r>
              <a:rPr lang="zh-CN" altLang="en-US">
                <a:sym typeface="+mn-ea"/>
              </a:rPr>
              <a:t>（提神快、十包高端槟榔七包和成天下）</a:t>
            </a:r>
            <a:r>
              <a:rPr lang="zh-CN" altLang="en-US"/>
              <a:t>，未及时撤除。其中偃师市场情况较为严重，包含陈列盒</a:t>
            </a:r>
            <a:r>
              <a:rPr lang="en-US" altLang="zh-CN"/>
              <a:t>/</a:t>
            </a:r>
            <a:r>
              <a:rPr lang="zh-CN" altLang="en-US"/>
              <a:t>架以及终端</a:t>
            </a:r>
            <a:r>
              <a:rPr lang="zh-CN" altLang="en-US"/>
              <a:t>品宣。</a:t>
            </a:r>
            <a:endParaRPr lang="zh-CN" altLang="en-US"/>
          </a:p>
        </p:txBody>
      </p:sp>
      <p:sp>
        <p:nvSpPr>
          <p:cNvPr id="9" name="文本框 8"/>
          <p:cNvSpPr txBox="1"/>
          <p:nvPr/>
        </p:nvSpPr>
        <p:spPr>
          <a:xfrm>
            <a:off x="408940" y="5234305"/>
            <a:ext cx="9817100" cy="1198880"/>
          </a:xfrm>
          <a:prstGeom prst="rect">
            <a:avLst/>
          </a:prstGeom>
          <a:noFill/>
        </p:spPr>
        <p:txBody>
          <a:bodyPr wrap="square" rtlCol="0">
            <a:spAutoFit/>
          </a:bodyPr>
          <a:p>
            <a:r>
              <a:rPr lang="zh-CN" altLang="en-US" b="1">
                <a:solidFill>
                  <a:srgbClr val="FF0000"/>
                </a:solidFill>
              </a:rPr>
              <a:t>改善建议：</a:t>
            </a:r>
            <a:endParaRPr lang="zh-CN" altLang="en-US" b="1">
              <a:solidFill>
                <a:srgbClr val="FF0000"/>
              </a:solidFill>
            </a:endParaRPr>
          </a:p>
          <a:p>
            <a:r>
              <a:rPr lang="en-US" altLang="zh-CN">
                <a:solidFill>
                  <a:schemeClr val="tx1"/>
                </a:solidFill>
              </a:rPr>
              <a:t>1.</a:t>
            </a:r>
            <a:r>
              <a:rPr lang="zh-CN" altLang="en-US">
                <a:solidFill>
                  <a:schemeClr val="tx1"/>
                </a:solidFill>
              </a:rPr>
              <a:t>市场全面大清洗，动员市场所有人员全面撤除过期</a:t>
            </a:r>
            <a:r>
              <a:rPr lang="zh-CN" altLang="en-US">
                <a:solidFill>
                  <a:schemeClr val="tx1"/>
                </a:solidFill>
              </a:rPr>
              <a:t>品宣；</a:t>
            </a:r>
            <a:endParaRPr lang="zh-CN" altLang="en-US">
              <a:solidFill>
                <a:schemeClr val="tx1"/>
              </a:solidFill>
            </a:endParaRPr>
          </a:p>
          <a:p>
            <a:endParaRPr lang="zh-CN" altLang="en-US">
              <a:solidFill>
                <a:schemeClr val="tx1"/>
              </a:solidFill>
            </a:endParaRPr>
          </a:p>
          <a:p>
            <a:r>
              <a:rPr lang="en-US" altLang="zh-CN">
                <a:solidFill>
                  <a:schemeClr val="tx1"/>
                </a:solidFill>
              </a:rPr>
              <a:t>2.</a:t>
            </a:r>
            <a:r>
              <a:rPr lang="zh-CN" altLang="en-US">
                <a:solidFill>
                  <a:schemeClr val="tx1"/>
                </a:solidFill>
              </a:rPr>
              <a:t>对人员密集、地理位置</a:t>
            </a:r>
            <a:r>
              <a:rPr lang="zh-CN" altLang="en-US">
                <a:solidFill>
                  <a:schemeClr val="tx1"/>
                </a:solidFill>
              </a:rPr>
              <a:t>优越（景区、十字路口、步行街</a:t>
            </a:r>
            <a:r>
              <a:rPr lang="zh-CN" altLang="en-US">
                <a:solidFill>
                  <a:schemeClr val="tx1"/>
                </a:solidFill>
              </a:rPr>
              <a:t>等）的终端给予大品宣费用</a:t>
            </a:r>
            <a:r>
              <a:rPr lang="zh-CN" altLang="en-US">
                <a:solidFill>
                  <a:schemeClr val="tx1"/>
                </a:solidFill>
              </a:rPr>
              <a:t>支持；</a:t>
            </a:r>
            <a:endParaRPr lang="zh-CN" altLang="en-US">
              <a:solidFill>
                <a:schemeClr val="tx1"/>
              </a:solidFill>
            </a:endParaRPr>
          </a:p>
        </p:txBody>
      </p:sp>
      <p:pic>
        <p:nvPicPr>
          <p:cNvPr id="2" name="图片 1"/>
          <p:cNvPicPr>
            <a:picLocks noChangeAspect="1"/>
          </p:cNvPicPr>
          <p:nvPr/>
        </p:nvPicPr>
        <p:blipFill>
          <a:blip r:embed="rId8"/>
          <a:stretch>
            <a:fillRect/>
          </a:stretch>
        </p:blipFill>
        <p:spPr>
          <a:xfrm>
            <a:off x="1081405" y="3453765"/>
            <a:ext cx="2150745" cy="1612265"/>
          </a:xfrm>
          <a:prstGeom prst="rect">
            <a:avLst/>
          </a:prstGeom>
        </p:spPr>
      </p:pic>
      <p:pic>
        <p:nvPicPr>
          <p:cNvPr id="3" name="图片 2"/>
          <p:cNvPicPr>
            <a:picLocks noChangeAspect="1"/>
          </p:cNvPicPr>
          <p:nvPr/>
        </p:nvPicPr>
        <p:blipFill>
          <a:blip r:embed="rId9"/>
          <a:stretch>
            <a:fillRect/>
          </a:stretch>
        </p:blipFill>
        <p:spPr>
          <a:xfrm>
            <a:off x="9206230" y="3349625"/>
            <a:ext cx="1795145" cy="2393950"/>
          </a:xfrm>
          <a:prstGeom prst="rect">
            <a:avLst/>
          </a:prstGeom>
        </p:spPr>
      </p:pic>
      <p:pic>
        <p:nvPicPr>
          <p:cNvPr id="4" name="图片 3"/>
          <p:cNvPicPr>
            <a:picLocks noChangeAspect="1"/>
          </p:cNvPicPr>
          <p:nvPr/>
        </p:nvPicPr>
        <p:blipFill>
          <a:blip r:embed="rId10"/>
          <a:stretch>
            <a:fillRect/>
          </a:stretch>
        </p:blipFill>
        <p:spPr>
          <a:xfrm>
            <a:off x="6715760" y="3349625"/>
            <a:ext cx="1786890" cy="2382520"/>
          </a:xfrm>
          <a:prstGeom prst="rect">
            <a:avLst/>
          </a:prstGeom>
        </p:spPr>
      </p:pic>
      <p:pic>
        <p:nvPicPr>
          <p:cNvPr id="5" name="图片 4"/>
          <p:cNvPicPr>
            <a:picLocks noChangeAspect="1"/>
          </p:cNvPicPr>
          <p:nvPr/>
        </p:nvPicPr>
        <p:blipFill>
          <a:blip r:embed="rId11"/>
          <a:stretch>
            <a:fillRect/>
          </a:stretch>
        </p:blipFill>
        <p:spPr>
          <a:xfrm flipH="1">
            <a:off x="3724275" y="3454400"/>
            <a:ext cx="2148840" cy="1611630"/>
          </a:xfrm>
          <a:prstGeom prst="rect">
            <a:avLst/>
          </a:prstGeom>
        </p:spPr>
      </p:pic>
    </p:spTree>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224987" y="263525"/>
            <a:ext cx="1056074" cy="900000"/>
          </a:xfrm>
          <a:prstGeom prst="rect">
            <a:avLst/>
          </a:prstGeom>
        </p:spPr>
      </p:pic>
      <p:sp>
        <p:nvSpPr>
          <p:cNvPr id="74" name="文本框 73"/>
          <p:cNvSpPr txBox="1"/>
          <p:nvPr/>
        </p:nvSpPr>
        <p:spPr>
          <a:xfrm>
            <a:off x="2392680" y="448310"/>
            <a:ext cx="5748020" cy="645160"/>
          </a:xfrm>
          <a:prstGeom prst="rect">
            <a:avLst/>
          </a:prstGeom>
          <a:noFill/>
        </p:spPr>
        <p:txBody>
          <a:bodyPr wrap="square" rtlCol="0">
            <a:spAutoFit/>
          </a:bodyPr>
          <a:lstStyle>
            <a:defPPr>
              <a:defRPr lang="zh-CN"/>
            </a:defPPr>
            <a:lvl1pPr>
              <a:defRPr sz="3200" b="1">
                <a:solidFill>
                  <a:srgbClr val="860000"/>
                </a:solidFill>
                <a:latin typeface="时尚中黑简体" panose="01010104010101010101" pitchFamily="2" charset="-122"/>
                <a:ea typeface="时尚中黑简体" panose="01010104010101010101" pitchFamily="2" charset="-122"/>
              </a:defRPr>
            </a:lvl1pPr>
          </a:lstStyle>
          <a:p>
            <a:r>
              <a:rPr lang="zh-CN" altLang="en-US" sz="3600" dirty="0">
                <a:solidFill>
                  <a:srgbClr val="C00000"/>
                </a:solidFill>
                <a:latin typeface="微软雅黑" panose="020B0503020204020204" pitchFamily="34" charset="-122"/>
                <a:ea typeface="微软雅黑" panose="020B0503020204020204" pitchFamily="34" charset="-122"/>
                <a:sym typeface="+mn-ea"/>
              </a:rPr>
              <a:t>市场重点问题及改善建议</a:t>
            </a:r>
            <a:endParaRPr lang="zh-CN" altLang="en-US" sz="3600" dirty="0">
              <a:solidFill>
                <a:srgbClr val="C00000"/>
              </a:solidFill>
              <a:latin typeface="微软雅黑" panose="020B0503020204020204" pitchFamily="34" charset="-122"/>
              <a:ea typeface="微软雅黑" panose="020B0503020204020204" pitchFamily="34" charset="-122"/>
              <a:sym typeface="+mn-ea"/>
            </a:endParaRPr>
          </a:p>
        </p:txBody>
      </p:sp>
      <p:sp>
        <p:nvSpPr>
          <p:cNvPr id="29" name="矩形 28"/>
          <p:cNvSpPr/>
          <p:nvPr/>
        </p:nvSpPr>
        <p:spPr>
          <a:xfrm>
            <a:off x="1530350" y="373380"/>
            <a:ext cx="436245" cy="720090"/>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矩形 32"/>
          <p:cNvSpPr/>
          <p:nvPr>
            <p:custDataLst>
              <p:tags r:id="rId2"/>
            </p:custDataLst>
          </p:nvPr>
        </p:nvSpPr>
        <p:spPr>
          <a:xfrm>
            <a:off x="2061210" y="373380"/>
            <a:ext cx="191770" cy="720090"/>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p:cNvSpPr/>
          <p:nvPr>
            <p:custDataLst>
              <p:tags r:id="rId3"/>
            </p:custDataLst>
          </p:nvPr>
        </p:nvSpPr>
        <p:spPr>
          <a:xfrm>
            <a:off x="7749540" y="373380"/>
            <a:ext cx="352425" cy="720090"/>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矩形 58"/>
          <p:cNvSpPr/>
          <p:nvPr>
            <p:custDataLst>
              <p:tags r:id="rId4"/>
            </p:custDataLst>
          </p:nvPr>
        </p:nvSpPr>
        <p:spPr>
          <a:xfrm>
            <a:off x="11323955" y="5967095"/>
            <a:ext cx="567690" cy="578485"/>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矩形 69"/>
          <p:cNvSpPr/>
          <p:nvPr>
            <p:custDataLst>
              <p:tags r:id="rId5"/>
            </p:custDataLst>
          </p:nvPr>
        </p:nvSpPr>
        <p:spPr>
          <a:xfrm>
            <a:off x="11001375" y="5967095"/>
            <a:ext cx="223520" cy="578485"/>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2" name="图片 101" descr="微信图片_20210702102959"/>
          <p:cNvPicPr>
            <a:picLocks noChangeAspect="1"/>
          </p:cNvPicPr>
          <p:nvPr>
            <p:custDataLst>
              <p:tags r:id="rId6"/>
            </p:custDataLst>
          </p:nvPr>
        </p:nvPicPr>
        <p:blipFill>
          <a:blip r:embed="rId7"/>
          <a:stretch>
            <a:fillRect/>
          </a:stretch>
        </p:blipFill>
        <p:spPr>
          <a:xfrm>
            <a:off x="11398250" y="6079490"/>
            <a:ext cx="414655" cy="353695"/>
          </a:xfrm>
          <a:prstGeom prst="rect">
            <a:avLst/>
          </a:prstGeom>
        </p:spPr>
      </p:pic>
      <p:sp>
        <p:nvSpPr>
          <p:cNvPr id="22" name="等腰三角形 21"/>
          <p:cNvSpPr/>
          <p:nvPr/>
        </p:nvSpPr>
        <p:spPr>
          <a:xfrm>
            <a:off x="520790" y="1473797"/>
            <a:ext cx="465041" cy="400897"/>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cxnSp>
        <p:nvCxnSpPr>
          <p:cNvPr id="21" name="直接连接符 20"/>
          <p:cNvCxnSpPr/>
          <p:nvPr/>
        </p:nvCxnSpPr>
        <p:spPr>
          <a:xfrm>
            <a:off x="408940" y="2083065"/>
            <a:ext cx="9971405" cy="5715"/>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1196975" y="1473835"/>
            <a:ext cx="6944360" cy="400685"/>
          </a:xfrm>
          <a:prstGeom prst="rect">
            <a:avLst/>
          </a:prstGeom>
          <a:solidFill>
            <a:srgbClr val="FF0000"/>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t>骄阳行动颁奖进度缓慢，线上舆论</a:t>
            </a:r>
            <a:r>
              <a:rPr lang="zh-CN" altLang="en-US"/>
              <a:t>增加</a:t>
            </a:r>
            <a:endParaRPr lang="zh-CN" altLang="en-US"/>
          </a:p>
        </p:txBody>
      </p:sp>
      <p:sp>
        <p:nvSpPr>
          <p:cNvPr id="7" name="文本框 6"/>
          <p:cNvSpPr txBox="1"/>
          <p:nvPr/>
        </p:nvSpPr>
        <p:spPr>
          <a:xfrm>
            <a:off x="408940" y="2427605"/>
            <a:ext cx="9817100" cy="922020"/>
          </a:xfrm>
          <a:prstGeom prst="rect">
            <a:avLst/>
          </a:prstGeom>
          <a:noFill/>
        </p:spPr>
        <p:txBody>
          <a:bodyPr wrap="square" rtlCol="0">
            <a:spAutoFit/>
          </a:bodyPr>
          <a:p>
            <a:r>
              <a:rPr lang="zh-CN" altLang="en-US" b="1">
                <a:solidFill>
                  <a:srgbClr val="FF0000"/>
                </a:solidFill>
              </a:rPr>
              <a:t>问题点：</a:t>
            </a:r>
            <a:endParaRPr lang="zh-CN" altLang="en-US" b="1">
              <a:solidFill>
                <a:srgbClr val="FF0000"/>
              </a:solidFill>
            </a:endParaRPr>
          </a:p>
          <a:p>
            <a:r>
              <a:rPr lang="zh-CN" altLang="en-US"/>
              <a:t>奖品（电动车、手机）到达市场时间较长，市场颁奖进度缓慢，导致中奖客户在线上发布不实信息，给予市场较大</a:t>
            </a:r>
            <a:r>
              <a:rPr lang="zh-CN" altLang="en-US"/>
              <a:t>压力。</a:t>
            </a:r>
            <a:endParaRPr lang="zh-CN" altLang="en-US"/>
          </a:p>
        </p:txBody>
      </p:sp>
      <p:sp>
        <p:nvSpPr>
          <p:cNvPr id="9" name="文本框 8"/>
          <p:cNvSpPr txBox="1"/>
          <p:nvPr/>
        </p:nvSpPr>
        <p:spPr>
          <a:xfrm>
            <a:off x="408305" y="4613910"/>
            <a:ext cx="9817735" cy="1198880"/>
          </a:xfrm>
          <a:prstGeom prst="rect">
            <a:avLst/>
          </a:prstGeom>
          <a:noFill/>
        </p:spPr>
        <p:txBody>
          <a:bodyPr wrap="square" rtlCol="0">
            <a:spAutoFit/>
          </a:bodyPr>
          <a:p>
            <a:r>
              <a:rPr lang="zh-CN" altLang="en-US" b="1">
                <a:solidFill>
                  <a:srgbClr val="FF0000"/>
                </a:solidFill>
              </a:rPr>
              <a:t>改善建议：</a:t>
            </a:r>
            <a:endParaRPr lang="zh-CN" altLang="en-US" b="1">
              <a:solidFill>
                <a:srgbClr val="FF0000"/>
              </a:solidFill>
            </a:endParaRPr>
          </a:p>
          <a:p>
            <a:r>
              <a:rPr lang="en-US" altLang="zh-CN">
                <a:solidFill>
                  <a:schemeClr val="tx1"/>
                </a:solidFill>
              </a:rPr>
              <a:t>1.</a:t>
            </a:r>
            <a:r>
              <a:rPr lang="zh-CN" altLang="en-US">
                <a:solidFill>
                  <a:schemeClr val="tx1"/>
                </a:solidFill>
              </a:rPr>
              <a:t>确定市场奖品数量并提前发往市场，保证颁奖质量的同时减少复杂</a:t>
            </a:r>
            <a:r>
              <a:rPr lang="zh-CN" altLang="en-US">
                <a:solidFill>
                  <a:schemeClr val="tx1"/>
                </a:solidFill>
              </a:rPr>
              <a:t>流程；</a:t>
            </a:r>
            <a:endParaRPr lang="zh-CN" altLang="en-US">
              <a:solidFill>
                <a:schemeClr val="tx1"/>
              </a:solidFill>
            </a:endParaRPr>
          </a:p>
          <a:p>
            <a:endParaRPr lang="zh-CN" altLang="en-US">
              <a:solidFill>
                <a:schemeClr val="tx1"/>
              </a:solidFill>
            </a:endParaRPr>
          </a:p>
          <a:p>
            <a:r>
              <a:rPr lang="en-US" altLang="zh-CN">
                <a:solidFill>
                  <a:schemeClr val="tx1"/>
                </a:solidFill>
              </a:rPr>
              <a:t>2.</a:t>
            </a:r>
            <a:r>
              <a:rPr lang="zh-CN" altLang="en-US">
                <a:solidFill>
                  <a:schemeClr val="tx1"/>
                </a:solidFill>
              </a:rPr>
              <a:t>制定相关话术，业务员灵活使用话术安抚中奖客户情绪，减少相关舆论，维护本品</a:t>
            </a:r>
            <a:r>
              <a:rPr lang="zh-CN" altLang="en-US">
                <a:solidFill>
                  <a:schemeClr val="tx1"/>
                </a:solidFill>
              </a:rPr>
              <a:t>形象；</a:t>
            </a:r>
            <a:endParaRPr lang="zh-CN" altLang="en-US">
              <a:solidFill>
                <a:schemeClr val="tx1"/>
              </a:solidFill>
            </a:endParaRPr>
          </a:p>
        </p:txBody>
      </p:sp>
    </p:spTree>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224987" y="263525"/>
            <a:ext cx="1056074" cy="900000"/>
          </a:xfrm>
          <a:prstGeom prst="rect">
            <a:avLst/>
          </a:prstGeom>
        </p:spPr>
      </p:pic>
      <p:sp>
        <p:nvSpPr>
          <p:cNvPr id="74" name="文本框 73"/>
          <p:cNvSpPr txBox="1"/>
          <p:nvPr/>
        </p:nvSpPr>
        <p:spPr>
          <a:xfrm>
            <a:off x="2392680" y="448310"/>
            <a:ext cx="5748020" cy="645160"/>
          </a:xfrm>
          <a:prstGeom prst="rect">
            <a:avLst/>
          </a:prstGeom>
          <a:noFill/>
        </p:spPr>
        <p:txBody>
          <a:bodyPr wrap="square" rtlCol="0">
            <a:spAutoFit/>
          </a:bodyPr>
          <a:lstStyle>
            <a:defPPr>
              <a:defRPr lang="zh-CN"/>
            </a:defPPr>
            <a:lvl1pPr>
              <a:defRPr sz="3200" b="1">
                <a:solidFill>
                  <a:srgbClr val="860000"/>
                </a:solidFill>
                <a:latin typeface="时尚中黑简体" panose="01010104010101010101" pitchFamily="2" charset="-122"/>
                <a:ea typeface="时尚中黑简体" panose="01010104010101010101" pitchFamily="2" charset="-122"/>
              </a:defRPr>
            </a:lvl1pPr>
          </a:lstStyle>
          <a:p>
            <a:r>
              <a:rPr lang="zh-CN" altLang="en-US" sz="3600" dirty="0">
                <a:solidFill>
                  <a:srgbClr val="C00000"/>
                </a:solidFill>
                <a:latin typeface="微软雅黑" panose="020B0503020204020204" pitchFamily="34" charset="-122"/>
                <a:ea typeface="微软雅黑" panose="020B0503020204020204" pitchFamily="34" charset="-122"/>
                <a:sym typeface="+mn-ea"/>
              </a:rPr>
              <a:t>市场重点问题及改善建议</a:t>
            </a:r>
            <a:endParaRPr lang="zh-CN" altLang="en-US" sz="3600" dirty="0">
              <a:solidFill>
                <a:srgbClr val="C00000"/>
              </a:solidFill>
              <a:latin typeface="微软雅黑" panose="020B0503020204020204" pitchFamily="34" charset="-122"/>
              <a:ea typeface="微软雅黑" panose="020B0503020204020204" pitchFamily="34" charset="-122"/>
              <a:sym typeface="+mn-ea"/>
            </a:endParaRPr>
          </a:p>
        </p:txBody>
      </p:sp>
      <p:sp>
        <p:nvSpPr>
          <p:cNvPr id="29" name="矩形 28"/>
          <p:cNvSpPr/>
          <p:nvPr/>
        </p:nvSpPr>
        <p:spPr>
          <a:xfrm>
            <a:off x="1530350" y="373380"/>
            <a:ext cx="436245" cy="720090"/>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矩形 32"/>
          <p:cNvSpPr/>
          <p:nvPr>
            <p:custDataLst>
              <p:tags r:id="rId2"/>
            </p:custDataLst>
          </p:nvPr>
        </p:nvSpPr>
        <p:spPr>
          <a:xfrm>
            <a:off x="2061210" y="373380"/>
            <a:ext cx="191770" cy="720090"/>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p:cNvSpPr/>
          <p:nvPr>
            <p:custDataLst>
              <p:tags r:id="rId3"/>
            </p:custDataLst>
          </p:nvPr>
        </p:nvSpPr>
        <p:spPr>
          <a:xfrm>
            <a:off x="7749540" y="373380"/>
            <a:ext cx="352425" cy="720090"/>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矩形 58"/>
          <p:cNvSpPr/>
          <p:nvPr>
            <p:custDataLst>
              <p:tags r:id="rId4"/>
            </p:custDataLst>
          </p:nvPr>
        </p:nvSpPr>
        <p:spPr>
          <a:xfrm>
            <a:off x="11323955" y="5967095"/>
            <a:ext cx="567690" cy="578485"/>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矩形 69"/>
          <p:cNvSpPr/>
          <p:nvPr>
            <p:custDataLst>
              <p:tags r:id="rId5"/>
            </p:custDataLst>
          </p:nvPr>
        </p:nvSpPr>
        <p:spPr>
          <a:xfrm>
            <a:off x="11001375" y="5967095"/>
            <a:ext cx="223520" cy="578485"/>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2" name="图片 101" descr="微信图片_20210702102959"/>
          <p:cNvPicPr>
            <a:picLocks noChangeAspect="1"/>
          </p:cNvPicPr>
          <p:nvPr>
            <p:custDataLst>
              <p:tags r:id="rId6"/>
            </p:custDataLst>
          </p:nvPr>
        </p:nvPicPr>
        <p:blipFill>
          <a:blip r:embed="rId7"/>
          <a:stretch>
            <a:fillRect/>
          </a:stretch>
        </p:blipFill>
        <p:spPr>
          <a:xfrm>
            <a:off x="11398250" y="6079490"/>
            <a:ext cx="414655" cy="353695"/>
          </a:xfrm>
          <a:prstGeom prst="rect">
            <a:avLst/>
          </a:prstGeom>
        </p:spPr>
      </p:pic>
      <p:sp>
        <p:nvSpPr>
          <p:cNvPr id="22" name="等腰三角形 21"/>
          <p:cNvSpPr/>
          <p:nvPr/>
        </p:nvSpPr>
        <p:spPr>
          <a:xfrm>
            <a:off x="520790" y="1473797"/>
            <a:ext cx="465041" cy="400897"/>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cxnSp>
        <p:nvCxnSpPr>
          <p:cNvPr id="21" name="直接连接符 20"/>
          <p:cNvCxnSpPr/>
          <p:nvPr/>
        </p:nvCxnSpPr>
        <p:spPr>
          <a:xfrm>
            <a:off x="408940" y="2083065"/>
            <a:ext cx="9971405" cy="5715"/>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1196975" y="1473835"/>
            <a:ext cx="6944360" cy="400685"/>
          </a:xfrm>
          <a:prstGeom prst="rect">
            <a:avLst/>
          </a:prstGeom>
          <a:solidFill>
            <a:srgbClr val="FF0000"/>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t>市场档案未及时更新，影响工作</a:t>
            </a:r>
            <a:r>
              <a:rPr lang="zh-CN" altLang="en-US"/>
              <a:t>效率</a:t>
            </a:r>
            <a:endParaRPr lang="zh-CN" altLang="en-US"/>
          </a:p>
        </p:txBody>
      </p:sp>
      <p:sp>
        <p:nvSpPr>
          <p:cNvPr id="7" name="文本框 6"/>
          <p:cNvSpPr txBox="1"/>
          <p:nvPr/>
        </p:nvSpPr>
        <p:spPr>
          <a:xfrm>
            <a:off x="408940" y="2427605"/>
            <a:ext cx="9817100" cy="922020"/>
          </a:xfrm>
          <a:prstGeom prst="rect">
            <a:avLst/>
          </a:prstGeom>
          <a:noFill/>
        </p:spPr>
        <p:txBody>
          <a:bodyPr wrap="square" rtlCol="0">
            <a:spAutoFit/>
          </a:bodyPr>
          <a:p>
            <a:r>
              <a:rPr lang="zh-CN" altLang="en-US" b="1">
                <a:solidFill>
                  <a:srgbClr val="FF0000"/>
                </a:solidFill>
              </a:rPr>
              <a:t>问题点：</a:t>
            </a:r>
            <a:endParaRPr lang="zh-CN" altLang="en-US" b="1">
              <a:solidFill>
                <a:srgbClr val="FF0000"/>
              </a:solidFill>
            </a:endParaRPr>
          </a:p>
          <a:p>
            <a:r>
              <a:rPr lang="zh-CN" altLang="en-US"/>
              <a:t>本次检查所收到</a:t>
            </a:r>
            <a:r>
              <a:rPr lang="zh-CN" altLang="en-US"/>
              <a:t>通许市场的辖区为“开封县、通许县”，但通过市场走访及经销商面谈发现，“开封县”早于2014年更名为“祥符区”，现已无“开封县”该地名，对本次检核任务造成一定影响。</a:t>
            </a:r>
            <a:endParaRPr lang="zh-CN" altLang="en-US"/>
          </a:p>
        </p:txBody>
      </p:sp>
      <p:sp>
        <p:nvSpPr>
          <p:cNvPr id="9" name="文本框 8"/>
          <p:cNvSpPr txBox="1"/>
          <p:nvPr/>
        </p:nvSpPr>
        <p:spPr>
          <a:xfrm>
            <a:off x="408940" y="4613910"/>
            <a:ext cx="9817100" cy="1198880"/>
          </a:xfrm>
          <a:prstGeom prst="rect">
            <a:avLst/>
          </a:prstGeom>
          <a:noFill/>
        </p:spPr>
        <p:txBody>
          <a:bodyPr wrap="square" rtlCol="0">
            <a:spAutoFit/>
          </a:bodyPr>
          <a:p>
            <a:r>
              <a:rPr lang="zh-CN" altLang="en-US" b="1">
                <a:solidFill>
                  <a:srgbClr val="FF0000"/>
                </a:solidFill>
              </a:rPr>
              <a:t>改善建议：</a:t>
            </a:r>
            <a:endParaRPr lang="zh-CN" altLang="en-US" b="1">
              <a:solidFill>
                <a:srgbClr val="FF0000"/>
              </a:solidFill>
            </a:endParaRPr>
          </a:p>
          <a:p>
            <a:r>
              <a:rPr lang="en-US" altLang="zh-CN">
                <a:solidFill>
                  <a:schemeClr val="tx1"/>
                </a:solidFill>
              </a:rPr>
              <a:t>1.</a:t>
            </a:r>
            <a:r>
              <a:rPr lang="zh-CN" altLang="en-US">
                <a:solidFill>
                  <a:schemeClr val="tx1"/>
                </a:solidFill>
              </a:rPr>
              <a:t>市场辖区、仓库位置、联系电话有所变更时，应及时向公司</a:t>
            </a:r>
            <a:r>
              <a:rPr lang="zh-CN" altLang="en-US">
                <a:solidFill>
                  <a:schemeClr val="tx1"/>
                </a:solidFill>
              </a:rPr>
              <a:t>报备；</a:t>
            </a:r>
            <a:endParaRPr lang="zh-CN" altLang="en-US">
              <a:solidFill>
                <a:schemeClr val="tx1"/>
              </a:solidFill>
            </a:endParaRPr>
          </a:p>
          <a:p>
            <a:endParaRPr lang="zh-CN" altLang="en-US">
              <a:solidFill>
                <a:schemeClr val="tx1"/>
              </a:solidFill>
            </a:endParaRPr>
          </a:p>
          <a:p>
            <a:r>
              <a:rPr lang="en-US" altLang="zh-CN">
                <a:solidFill>
                  <a:schemeClr val="tx1"/>
                </a:solidFill>
              </a:rPr>
              <a:t>2.</a:t>
            </a:r>
            <a:r>
              <a:rPr lang="zh-CN" altLang="en-US">
                <a:solidFill>
                  <a:schemeClr val="tx1"/>
                </a:solidFill>
              </a:rPr>
              <a:t>公司相关部门核实各市场真实情况并作修正；</a:t>
            </a:r>
            <a:endParaRPr lang="zh-CN" altLang="en-US">
              <a:solidFill>
                <a:schemeClr val="tx1"/>
              </a:solidFill>
            </a:endParaRPr>
          </a:p>
        </p:txBody>
      </p:sp>
    </p:spTree>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224987" y="263525"/>
            <a:ext cx="1056074" cy="900000"/>
          </a:xfrm>
          <a:prstGeom prst="rect">
            <a:avLst/>
          </a:prstGeom>
        </p:spPr>
      </p:pic>
      <p:sp>
        <p:nvSpPr>
          <p:cNvPr id="74" name="文本框 73"/>
          <p:cNvSpPr txBox="1"/>
          <p:nvPr/>
        </p:nvSpPr>
        <p:spPr>
          <a:xfrm>
            <a:off x="2392680" y="448310"/>
            <a:ext cx="5748020" cy="645160"/>
          </a:xfrm>
          <a:prstGeom prst="rect">
            <a:avLst/>
          </a:prstGeom>
          <a:noFill/>
        </p:spPr>
        <p:txBody>
          <a:bodyPr wrap="square" rtlCol="0">
            <a:spAutoFit/>
          </a:bodyPr>
          <a:lstStyle>
            <a:defPPr>
              <a:defRPr lang="zh-CN"/>
            </a:defPPr>
            <a:lvl1pPr>
              <a:defRPr sz="3200" b="1">
                <a:solidFill>
                  <a:srgbClr val="860000"/>
                </a:solidFill>
                <a:latin typeface="时尚中黑简体" panose="01010104010101010101" pitchFamily="2" charset="-122"/>
                <a:ea typeface="时尚中黑简体" panose="01010104010101010101" pitchFamily="2" charset="-122"/>
              </a:defRPr>
            </a:lvl1pPr>
          </a:lstStyle>
          <a:p>
            <a:r>
              <a:rPr lang="zh-CN" altLang="en-US" sz="3600" dirty="0">
                <a:solidFill>
                  <a:srgbClr val="C00000"/>
                </a:solidFill>
                <a:latin typeface="微软雅黑" panose="020B0503020204020204" pitchFamily="34" charset="-122"/>
                <a:ea typeface="微软雅黑" panose="020B0503020204020204" pitchFamily="34" charset="-122"/>
                <a:sym typeface="+mn-ea"/>
              </a:rPr>
              <a:t>市场重点问题及改善建议</a:t>
            </a:r>
            <a:endParaRPr lang="zh-CN" altLang="en-US" sz="3600" dirty="0">
              <a:solidFill>
                <a:srgbClr val="C00000"/>
              </a:solidFill>
              <a:latin typeface="微软雅黑" panose="020B0503020204020204" pitchFamily="34" charset="-122"/>
              <a:ea typeface="微软雅黑" panose="020B0503020204020204" pitchFamily="34" charset="-122"/>
              <a:sym typeface="+mn-ea"/>
            </a:endParaRPr>
          </a:p>
        </p:txBody>
      </p:sp>
      <p:sp>
        <p:nvSpPr>
          <p:cNvPr id="29" name="矩形 28"/>
          <p:cNvSpPr/>
          <p:nvPr/>
        </p:nvSpPr>
        <p:spPr>
          <a:xfrm>
            <a:off x="1530350" y="373380"/>
            <a:ext cx="436245" cy="720090"/>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矩形 32"/>
          <p:cNvSpPr/>
          <p:nvPr>
            <p:custDataLst>
              <p:tags r:id="rId2"/>
            </p:custDataLst>
          </p:nvPr>
        </p:nvSpPr>
        <p:spPr>
          <a:xfrm>
            <a:off x="2061210" y="373380"/>
            <a:ext cx="191770" cy="720090"/>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p:cNvSpPr/>
          <p:nvPr>
            <p:custDataLst>
              <p:tags r:id="rId3"/>
            </p:custDataLst>
          </p:nvPr>
        </p:nvSpPr>
        <p:spPr>
          <a:xfrm>
            <a:off x="7749540" y="373380"/>
            <a:ext cx="352425" cy="720090"/>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矩形 58"/>
          <p:cNvSpPr/>
          <p:nvPr>
            <p:custDataLst>
              <p:tags r:id="rId4"/>
            </p:custDataLst>
          </p:nvPr>
        </p:nvSpPr>
        <p:spPr>
          <a:xfrm>
            <a:off x="11323955" y="5967095"/>
            <a:ext cx="567690" cy="578485"/>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矩形 69"/>
          <p:cNvSpPr/>
          <p:nvPr>
            <p:custDataLst>
              <p:tags r:id="rId5"/>
            </p:custDataLst>
          </p:nvPr>
        </p:nvSpPr>
        <p:spPr>
          <a:xfrm>
            <a:off x="11001375" y="5967095"/>
            <a:ext cx="223520" cy="578485"/>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2" name="图片 101" descr="微信图片_20210702102959"/>
          <p:cNvPicPr>
            <a:picLocks noChangeAspect="1"/>
          </p:cNvPicPr>
          <p:nvPr>
            <p:custDataLst>
              <p:tags r:id="rId6"/>
            </p:custDataLst>
          </p:nvPr>
        </p:nvPicPr>
        <p:blipFill>
          <a:blip r:embed="rId7"/>
          <a:stretch>
            <a:fillRect/>
          </a:stretch>
        </p:blipFill>
        <p:spPr>
          <a:xfrm>
            <a:off x="11398250" y="6079490"/>
            <a:ext cx="414655" cy="353695"/>
          </a:xfrm>
          <a:prstGeom prst="rect">
            <a:avLst/>
          </a:prstGeom>
        </p:spPr>
      </p:pic>
      <p:sp>
        <p:nvSpPr>
          <p:cNvPr id="22" name="等腰三角形 21"/>
          <p:cNvSpPr/>
          <p:nvPr/>
        </p:nvSpPr>
        <p:spPr>
          <a:xfrm>
            <a:off x="520790" y="1473797"/>
            <a:ext cx="465041" cy="400897"/>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cxnSp>
        <p:nvCxnSpPr>
          <p:cNvPr id="21" name="直接连接符 20"/>
          <p:cNvCxnSpPr/>
          <p:nvPr/>
        </p:nvCxnSpPr>
        <p:spPr>
          <a:xfrm>
            <a:off x="408940" y="2083065"/>
            <a:ext cx="9971405" cy="5715"/>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1196975" y="1473835"/>
            <a:ext cx="6944360" cy="400685"/>
          </a:xfrm>
          <a:prstGeom prst="rect">
            <a:avLst/>
          </a:prstGeom>
          <a:solidFill>
            <a:srgbClr val="FF0000"/>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t>销量目标</a:t>
            </a:r>
            <a:r>
              <a:rPr lang="zh-CN" altLang="en-US"/>
              <a:t>偏高，市场信心</a:t>
            </a:r>
            <a:r>
              <a:rPr lang="zh-CN" altLang="en-US"/>
              <a:t>低迷</a:t>
            </a:r>
            <a:endParaRPr lang="zh-CN" altLang="en-US"/>
          </a:p>
        </p:txBody>
      </p:sp>
      <p:sp>
        <p:nvSpPr>
          <p:cNvPr id="7" name="文本框 6"/>
          <p:cNvSpPr txBox="1"/>
          <p:nvPr/>
        </p:nvSpPr>
        <p:spPr>
          <a:xfrm>
            <a:off x="408940" y="2427605"/>
            <a:ext cx="9817100" cy="1198880"/>
          </a:xfrm>
          <a:prstGeom prst="rect">
            <a:avLst/>
          </a:prstGeom>
          <a:noFill/>
        </p:spPr>
        <p:txBody>
          <a:bodyPr wrap="square" rtlCol="0">
            <a:spAutoFit/>
          </a:bodyPr>
          <a:p>
            <a:r>
              <a:rPr lang="zh-CN" altLang="en-US" b="1">
                <a:solidFill>
                  <a:srgbClr val="FF0000"/>
                </a:solidFill>
              </a:rPr>
              <a:t>问题点：</a:t>
            </a:r>
            <a:endParaRPr lang="zh-CN" altLang="en-US" b="1">
              <a:solidFill>
                <a:srgbClr val="FF0000"/>
              </a:solidFill>
            </a:endParaRPr>
          </a:p>
          <a:p>
            <a:r>
              <a:rPr lang="zh-CN" altLang="en-US"/>
              <a:t>本次所检河南市场</a:t>
            </a:r>
            <a:r>
              <a:rPr lang="en-US" altLang="zh-CN"/>
              <a:t>6</a:t>
            </a:r>
            <a:r>
              <a:rPr lang="zh-CN" altLang="en-US"/>
              <a:t>月、</a:t>
            </a:r>
            <a:r>
              <a:rPr lang="en-US" altLang="zh-CN"/>
              <a:t>7</a:t>
            </a:r>
            <a:r>
              <a:rPr lang="zh-CN" altLang="en-US"/>
              <a:t>月销量目标均未达成，</a:t>
            </a:r>
            <a:r>
              <a:rPr lang="zh-CN" altLang="en-US"/>
              <a:t>据了解，未达成主要有以下两点原因：其一，市场销量同比去年无明显增长，但公司所定目标偏高。其二，市场本财年年度销量目标及月度销量目标均为去年年度经销商会议所制定，因未来事件无法预测，如遇突发问题无法保证销量达成率。</a:t>
            </a:r>
            <a:endParaRPr lang="zh-CN" altLang="en-US"/>
          </a:p>
        </p:txBody>
      </p:sp>
      <p:sp>
        <p:nvSpPr>
          <p:cNvPr id="9" name="文本框 8"/>
          <p:cNvSpPr txBox="1"/>
          <p:nvPr/>
        </p:nvSpPr>
        <p:spPr>
          <a:xfrm>
            <a:off x="408940" y="4237990"/>
            <a:ext cx="9817735" cy="2030095"/>
          </a:xfrm>
          <a:prstGeom prst="rect">
            <a:avLst/>
          </a:prstGeom>
          <a:noFill/>
        </p:spPr>
        <p:txBody>
          <a:bodyPr wrap="square" rtlCol="0">
            <a:spAutoFit/>
          </a:bodyPr>
          <a:p>
            <a:r>
              <a:rPr lang="zh-CN" altLang="en-US" b="1">
                <a:solidFill>
                  <a:srgbClr val="FF0000"/>
                </a:solidFill>
              </a:rPr>
              <a:t>改善建议：</a:t>
            </a:r>
            <a:endParaRPr lang="zh-CN" altLang="en-US" b="1">
              <a:solidFill>
                <a:srgbClr val="FF0000"/>
              </a:solidFill>
            </a:endParaRPr>
          </a:p>
          <a:p>
            <a:r>
              <a:rPr lang="en-US" altLang="zh-CN">
                <a:solidFill>
                  <a:schemeClr val="tx1"/>
                </a:solidFill>
              </a:rPr>
              <a:t>1.</a:t>
            </a:r>
            <a:r>
              <a:rPr lang="zh-CN" altLang="en-US">
                <a:solidFill>
                  <a:schemeClr val="tx1"/>
                </a:solidFill>
              </a:rPr>
              <a:t>市场管理者应根据市场不同情况制定销量增长方案，例培育新消费者、积极开发网点、吸引</a:t>
            </a:r>
            <a:r>
              <a:rPr lang="zh-CN" altLang="en-US">
                <a:solidFill>
                  <a:schemeClr val="tx1"/>
                </a:solidFill>
              </a:rPr>
              <a:t>消费者转型和成口味</a:t>
            </a:r>
            <a:r>
              <a:rPr lang="zh-CN" altLang="en-US">
                <a:solidFill>
                  <a:schemeClr val="tx1"/>
                </a:solidFill>
              </a:rPr>
              <a:t>等；</a:t>
            </a:r>
            <a:endParaRPr lang="zh-CN" altLang="en-US">
              <a:solidFill>
                <a:schemeClr val="tx1"/>
              </a:solidFill>
            </a:endParaRPr>
          </a:p>
          <a:p>
            <a:endParaRPr lang="zh-CN" altLang="en-US">
              <a:solidFill>
                <a:schemeClr val="tx1"/>
              </a:solidFill>
            </a:endParaRPr>
          </a:p>
          <a:p>
            <a:r>
              <a:rPr lang="en-US" altLang="zh-CN">
                <a:solidFill>
                  <a:schemeClr val="tx1"/>
                </a:solidFill>
              </a:rPr>
              <a:t>2.</a:t>
            </a:r>
            <a:r>
              <a:rPr lang="zh-CN" altLang="en-US">
                <a:solidFill>
                  <a:schemeClr val="tx1"/>
                </a:solidFill>
              </a:rPr>
              <a:t>根据市场类别、竞争强度、销量增长比例等方面合理制定各市场销量</a:t>
            </a:r>
            <a:r>
              <a:rPr lang="zh-CN" altLang="en-US">
                <a:solidFill>
                  <a:schemeClr val="tx1"/>
                </a:solidFill>
              </a:rPr>
              <a:t>目标；</a:t>
            </a:r>
            <a:endParaRPr lang="zh-CN" altLang="en-US">
              <a:solidFill>
                <a:schemeClr val="tx1"/>
              </a:solidFill>
            </a:endParaRPr>
          </a:p>
          <a:p>
            <a:endParaRPr lang="zh-CN" altLang="en-US">
              <a:solidFill>
                <a:schemeClr val="tx1"/>
              </a:solidFill>
            </a:endParaRPr>
          </a:p>
          <a:p>
            <a:r>
              <a:rPr lang="en-US" altLang="zh-CN">
                <a:solidFill>
                  <a:schemeClr val="tx1"/>
                </a:solidFill>
              </a:rPr>
              <a:t>3.</a:t>
            </a:r>
            <a:r>
              <a:rPr lang="zh-CN" altLang="en-US">
                <a:solidFill>
                  <a:schemeClr val="tx1"/>
                </a:solidFill>
              </a:rPr>
              <a:t>制定来年销量目标后，可根据市场突发情况调整当月销量目标，设立</a:t>
            </a:r>
            <a:r>
              <a:rPr lang="zh-CN" altLang="en-US">
                <a:solidFill>
                  <a:schemeClr val="tx1"/>
                </a:solidFill>
              </a:rPr>
              <a:t>调节机制；</a:t>
            </a:r>
            <a:endParaRPr lang="zh-CN" altLang="en-US">
              <a:solidFill>
                <a:schemeClr val="tx1"/>
              </a:solidFill>
            </a:endParaRPr>
          </a:p>
        </p:txBody>
      </p:sp>
    </p:spTree>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8" name="文本框 8"/>
          <p:cNvSpPr txBox="1"/>
          <p:nvPr/>
        </p:nvSpPr>
        <p:spPr>
          <a:xfrm>
            <a:off x="1467318" y="2967335"/>
            <a:ext cx="8947217" cy="1753235"/>
          </a:xfrm>
          <a:prstGeom prst="rect">
            <a:avLst/>
          </a:prstGeom>
          <a:noFill/>
        </p:spPr>
        <p:txBody>
          <a:bodyPr wrap="square" rtlCol="0">
            <a:spAutoFit/>
          </a:bodyPr>
          <a:lstStyle/>
          <a:p>
            <a:pPr algn="ctr"/>
            <a:r>
              <a:rPr lang="en-US" altLang="zh-CN" sz="5400" b="1" dirty="0">
                <a:latin typeface="微软雅黑" panose="020B0503020204020204" pitchFamily="34" charset="-122"/>
                <a:ea typeface="微软雅黑" panose="020B0503020204020204" pitchFamily="34" charset="-122"/>
                <a:sym typeface="+mn-ea"/>
              </a:rPr>
              <a:t>4.</a:t>
            </a:r>
            <a:r>
              <a:rPr lang="zh-CN" altLang="en-US" sz="5400" b="1" dirty="0">
                <a:latin typeface="微软雅黑" panose="020B0503020204020204" pitchFamily="34" charset="-122"/>
                <a:ea typeface="微软雅黑" panose="020B0503020204020204" pitchFamily="34" charset="-122"/>
                <a:sym typeface="+mn-ea"/>
              </a:rPr>
              <a:t>战区共识意见（初稿）</a:t>
            </a:r>
            <a:endParaRPr lang="zh-CN" altLang="en-US" sz="5400" b="1" dirty="0">
              <a:latin typeface="微软雅黑" panose="020B0503020204020204" pitchFamily="34" charset="-122"/>
              <a:ea typeface="微软雅黑" panose="020B0503020204020204" pitchFamily="34" charset="-122"/>
              <a:sym typeface="+mn-ea"/>
            </a:endParaRPr>
          </a:p>
          <a:p>
            <a:pPr algn="ctr"/>
            <a:endParaRPr lang="zh-CN" altLang="en-US" sz="5400" b="1" dirty="0">
              <a:latin typeface="微软雅黑" panose="020B0503020204020204" pitchFamily="34" charset="-122"/>
              <a:ea typeface="微软雅黑" panose="020B0503020204020204" pitchFamily="34" charset="-122"/>
            </a:endParaRPr>
          </a:p>
        </p:txBody>
      </p:sp>
      <p:grpSp>
        <p:nvGrpSpPr>
          <p:cNvPr id="57" name="组合 13"/>
          <p:cNvGrpSpPr/>
          <p:nvPr/>
        </p:nvGrpSpPr>
        <p:grpSpPr>
          <a:xfrm rot="5400000">
            <a:off x="4743853" y="253539"/>
            <a:ext cx="2572212" cy="6350923"/>
            <a:chOff x="3617229" y="570765"/>
            <a:chExt cx="1571244" cy="3879481"/>
          </a:xfrm>
        </p:grpSpPr>
        <p:pic>
          <p:nvPicPr>
            <p:cNvPr id="2097153" name="Picture 2" descr="C:\Users\Administrator\Desktop\1.png"/>
            <p:cNvPicPr>
              <a:picLocks noChangeAspect="1" noChangeArrowheads="1"/>
            </p:cNvPicPr>
            <p:nvPr/>
          </p:nvPicPr>
          <p:blipFill>
            <a:blip r:embed="rId1" cstate="print"/>
            <a:srcRect/>
            <a:stretch>
              <a:fillRect/>
            </a:stretch>
          </p:blipFill>
          <p:spPr bwMode="auto">
            <a:xfrm rot="16200000">
              <a:off x="4220259" y="3482034"/>
              <a:ext cx="1554647" cy="381778"/>
            </a:xfrm>
            <a:prstGeom prst="rect">
              <a:avLst/>
            </a:prstGeom>
            <a:noFill/>
          </p:spPr>
        </p:pic>
        <p:pic>
          <p:nvPicPr>
            <p:cNvPr id="2097154" name="Picture 2" descr="C:\Users\Administrator\Desktop\1.png"/>
            <p:cNvPicPr>
              <a:picLocks noChangeAspect="1" noChangeArrowheads="1"/>
            </p:cNvPicPr>
            <p:nvPr/>
          </p:nvPicPr>
          <p:blipFill>
            <a:blip r:embed="rId1" cstate="print"/>
            <a:srcRect/>
            <a:stretch>
              <a:fillRect/>
            </a:stretch>
          </p:blipFill>
          <p:spPr bwMode="auto">
            <a:xfrm rot="16200000">
              <a:off x="4220260" y="1164820"/>
              <a:ext cx="1554647" cy="381778"/>
            </a:xfrm>
            <a:prstGeom prst="rect">
              <a:avLst/>
            </a:prstGeom>
            <a:noFill/>
          </p:spPr>
        </p:pic>
        <p:pic>
          <p:nvPicPr>
            <p:cNvPr id="2097155" name="Picture 2" descr="C:\Users\Administrator\Desktop\1.png"/>
            <p:cNvPicPr>
              <a:picLocks noChangeAspect="1" noChangeArrowheads="1"/>
            </p:cNvPicPr>
            <p:nvPr/>
          </p:nvPicPr>
          <p:blipFill>
            <a:blip r:embed="rId1" cstate="print"/>
            <a:srcRect/>
            <a:stretch>
              <a:fillRect/>
            </a:stretch>
          </p:blipFill>
          <p:spPr bwMode="auto">
            <a:xfrm rot="5400000" flipH="1">
              <a:off x="3030794" y="3474414"/>
              <a:ext cx="1554647" cy="381778"/>
            </a:xfrm>
            <a:prstGeom prst="rect">
              <a:avLst/>
            </a:prstGeom>
            <a:noFill/>
          </p:spPr>
        </p:pic>
        <p:pic>
          <p:nvPicPr>
            <p:cNvPr id="2097156" name="Picture 2" descr="C:\Users\Administrator\Desktop\1.png"/>
            <p:cNvPicPr>
              <a:picLocks noChangeAspect="1" noChangeArrowheads="1"/>
            </p:cNvPicPr>
            <p:nvPr/>
          </p:nvPicPr>
          <p:blipFill>
            <a:blip r:embed="rId1" cstate="print"/>
            <a:srcRect/>
            <a:stretch>
              <a:fillRect/>
            </a:stretch>
          </p:blipFill>
          <p:spPr bwMode="auto">
            <a:xfrm rot="5400000" flipH="1">
              <a:off x="3030795" y="1157200"/>
              <a:ext cx="1554647" cy="381778"/>
            </a:xfrm>
            <a:prstGeom prst="rect">
              <a:avLst/>
            </a:prstGeom>
            <a:noFill/>
          </p:spPr>
        </p:pic>
      </p:grpSp>
      <p:pic>
        <p:nvPicPr>
          <p:cNvPr id="8" name="图片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5737" y="125730"/>
            <a:ext cx="1056074" cy="900000"/>
          </a:xfrm>
          <a:prstGeom prst="rect">
            <a:avLst/>
          </a:prstGeom>
        </p:spPr>
      </p:pic>
    </p:spTree>
  </p:cSld>
  <p:clrMapOvr>
    <a:masterClrMapping/>
  </p:clrMapOvr>
  <p:transition spd="slow"/>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224987" y="263525"/>
            <a:ext cx="1056074" cy="900000"/>
          </a:xfrm>
          <a:prstGeom prst="rect">
            <a:avLst/>
          </a:prstGeom>
        </p:spPr>
      </p:pic>
      <p:sp>
        <p:nvSpPr>
          <p:cNvPr id="74" name="文本框 73"/>
          <p:cNvSpPr txBox="1"/>
          <p:nvPr/>
        </p:nvSpPr>
        <p:spPr>
          <a:xfrm>
            <a:off x="2392680" y="448310"/>
            <a:ext cx="4553585" cy="645160"/>
          </a:xfrm>
          <a:prstGeom prst="rect">
            <a:avLst/>
          </a:prstGeom>
          <a:noFill/>
        </p:spPr>
        <p:txBody>
          <a:bodyPr wrap="square" rtlCol="0">
            <a:spAutoFit/>
          </a:bodyPr>
          <a:lstStyle>
            <a:defPPr>
              <a:defRPr lang="zh-CN"/>
            </a:defPPr>
            <a:lvl1pPr>
              <a:defRPr sz="3200" b="1">
                <a:solidFill>
                  <a:srgbClr val="860000"/>
                </a:solidFill>
                <a:latin typeface="时尚中黑简体" panose="01010104010101010101" pitchFamily="2" charset="-122"/>
                <a:ea typeface="时尚中黑简体" panose="01010104010101010101" pitchFamily="2" charset="-122"/>
              </a:defRPr>
            </a:lvl1pPr>
          </a:lstStyle>
          <a:p>
            <a:r>
              <a:rPr lang="zh-CN" altLang="en-US" sz="3600" dirty="0">
                <a:solidFill>
                  <a:srgbClr val="C00000"/>
                </a:solidFill>
                <a:latin typeface="微软雅黑" panose="020B0503020204020204" pitchFamily="34" charset="-122"/>
                <a:ea typeface="微软雅黑" panose="020B0503020204020204" pitchFamily="34" charset="-122"/>
                <a:sym typeface="+mn-ea"/>
              </a:rPr>
              <a:t>战区共识意见（初稿）</a:t>
            </a:r>
            <a:endParaRPr lang="zh-CN" altLang="en-US" sz="3600" dirty="0">
              <a:solidFill>
                <a:srgbClr val="C00000"/>
              </a:solidFill>
              <a:latin typeface="微软雅黑" panose="020B0503020204020204" pitchFamily="34" charset="-122"/>
              <a:ea typeface="微软雅黑" panose="020B0503020204020204" pitchFamily="34" charset="-122"/>
              <a:sym typeface="+mn-ea"/>
            </a:endParaRPr>
          </a:p>
        </p:txBody>
      </p:sp>
      <p:sp>
        <p:nvSpPr>
          <p:cNvPr id="29" name="矩形 28"/>
          <p:cNvSpPr/>
          <p:nvPr/>
        </p:nvSpPr>
        <p:spPr>
          <a:xfrm>
            <a:off x="1530350" y="373380"/>
            <a:ext cx="436245" cy="720090"/>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矩形 32"/>
          <p:cNvSpPr/>
          <p:nvPr>
            <p:custDataLst>
              <p:tags r:id="rId2"/>
            </p:custDataLst>
          </p:nvPr>
        </p:nvSpPr>
        <p:spPr>
          <a:xfrm>
            <a:off x="2061210" y="373380"/>
            <a:ext cx="191770" cy="720090"/>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p:cNvSpPr/>
          <p:nvPr>
            <p:custDataLst>
              <p:tags r:id="rId3"/>
            </p:custDataLst>
          </p:nvPr>
        </p:nvSpPr>
        <p:spPr>
          <a:xfrm>
            <a:off x="6927215" y="373380"/>
            <a:ext cx="352425" cy="720090"/>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矩形 58"/>
          <p:cNvSpPr/>
          <p:nvPr>
            <p:custDataLst>
              <p:tags r:id="rId4"/>
            </p:custDataLst>
          </p:nvPr>
        </p:nvSpPr>
        <p:spPr>
          <a:xfrm>
            <a:off x="11323955" y="5967095"/>
            <a:ext cx="567690" cy="578485"/>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矩形 69"/>
          <p:cNvSpPr/>
          <p:nvPr>
            <p:custDataLst>
              <p:tags r:id="rId5"/>
            </p:custDataLst>
          </p:nvPr>
        </p:nvSpPr>
        <p:spPr>
          <a:xfrm>
            <a:off x="11001375" y="5967095"/>
            <a:ext cx="223520" cy="578485"/>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2" name="图片 101" descr="微信图片_20210702102959"/>
          <p:cNvPicPr>
            <a:picLocks noChangeAspect="1"/>
          </p:cNvPicPr>
          <p:nvPr>
            <p:custDataLst>
              <p:tags r:id="rId6"/>
            </p:custDataLst>
          </p:nvPr>
        </p:nvPicPr>
        <p:blipFill>
          <a:blip r:embed="rId7"/>
          <a:stretch>
            <a:fillRect/>
          </a:stretch>
        </p:blipFill>
        <p:spPr>
          <a:xfrm>
            <a:off x="11398250" y="6079490"/>
            <a:ext cx="414655" cy="353695"/>
          </a:xfrm>
          <a:prstGeom prst="rect">
            <a:avLst/>
          </a:prstGeom>
        </p:spPr>
      </p:pic>
      <p:sp>
        <p:nvSpPr>
          <p:cNvPr id="2" name="文本框 1"/>
          <p:cNvSpPr txBox="1"/>
          <p:nvPr/>
        </p:nvSpPr>
        <p:spPr>
          <a:xfrm>
            <a:off x="1384935" y="1379855"/>
            <a:ext cx="8238490" cy="5077460"/>
          </a:xfrm>
          <a:prstGeom prst="rect">
            <a:avLst/>
          </a:prstGeom>
          <a:noFill/>
        </p:spPr>
        <p:txBody>
          <a:bodyPr wrap="square" rtlCol="0">
            <a:spAutoFit/>
          </a:bodyPr>
          <a:p>
            <a:r>
              <a:rPr lang="zh-CN" altLang="en-US" b="1">
                <a:solidFill>
                  <a:srgbClr val="FF0000"/>
                </a:solidFill>
                <a:ea typeface="+mn-lt"/>
                <a:cs typeface="+mn-lt"/>
              </a:rPr>
              <a:t>一、战术层：</a:t>
            </a:r>
            <a:endParaRPr lang="zh-CN" altLang="en-US" b="1">
              <a:solidFill>
                <a:srgbClr val="FF0000"/>
              </a:solidFill>
              <a:ea typeface="+mn-lt"/>
              <a:cs typeface="+mn-lt"/>
            </a:endParaRPr>
          </a:p>
          <a:p>
            <a:r>
              <a:rPr lang="zh-CN" altLang="en-US" b="1">
                <a:solidFill>
                  <a:srgbClr val="FF0000"/>
                </a:solidFill>
                <a:ea typeface="+mn-lt"/>
                <a:cs typeface="+mn-lt"/>
              </a:rPr>
              <a:t>问题清单：</a:t>
            </a:r>
            <a:r>
              <a:rPr lang="zh-CN" altLang="en-US">
                <a:ea typeface="+mn-lt"/>
                <a:cs typeface="+mn-lt"/>
              </a:rPr>
              <a:t>产品结构单一，</a:t>
            </a:r>
            <a:r>
              <a:rPr lang="zh-CN" altLang="en-US" dirty="0">
                <a:ea typeface="+mn-lt"/>
                <a:cs typeface="+mn-lt"/>
                <a:sym typeface="+mn-ea"/>
              </a:rPr>
              <a:t>口味王系列销量下滑，和成系列高端不强势，</a:t>
            </a:r>
            <a:r>
              <a:rPr lang="en-US" altLang="zh-CN" dirty="0">
                <a:ea typeface="+mn-lt"/>
                <a:cs typeface="+mn-lt"/>
                <a:sym typeface="+mn-ea"/>
              </a:rPr>
              <a:t>100</a:t>
            </a:r>
            <a:r>
              <a:rPr lang="zh-CN" altLang="en-US" dirty="0">
                <a:ea typeface="+mn-lt"/>
                <a:cs typeface="+mn-lt"/>
                <a:sym typeface="+mn-ea"/>
              </a:rPr>
              <a:t>元铺市率，饱满度有待提升 </a:t>
            </a:r>
            <a:r>
              <a:rPr lang="en-US" altLang="zh-CN" dirty="0">
                <a:ea typeface="+mn-lt"/>
                <a:cs typeface="+mn-lt"/>
                <a:sym typeface="+mn-ea"/>
              </a:rPr>
              <a:t>                   </a:t>
            </a:r>
            <a:endParaRPr lang="en-US" altLang="zh-CN" dirty="0">
              <a:ea typeface="+mn-lt"/>
              <a:cs typeface="+mn-lt"/>
              <a:sym typeface="+mn-ea"/>
            </a:endParaRPr>
          </a:p>
          <a:p>
            <a:r>
              <a:rPr lang="en-US" altLang="zh-CN" dirty="0">
                <a:ea typeface="+mn-lt"/>
                <a:cs typeface="+mn-lt"/>
                <a:sym typeface="+mn-ea"/>
              </a:rPr>
              <a:t> </a:t>
            </a:r>
            <a:r>
              <a:rPr lang="zh-CN" altLang="en-US" b="1" dirty="0">
                <a:solidFill>
                  <a:srgbClr val="FF0000"/>
                </a:solidFill>
                <a:ea typeface="+mn-lt"/>
                <a:cs typeface="+mn-lt"/>
                <a:sym typeface="+mn-ea"/>
              </a:rPr>
              <a:t>整改建议：</a:t>
            </a:r>
            <a:r>
              <a:rPr lang="zh-CN" altLang="en-US" dirty="0">
                <a:ea typeface="+mn-lt"/>
                <a:cs typeface="+mn-lt"/>
                <a:sym typeface="+mn-ea"/>
              </a:rPr>
              <a:t>利用青和调整，推动和成天下高端推广；稳住口味王</a:t>
            </a:r>
            <a:r>
              <a:rPr lang="en-US" altLang="zh-CN" dirty="0">
                <a:ea typeface="+mn-lt"/>
                <a:cs typeface="+mn-lt"/>
                <a:sym typeface="+mn-ea"/>
              </a:rPr>
              <a:t>30</a:t>
            </a:r>
            <a:r>
              <a:rPr lang="zh-CN" altLang="en-US" dirty="0">
                <a:ea typeface="+mn-lt"/>
                <a:cs typeface="+mn-lt"/>
                <a:sym typeface="+mn-ea"/>
              </a:rPr>
              <a:t>元产品，加强</a:t>
            </a:r>
            <a:r>
              <a:rPr lang="en-US" altLang="zh-CN" dirty="0">
                <a:ea typeface="+mn-lt"/>
                <a:cs typeface="+mn-lt"/>
                <a:sym typeface="+mn-ea"/>
              </a:rPr>
              <a:t>50</a:t>
            </a:r>
            <a:r>
              <a:rPr lang="zh-CN" altLang="en-US" dirty="0">
                <a:ea typeface="+mn-lt"/>
                <a:cs typeface="+mn-lt"/>
                <a:sym typeface="+mn-ea"/>
              </a:rPr>
              <a:t>元飞黄腾达的推广，利用好</a:t>
            </a:r>
            <a:r>
              <a:rPr lang="en-US" altLang="zh-CN" dirty="0">
                <a:ea typeface="+mn-lt"/>
                <a:cs typeface="+mn-lt"/>
                <a:sym typeface="+mn-ea"/>
              </a:rPr>
              <a:t>10</a:t>
            </a:r>
            <a:r>
              <a:rPr lang="zh-CN" altLang="en-US" dirty="0">
                <a:ea typeface="+mn-lt"/>
                <a:cs typeface="+mn-lt"/>
                <a:sym typeface="+mn-ea"/>
              </a:rPr>
              <a:t>元产品狙击低价位槟榔，压缩低价位槟榔生存空间</a:t>
            </a:r>
            <a:r>
              <a:rPr lang="en-US" altLang="zh-CN" dirty="0">
                <a:ea typeface="+mn-lt"/>
                <a:cs typeface="+mn-lt"/>
                <a:sym typeface="+mn-ea"/>
              </a:rPr>
              <a:t>;         </a:t>
            </a:r>
            <a:endParaRPr lang="en-US" altLang="zh-CN" dirty="0">
              <a:ea typeface="+mn-lt"/>
              <a:cs typeface="+mn-lt"/>
              <a:sym typeface="+mn-ea"/>
            </a:endParaRPr>
          </a:p>
          <a:p>
            <a:r>
              <a:rPr lang="en-US" altLang="zh-CN" dirty="0">
                <a:ea typeface="+mn-lt"/>
                <a:cs typeface="+mn-lt"/>
                <a:sym typeface="+mn-ea"/>
              </a:rPr>
              <a:t>      </a:t>
            </a:r>
            <a:endParaRPr lang="zh-CN" altLang="en-US">
              <a:ea typeface="+mn-lt"/>
              <a:cs typeface="+mn-lt"/>
            </a:endParaRPr>
          </a:p>
          <a:p>
            <a:r>
              <a:rPr lang="zh-CN" altLang="en-US" b="1">
                <a:solidFill>
                  <a:srgbClr val="FF0000"/>
                </a:solidFill>
                <a:ea typeface="+mn-lt"/>
                <a:cs typeface="+mn-lt"/>
              </a:rPr>
              <a:t>二、战略层：</a:t>
            </a:r>
            <a:endParaRPr lang="zh-CN" altLang="en-US" b="1">
              <a:solidFill>
                <a:srgbClr val="FF0000"/>
              </a:solidFill>
              <a:ea typeface="+mn-lt"/>
              <a:cs typeface="+mn-lt"/>
            </a:endParaRPr>
          </a:p>
          <a:p>
            <a:r>
              <a:rPr lang="zh-CN" altLang="en-US" b="1">
                <a:solidFill>
                  <a:srgbClr val="FF0000"/>
                </a:solidFill>
                <a:ea typeface="+mn-lt"/>
                <a:cs typeface="+mn-lt"/>
              </a:rPr>
              <a:t>方向共识</a:t>
            </a:r>
            <a:r>
              <a:rPr lang="zh-CN" altLang="en-US">
                <a:ea typeface="+mn-lt"/>
                <a:cs typeface="+mn-lt"/>
              </a:rPr>
              <a:t>：稳</a:t>
            </a:r>
            <a:r>
              <a:rPr lang="zh-CN" altLang="en-US">
                <a:ea typeface="+mn-lt"/>
                <a:cs typeface="+mn-lt"/>
              </a:rPr>
              <a:t>口味王，推和成，加快产品结构调整，提升和成及高端</a:t>
            </a:r>
            <a:r>
              <a:rPr lang="zh-CN" altLang="en-US">
                <a:ea typeface="+mn-lt"/>
                <a:cs typeface="+mn-lt"/>
              </a:rPr>
              <a:t>占比。</a:t>
            </a:r>
            <a:endParaRPr lang="zh-CN" altLang="en-US">
              <a:ea typeface="+mn-lt"/>
              <a:cs typeface="+mn-lt"/>
            </a:endParaRPr>
          </a:p>
          <a:p>
            <a:r>
              <a:rPr lang="zh-CN" altLang="en-US" b="1">
                <a:solidFill>
                  <a:srgbClr val="FF0000"/>
                </a:solidFill>
                <a:ea typeface="+mn-lt"/>
                <a:cs typeface="+mn-lt"/>
              </a:rPr>
              <a:t>市场定位共识：</a:t>
            </a:r>
            <a:r>
              <a:rPr lang="zh-CN" altLang="en-US">
                <a:ea typeface="+mn-lt"/>
                <a:cs typeface="+mn-lt"/>
              </a:rPr>
              <a:t>消费者培育</a:t>
            </a:r>
            <a:r>
              <a:rPr lang="en-US" altLang="zh-CN">
                <a:ea typeface="+mn-lt"/>
                <a:cs typeface="+mn-lt"/>
              </a:rPr>
              <a:t>+</a:t>
            </a:r>
            <a:r>
              <a:rPr lang="zh-CN" altLang="en-US">
                <a:ea typeface="+mn-lt"/>
                <a:cs typeface="+mn-lt"/>
              </a:rPr>
              <a:t>市场份额抢占</a:t>
            </a:r>
            <a:r>
              <a:rPr lang="en-US" altLang="zh-CN">
                <a:ea typeface="+mn-lt"/>
                <a:cs typeface="+mn-lt"/>
              </a:rPr>
              <a:t>+</a:t>
            </a:r>
            <a:r>
              <a:rPr lang="zh-CN" altLang="en-US">
                <a:ea typeface="+mn-lt"/>
                <a:cs typeface="+mn-lt"/>
              </a:rPr>
              <a:t>和成占比提升</a:t>
            </a:r>
            <a:r>
              <a:rPr lang="en-US" altLang="zh-CN">
                <a:ea typeface="+mn-lt"/>
                <a:cs typeface="+mn-lt"/>
              </a:rPr>
              <a:t>+</a:t>
            </a:r>
            <a:r>
              <a:rPr lang="zh-CN" altLang="en-US">
                <a:ea typeface="+mn-lt"/>
                <a:cs typeface="+mn-lt"/>
              </a:rPr>
              <a:t>高端系列</a:t>
            </a:r>
            <a:r>
              <a:rPr lang="zh-CN" altLang="en-US">
                <a:ea typeface="+mn-lt"/>
                <a:cs typeface="+mn-lt"/>
              </a:rPr>
              <a:t>推广。</a:t>
            </a:r>
            <a:endParaRPr lang="zh-CN" altLang="en-US">
              <a:ea typeface="+mn-lt"/>
              <a:cs typeface="+mn-lt"/>
            </a:endParaRPr>
          </a:p>
          <a:p>
            <a:r>
              <a:rPr lang="zh-CN" altLang="en-US" b="1">
                <a:solidFill>
                  <a:srgbClr val="FF0000"/>
                </a:solidFill>
                <a:ea typeface="+mn-lt"/>
                <a:cs typeface="+mn-lt"/>
              </a:rPr>
              <a:t>资源配置建议：</a:t>
            </a:r>
            <a:r>
              <a:rPr lang="zh-CN" altLang="en-US">
                <a:ea typeface="+mn-lt"/>
                <a:cs typeface="+mn-lt"/>
              </a:rPr>
              <a:t>常规渠道的持续网点开发及特通渠道的全面渗透，业务人员增加，优化人均网点及人均</a:t>
            </a:r>
            <a:r>
              <a:rPr lang="zh-CN" altLang="en-US">
                <a:ea typeface="+mn-lt"/>
                <a:cs typeface="+mn-lt"/>
              </a:rPr>
              <a:t>产出。</a:t>
            </a:r>
            <a:endParaRPr lang="zh-CN" altLang="en-US">
              <a:ea typeface="+mn-lt"/>
              <a:cs typeface="+mn-lt"/>
            </a:endParaRPr>
          </a:p>
          <a:p>
            <a:r>
              <a:rPr lang="zh-CN" altLang="en-US" b="1">
                <a:solidFill>
                  <a:srgbClr val="FF0000"/>
                </a:solidFill>
                <a:ea typeface="+mn-lt"/>
                <a:cs typeface="+mn-lt"/>
              </a:rPr>
              <a:t>竞品应对策略：</a:t>
            </a:r>
            <a:r>
              <a:rPr lang="zh-CN" altLang="en-US">
                <a:ea typeface="+mn-lt"/>
                <a:cs typeface="+mn-lt"/>
              </a:rPr>
              <a:t>主竞品枸杞销量主要集中在</a:t>
            </a:r>
            <a:r>
              <a:rPr lang="en-US" altLang="zh-CN">
                <a:ea typeface="+mn-lt"/>
                <a:cs typeface="+mn-lt"/>
              </a:rPr>
              <a:t>30</a:t>
            </a:r>
            <a:r>
              <a:rPr lang="zh-CN" altLang="en-US">
                <a:ea typeface="+mn-lt"/>
                <a:cs typeface="+mn-lt"/>
              </a:rPr>
              <a:t>元价位，</a:t>
            </a:r>
            <a:r>
              <a:rPr lang="zh-CN" altLang="en-US">
                <a:ea typeface="+mn-lt"/>
                <a:cs typeface="+mn-lt"/>
                <a:sym typeface="+mn-ea"/>
              </a:rPr>
              <a:t>充分利用部分大力度促销产品</a:t>
            </a:r>
            <a:r>
              <a:rPr lang="zh-CN" altLang="en-US">
                <a:ea typeface="+mn-lt"/>
                <a:cs typeface="+mn-lt"/>
              </a:rPr>
              <a:t>针对，主竞品枸杞强势区域及</a:t>
            </a:r>
            <a:r>
              <a:rPr lang="en-US" altLang="zh-CN">
                <a:ea typeface="+mn-lt"/>
                <a:cs typeface="+mn-lt"/>
              </a:rPr>
              <a:t>A</a:t>
            </a:r>
            <a:r>
              <a:rPr lang="zh-CN" altLang="en-US">
                <a:ea typeface="+mn-lt"/>
                <a:cs typeface="+mn-lt"/>
              </a:rPr>
              <a:t>类网点，精准投放及打击。</a:t>
            </a:r>
            <a:endParaRPr lang="zh-CN" altLang="en-US">
              <a:ea typeface="+mn-lt"/>
              <a:cs typeface="+mn-lt"/>
            </a:endParaRPr>
          </a:p>
          <a:p>
            <a:r>
              <a:rPr lang="zh-CN" altLang="en-US" b="1">
                <a:solidFill>
                  <a:srgbClr val="FF0000"/>
                </a:solidFill>
                <a:ea typeface="+mn-lt"/>
                <a:cs typeface="+mn-lt"/>
              </a:rPr>
              <a:t>经销商发展建议：</a:t>
            </a:r>
            <a:r>
              <a:rPr lang="zh-CN" altLang="en-US" dirty="0">
                <a:ea typeface="+mn-lt"/>
                <a:cs typeface="+mn-lt"/>
                <a:sym typeface="+mn-ea"/>
              </a:rPr>
              <a:t>随着市场的发展，团队必须要进行优胜劣汰，加强内部培养，提升业务员专业技能，加强管理体系制度和流程，让团队能打仗，打胜仗。</a:t>
            </a:r>
            <a:endParaRPr lang="zh-CN" altLang="en-US" dirty="0">
              <a:ea typeface="+mn-lt"/>
              <a:cs typeface="+mn-lt"/>
            </a:endParaRPr>
          </a:p>
          <a:p>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a:p>
            <a:endParaRPr lang="zh-CN" altLang="en-US"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8" name="文本框 8"/>
          <p:cNvSpPr txBox="1"/>
          <p:nvPr/>
        </p:nvSpPr>
        <p:spPr>
          <a:xfrm>
            <a:off x="1467318" y="2967335"/>
            <a:ext cx="8947217" cy="1753235"/>
          </a:xfrm>
          <a:prstGeom prst="rect">
            <a:avLst/>
          </a:prstGeom>
          <a:noFill/>
        </p:spPr>
        <p:txBody>
          <a:bodyPr wrap="square" rtlCol="0">
            <a:spAutoFit/>
          </a:bodyPr>
          <a:lstStyle/>
          <a:p>
            <a:pPr algn="ctr"/>
            <a:r>
              <a:rPr lang="en-US" altLang="zh-CN" sz="5400" b="1" dirty="0">
                <a:latin typeface="微软雅黑" panose="020B0503020204020204" pitchFamily="34" charset="-122"/>
                <a:ea typeface="微软雅黑" panose="020B0503020204020204" pitchFamily="34" charset="-122"/>
                <a:sym typeface="+mn-ea"/>
              </a:rPr>
              <a:t>5.</a:t>
            </a:r>
            <a:r>
              <a:rPr lang="zh-CN" altLang="en-US" sz="5400" b="1" dirty="0">
                <a:latin typeface="微软雅黑" panose="020B0503020204020204" pitchFamily="34" charset="-122"/>
                <a:ea typeface="微软雅黑" panose="020B0503020204020204" pitchFamily="34" charset="-122"/>
                <a:sym typeface="+mn-ea"/>
              </a:rPr>
              <a:t>市场检查总结及探讨建议</a:t>
            </a:r>
            <a:endParaRPr lang="zh-CN" altLang="en-US" sz="5400" b="1" dirty="0">
              <a:latin typeface="微软雅黑" panose="020B0503020204020204" pitchFamily="34" charset="-122"/>
              <a:ea typeface="微软雅黑" panose="020B0503020204020204" pitchFamily="34" charset="-122"/>
              <a:sym typeface="+mn-ea"/>
            </a:endParaRPr>
          </a:p>
          <a:p>
            <a:pPr algn="ctr"/>
            <a:endParaRPr lang="zh-CN" altLang="en-US" sz="5400" b="1" dirty="0">
              <a:latin typeface="微软雅黑" panose="020B0503020204020204" pitchFamily="34" charset="-122"/>
              <a:ea typeface="微软雅黑" panose="020B0503020204020204" pitchFamily="34" charset="-122"/>
            </a:endParaRPr>
          </a:p>
        </p:txBody>
      </p:sp>
      <p:grpSp>
        <p:nvGrpSpPr>
          <p:cNvPr id="57" name="组合 13"/>
          <p:cNvGrpSpPr/>
          <p:nvPr/>
        </p:nvGrpSpPr>
        <p:grpSpPr>
          <a:xfrm rot="5400000">
            <a:off x="4743853" y="253539"/>
            <a:ext cx="2572212" cy="6350923"/>
            <a:chOff x="3617229" y="570765"/>
            <a:chExt cx="1571244" cy="3879481"/>
          </a:xfrm>
        </p:grpSpPr>
        <p:pic>
          <p:nvPicPr>
            <p:cNvPr id="2097153" name="Picture 2" descr="C:\Users\Administrator\Desktop\1.png"/>
            <p:cNvPicPr>
              <a:picLocks noChangeAspect="1" noChangeArrowheads="1"/>
            </p:cNvPicPr>
            <p:nvPr/>
          </p:nvPicPr>
          <p:blipFill>
            <a:blip r:embed="rId1" cstate="print"/>
            <a:srcRect/>
            <a:stretch>
              <a:fillRect/>
            </a:stretch>
          </p:blipFill>
          <p:spPr bwMode="auto">
            <a:xfrm rot="16200000">
              <a:off x="4220259" y="3482034"/>
              <a:ext cx="1554647" cy="381778"/>
            </a:xfrm>
            <a:prstGeom prst="rect">
              <a:avLst/>
            </a:prstGeom>
            <a:noFill/>
          </p:spPr>
        </p:pic>
        <p:pic>
          <p:nvPicPr>
            <p:cNvPr id="2097154" name="Picture 2" descr="C:\Users\Administrator\Desktop\1.png"/>
            <p:cNvPicPr>
              <a:picLocks noChangeAspect="1" noChangeArrowheads="1"/>
            </p:cNvPicPr>
            <p:nvPr/>
          </p:nvPicPr>
          <p:blipFill>
            <a:blip r:embed="rId1" cstate="print"/>
            <a:srcRect/>
            <a:stretch>
              <a:fillRect/>
            </a:stretch>
          </p:blipFill>
          <p:spPr bwMode="auto">
            <a:xfrm rot="16200000">
              <a:off x="4220260" y="1164820"/>
              <a:ext cx="1554647" cy="381778"/>
            </a:xfrm>
            <a:prstGeom prst="rect">
              <a:avLst/>
            </a:prstGeom>
            <a:noFill/>
          </p:spPr>
        </p:pic>
        <p:pic>
          <p:nvPicPr>
            <p:cNvPr id="2097155" name="Picture 2" descr="C:\Users\Administrator\Desktop\1.png"/>
            <p:cNvPicPr>
              <a:picLocks noChangeAspect="1" noChangeArrowheads="1"/>
            </p:cNvPicPr>
            <p:nvPr/>
          </p:nvPicPr>
          <p:blipFill>
            <a:blip r:embed="rId1" cstate="print"/>
            <a:srcRect/>
            <a:stretch>
              <a:fillRect/>
            </a:stretch>
          </p:blipFill>
          <p:spPr bwMode="auto">
            <a:xfrm rot="5400000" flipH="1">
              <a:off x="3030794" y="3474414"/>
              <a:ext cx="1554647" cy="381778"/>
            </a:xfrm>
            <a:prstGeom prst="rect">
              <a:avLst/>
            </a:prstGeom>
            <a:noFill/>
          </p:spPr>
        </p:pic>
        <p:pic>
          <p:nvPicPr>
            <p:cNvPr id="2097156" name="Picture 2" descr="C:\Users\Administrator\Desktop\1.png"/>
            <p:cNvPicPr>
              <a:picLocks noChangeAspect="1" noChangeArrowheads="1"/>
            </p:cNvPicPr>
            <p:nvPr/>
          </p:nvPicPr>
          <p:blipFill>
            <a:blip r:embed="rId1" cstate="print"/>
            <a:srcRect/>
            <a:stretch>
              <a:fillRect/>
            </a:stretch>
          </p:blipFill>
          <p:spPr bwMode="auto">
            <a:xfrm rot="5400000" flipH="1">
              <a:off x="3030795" y="1157200"/>
              <a:ext cx="1554647" cy="381778"/>
            </a:xfrm>
            <a:prstGeom prst="rect">
              <a:avLst/>
            </a:prstGeom>
            <a:noFill/>
          </p:spPr>
        </p:pic>
      </p:grpSp>
      <p:pic>
        <p:nvPicPr>
          <p:cNvPr id="8" name="图片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5737" y="125730"/>
            <a:ext cx="1056074" cy="900000"/>
          </a:xfrm>
          <a:prstGeom prst="rect">
            <a:avLst/>
          </a:prstGeom>
        </p:spPr>
      </p:pic>
    </p:spTree>
  </p:cSld>
  <p:clrMapOvr>
    <a:masterClrMapping/>
  </p:clrMapOvr>
  <p:transition spd="slow"/>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224987" y="263525"/>
            <a:ext cx="1056074" cy="900000"/>
          </a:xfrm>
          <a:prstGeom prst="rect">
            <a:avLst/>
          </a:prstGeom>
        </p:spPr>
      </p:pic>
      <p:sp>
        <p:nvSpPr>
          <p:cNvPr id="74" name="文本框 73"/>
          <p:cNvSpPr txBox="1"/>
          <p:nvPr/>
        </p:nvSpPr>
        <p:spPr>
          <a:xfrm>
            <a:off x="2392680" y="448310"/>
            <a:ext cx="5530215" cy="645160"/>
          </a:xfrm>
          <a:prstGeom prst="rect">
            <a:avLst/>
          </a:prstGeom>
          <a:noFill/>
        </p:spPr>
        <p:txBody>
          <a:bodyPr wrap="square" rtlCol="0">
            <a:spAutoFit/>
          </a:bodyPr>
          <a:lstStyle>
            <a:defPPr>
              <a:defRPr lang="zh-CN"/>
            </a:defPPr>
            <a:lvl1pPr>
              <a:defRPr sz="3200" b="1">
                <a:solidFill>
                  <a:srgbClr val="860000"/>
                </a:solidFill>
                <a:latin typeface="时尚中黑简体" panose="01010104010101010101" pitchFamily="2" charset="-122"/>
                <a:ea typeface="时尚中黑简体" panose="01010104010101010101" pitchFamily="2" charset="-122"/>
              </a:defRPr>
            </a:lvl1pPr>
          </a:lstStyle>
          <a:p>
            <a:r>
              <a:rPr lang="zh-CN" altLang="en-US" sz="3600" dirty="0">
                <a:solidFill>
                  <a:srgbClr val="C00000"/>
                </a:solidFill>
                <a:latin typeface="微软雅黑" panose="020B0503020204020204" pitchFamily="34" charset="-122"/>
                <a:ea typeface="微软雅黑" panose="020B0503020204020204" pitchFamily="34" charset="-122"/>
                <a:sym typeface="+mn-ea"/>
              </a:rPr>
              <a:t>市场</a:t>
            </a:r>
            <a:r>
              <a:rPr lang="zh-CN" altLang="en-US" sz="3600" dirty="0">
                <a:solidFill>
                  <a:srgbClr val="C00000"/>
                </a:solidFill>
                <a:latin typeface="微软雅黑" panose="020B0503020204020204" pitchFamily="34" charset="-122"/>
                <a:ea typeface="微软雅黑" panose="020B0503020204020204" pitchFamily="34" charset="-122"/>
                <a:sym typeface="+mn-ea"/>
              </a:rPr>
              <a:t>诉求</a:t>
            </a:r>
            <a:endParaRPr lang="zh-CN" altLang="en-US" sz="3600" dirty="0">
              <a:solidFill>
                <a:srgbClr val="C00000"/>
              </a:solidFill>
              <a:latin typeface="微软雅黑" panose="020B0503020204020204" pitchFamily="34" charset="-122"/>
              <a:ea typeface="微软雅黑" panose="020B0503020204020204" pitchFamily="34" charset="-122"/>
              <a:sym typeface="+mn-ea"/>
            </a:endParaRPr>
          </a:p>
        </p:txBody>
      </p:sp>
      <p:sp>
        <p:nvSpPr>
          <p:cNvPr id="29" name="矩形 28"/>
          <p:cNvSpPr/>
          <p:nvPr/>
        </p:nvSpPr>
        <p:spPr>
          <a:xfrm>
            <a:off x="1530350" y="373380"/>
            <a:ext cx="436245" cy="720090"/>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3" name="矩形 32"/>
          <p:cNvSpPr/>
          <p:nvPr>
            <p:custDataLst>
              <p:tags r:id="rId2"/>
            </p:custDataLst>
          </p:nvPr>
        </p:nvSpPr>
        <p:spPr>
          <a:xfrm>
            <a:off x="2061210" y="373380"/>
            <a:ext cx="191770" cy="720090"/>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4" name="矩形 33"/>
          <p:cNvSpPr/>
          <p:nvPr>
            <p:custDataLst>
              <p:tags r:id="rId3"/>
            </p:custDataLst>
          </p:nvPr>
        </p:nvSpPr>
        <p:spPr>
          <a:xfrm>
            <a:off x="4438650" y="373380"/>
            <a:ext cx="352425" cy="720090"/>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nvGrpSpPr>
          <p:cNvPr id="2" name="组合 1"/>
          <p:cNvGrpSpPr/>
          <p:nvPr/>
        </p:nvGrpSpPr>
        <p:grpSpPr>
          <a:xfrm>
            <a:off x="11001375" y="6017895"/>
            <a:ext cx="890270" cy="577850"/>
            <a:chOff x="17325" y="9733"/>
            <a:chExt cx="1402" cy="910"/>
          </a:xfrm>
        </p:grpSpPr>
        <p:sp>
          <p:nvSpPr>
            <p:cNvPr id="59" name="矩形 58"/>
            <p:cNvSpPr/>
            <p:nvPr>
              <p:custDataLst>
                <p:tags r:id="rId4"/>
              </p:custDataLst>
            </p:nvPr>
          </p:nvSpPr>
          <p:spPr>
            <a:xfrm>
              <a:off x="17833" y="9733"/>
              <a:ext cx="894" cy="911"/>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0" name="矩形 69"/>
            <p:cNvSpPr/>
            <p:nvPr>
              <p:custDataLst>
                <p:tags r:id="rId5"/>
              </p:custDataLst>
            </p:nvPr>
          </p:nvSpPr>
          <p:spPr>
            <a:xfrm>
              <a:off x="17325" y="9733"/>
              <a:ext cx="352" cy="911"/>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102" name="图片 101" descr="微信图片_20210702102959"/>
            <p:cNvPicPr>
              <a:picLocks noChangeAspect="1"/>
            </p:cNvPicPr>
            <p:nvPr>
              <p:custDataLst>
                <p:tags r:id="rId6"/>
              </p:custDataLst>
            </p:nvPr>
          </p:nvPicPr>
          <p:blipFill>
            <a:blip r:embed="rId7"/>
            <a:stretch>
              <a:fillRect/>
            </a:stretch>
          </p:blipFill>
          <p:spPr>
            <a:xfrm>
              <a:off x="17950" y="9910"/>
              <a:ext cx="653" cy="557"/>
            </a:xfrm>
            <a:prstGeom prst="rect">
              <a:avLst/>
            </a:prstGeom>
          </p:spPr>
        </p:pic>
      </p:grpSp>
      <p:cxnSp>
        <p:nvCxnSpPr>
          <p:cNvPr id="13" name="直接连接符 31"/>
          <p:cNvCxnSpPr/>
          <p:nvPr>
            <p:custDataLst>
              <p:tags r:id="rId8"/>
            </p:custDataLst>
          </p:nvPr>
        </p:nvCxnSpPr>
        <p:spPr>
          <a:xfrm>
            <a:off x="1399278" y="5018762"/>
            <a:ext cx="1732326" cy="0"/>
          </a:xfrm>
          <a:prstGeom prst="line">
            <a:avLst/>
          </a:prstGeom>
          <a:ln cap="flat">
            <a:gradFill>
              <a:gsLst>
                <a:gs pos="0">
                  <a:srgbClr val="AFC6FF">
                    <a:alpha val="0"/>
                  </a:srgbClr>
                </a:gs>
                <a:gs pos="100000">
                  <a:srgbClr val="376FFF">
                    <a:alpha val="0"/>
                  </a:srgbClr>
                </a:gs>
                <a:gs pos="0">
                  <a:schemeClr val="accent1">
                    <a:alpha val="100000"/>
                  </a:schemeClr>
                </a:gs>
              </a:gsLst>
              <a:lin ang="0" scaled="0"/>
            </a:gradFill>
            <a:headEnd type="none"/>
          </a:ln>
        </p:spPr>
        <p:style>
          <a:lnRef idx="1">
            <a:schemeClr val="accent1"/>
          </a:lnRef>
          <a:fillRef idx="0">
            <a:schemeClr val="accent1"/>
          </a:fillRef>
          <a:effectRef idx="0">
            <a:schemeClr val="accent1"/>
          </a:effectRef>
          <a:fontRef idx="minor">
            <a:schemeClr val="tx1"/>
          </a:fontRef>
        </p:style>
      </p:cxnSp>
      <p:sp>
        <p:nvSpPr>
          <p:cNvPr id="14" name="正文"/>
          <p:cNvSpPr txBox="1"/>
          <p:nvPr>
            <p:custDataLst>
              <p:tags r:id="rId9"/>
            </p:custDataLst>
          </p:nvPr>
        </p:nvSpPr>
        <p:spPr>
          <a:xfrm>
            <a:off x="1399278" y="5110744"/>
            <a:ext cx="1733023" cy="1300290"/>
          </a:xfrm>
          <a:prstGeom prst="rect">
            <a:avLst/>
          </a:prstGeom>
          <a:noFill/>
        </p:spPr>
        <p:txBody>
          <a:bodyPr wrap="square" lIns="0" tIns="0" rIns="0" bIns="0" rtlCol="0" anchor="t" anchorCtr="0">
            <a:noAutofit/>
          </a:bodyPr>
          <a:p>
            <a:pPr lvl="0" algn="l">
              <a:lnSpc>
                <a:spcPct val="130000"/>
              </a:lnSpc>
              <a:buClrTx/>
              <a:buSzTx/>
              <a:buFontTx/>
            </a:pPr>
            <a:r>
              <a:rPr lang="zh-CN" altLang="en-US" sz="1400" spc="150" dirty="0">
                <a:solidFill>
                  <a:schemeClr val="tx1">
                    <a:lumMod val="85000"/>
                    <a:lumOff val="15000"/>
                  </a:schemeClr>
                </a:solidFill>
                <a:ea typeface="+mn-lt"/>
                <a:cs typeface="+mn-ea"/>
                <a:sym typeface="+mn-ea"/>
              </a:rPr>
              <a:t>开封、周口地区口味王份额优于和成份额，市场有意转型和成市场，但效果不佳，希望得到公司和成</a:t>
            </a:r>
            <a:r>
              <a:rPr lang="zh-CN" altLang="en-US" sz="1400" spc="150" dirty="0">
                <a:solidFill>
                  <a:schemeClr val="tx1">
                    <a:lumMod val="85000"/>
                    <a:lumOff val="15000"/>
                  </a:schemeClr>
                </a:solidFill>
                <a:ea typeface="+mn-lt"/>
                <a:cs typeface="+mn-ea"/>
                <a:sym typeface="+mn-ea"/>
              </a:rPr>
              <a:t>促销支持。</a:t>
            </a:r>
            <a:endParaRPr lang="zh-CN" altLang="en-US" sz="1400" spc="150" dirty="0">
              <a:solidFill>
                <a:schemeClr val="tx1">
                  <a:lumMod val="85000"/>
                  <a:lumOff val="15000"/>
                </a:schemeClr>
              </a:solidFill>
              <a:ea typeface="+mn-lt"/>
              <a:cs typeface="+mn-ea"/>
              <a:sym typeface="+mn-ea"/>
            </a:endParaRPr>
          </a:p>
        </p:txBody>
      </p:sp>
      <p:sp>
        <p:nvSpPr>
          <p:cNvPr id="21" name="平行四边形 24"/>
          <p:cNvSpPr/>
          <p:nvPr>
            <p:custDataLst>
              <p:tags r:id="rId10"/>
            </p:custDataLst>
          </p:nvPr>
        </p:nvSpPr>
        <p:spPr>
          <a:xfrm flipH="1">
            <a:off x="7316781" y="2351287"/>
            <a:ext cx="1710724" cy="1031312"/>
          </a:xfrm>
          <a:prstGeom prst="parallelogram">
            <a:avLst>
              <a:gd name="adj" fmla="val 83583"/>
            </a:avLst>
          </a:prstGeom>
          <a:solidFill>
            <a:schemeClr val="tx1">
              <a:lumMod val="65000"/>
              <a:lumOff val="35000"/>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lumMod val="65000"/>
                  <a:lumOff val="35000"/>
                </a:schemeClr>
              </a:solidFill>
            </a:endParaRPr>
          </a:p>
        </p:txBody>
      </p:sp>
      <p:sp>
        <p:nvSpPr>
          <p:cNvPr id="24" name="平行四边形 21"/>
          <p:cNvSpPr/>
          <p:nvPr>
            <p:custDataLst>
              <p:tags r:id="rId11"/>
            </p:custDataLst>
          </p:nvPr>
        </p:nvSpPr>
        <p:spPr>
          <a:xfrm flipH="1">
            <a:off x="5059043" y="2662771"/>
            <a:ext cx="1710724" cy="1031312"/>
          </a:xfrm>
          <a:prstGeom prst="parallelogram">
            <a:avLst>
              <a:gd name="adj" fmla="val 81259"/>
            </a:avLst>
          </a:prstGeom>
          <a:solidFill>
            <a:schemeClr val="tx1">
              <a:lumMod val="65000"/>
              <a:lumOff val="35000"/>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lumMod val="65000"/>
                  <a:lumOff val="35000"/>
                </a:schemeClr>
              </a:solidFill>
            </a:endParaRPr>
          </a:p>
        </p:txBody>
      </p:sp>
      <p:sp>
        <p:nvSpPr>
          <p:cNvPr id="26" name="平行四边形 22"/>
          <p:cNvSpPr/>
          <p:nvPr>
            <p:custDataLst>
              <p:tags r:id="rId12"/>
            </p:custDataLst>
          </p:nvPr>
        </p:nvSpPr>
        <p:spPr>
          <a:xfrm>
            <a:off x="5907785" y="2347106"/>
            <a:ext cx="2282824" cy="1348371"/>
          </a:xfrm>
          <a:prstGeom prst="parallelogram">
            <a:avLst>
              <a:gd name="adj" fmla="val 64618"/>
            </a:avLst>
          </a:prstGeom>
          <a:gradFill>
            <a:gsLst>
              <a:gs pos="39000">
                <a:schemeClr val="accent3">
                  <a:alpha val="100000"/>
                </a:schemeClr>
              </a:gs>
              <a:gs pos="100000">
                <a:schemeClr val="accent3">
                  <a:lumMod val="60000"/>
                  <a:lumOff val="40000"/>
                  <a:alpha val="10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normAutofit/>
          </a:bodyPr>
          <a:p>
            <a:pPr lvl="0" algn="ctr">
              <a:buClrTx/>
              <a:buSzTx/>
              <a:buFontTx/>
            </a:pPr>
            <a:r>
              <a:rPr lang="en-US" sz="3200" b="1">
                <a:solidFill>
                  <a:srgbClr val="FFFFFF"/>
                </a:solidFill>
                <a:latin typeface="+mj-lt"/>
                <a:ea typeface="微软雅黑" panose="020B0503020204020204" pitchFamily="34" charset="-122"/>
                <a:cs typeface="+mj-lt"/>
                <a:sym typeface="+mn-ea"/>
              </a:rPr>
              <a:t>03</a:t>
            </a:r>
            <a:endParaRPr lang="en-US" sz="3200" b="1">
              <a:solidFill>
                <a:srgbClr val="FFFFFF"/>
              </a:solidFill>
              <a:latin typeface="+mj-lt"/>
              <a:ea typeface="微软雅黑" panose="020B0503020204020204" pitchFamily="34" charset="-122"/>
              <a:cs typeface="+mj-lt"/>
              <a:sym typeface="+mn-ea"/>
            </a:endParaRPr>
          </a:p>
        </p:txBody>
      </p:sp>
      <p:sp>
        <p:nvSpPr>
          <p:cNvPr id="31" name="平行四边形 4"/>
          <p:cNvSpPr/>
          <p:nvPr>
            <p:custDataLst>
              <p:tags r:id="rId13"/>
            </p:custDataLst>
          </p:nvPr>
        </p:nvSpPr>
        <p:spPr>
          <a:xfrm flipH="1">
            <a:off x="2789459" y="2980527"/>
            <a:ext cx="1710724" cy="1031312"/>
          </a:xfrm>
          <a:prstGeom prst="parallelogram">
            <a:avLst>
              <a:gd name="adj" fmla="val 80061"/>
            </a:avLst>
          </a:prstGeom>
          <a:solidFill>
            <a:schemeClr val="tx1">
              <a:lumMod val="65000"/>
              <a:lumOff val="35000"/>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lumMod val="65000"/>
                  <a:lumOff val="35000"/>
                </a:schemeClr>
              </a:solidFill>
            </a:endParaRPr>
          </a:p>
        </p:txBody>
      </p:sp>
      <p:sp>
        <p:nvSpPr>
          <p:cNvPr id="5" name="平行四边形 3"/>
          <p:cNvSpPr/>
          <p:nvPr>
            <p:custDataLst>
              <p:tags r:id="rId14"/>
            </p:custDataLst>
          </p:nvPr>
        </p:nvSpPr>
        <p:spPr>
          <a:xfrm>
            <a:off x="1372798" y="2980527"/>
            <a:ext cx="2282824" cy="1348371"/>
          </a:xfrm>
          <a:prstGeom prst="parallelogram">
            <a:avLst>
              <a:gd name="adj" fmla="val 64618"/>
            </a:avLst>
          </a:prstGeom>
          <a:gradFill>
            <a:gsLst>
              <a:gs pos="39000">
                <a:schemeClr val="accent1">
                  <a:alpha val="100000"/>
                </a:schemeClr>
              </a:gs>
              <a:gs pos="100000">
                <a:schemeClr val="accent1">
                  <a:lumMod val="60000"/>
                  <a:lumOff val="40000"/>
                  <a:alpha val="10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normAutofit/>
          </a:bodyPr>
          <a:p>
            <a:pPr lvl="0" algn="ctr">
              <a:buClrTx/>
              <a:buSzTx/>
              <a:buFontTx/>
            </a:pPr>
            <a:r>
              <a:rPr lang="en-US" sz="3200" b="1">
                <a:solidFill>
                  <a:srgbClr val="FFFFFF"/>
                </a:solidFill>
                <a:latin typeface="+mj-lt"/>
                <a:ea typeface="微软雅黑" panose="020B0503020204020204" pitchFamily="34" charset="-122"/>
                <a:cs typeface="+mj-lt"/>
                <a:sym typeface="+mn-ea"/>
              </a:rPr>
              <a:t>01</a:t>
            </a:r>
            <a:endParaRPr lang="en-US" sz="3200" b="1">
              <a:solidFill>
                <a:srgbClr val="FFFFFF"/>
              </a:solidFill>
              <a:latin typeface="+mj-lt"/>
              <a:ea typeface="微软雅黑" panose="020B0503020204020204" pitchFamily="34" charset="-122"/>
              <a:cs typeface="+mj-lt"/>
              <a:sym typeface="+mn-ea"/>
            </a:endParaRPr>
          </a:p>
        </p:txBody>
      </p:sp>
      <p:sp>
        <p:nvSpPr>
          <p:cNvPr id="6" name="平行四边形 19"/>
          <p:cNvSpPr/>
          <p:nvPr>
            <p:custDataLst>
              <p:tags r:id="rId15"/>
            </p:custDataLst>
          </p:nvPr>
        </p:nvSpPr>
        <p:spPr>
          <a:xfrm>
            <a:off x="3638898" y="2664861"/>
            <a:ext cx="2282824" cy="1348371"/>
          </a:xfrm>
          <a:prstGeom prst="parallelogram">
            <a:avLst>
              <a:gd name="adj" fmla="val 64618"/>
            </a:avLst>
          </a:prstGeom>
          <a:gradFill>
            <a:gsLst>
              <a:gs pos="39000">
                <a:schemeClr val="accent2">
                  <a:alpha val="100000"/>
                </a:schemeClr>
              </a:gs>
              <a:gs pos="100000">
                <a:schemeClr val="accent2">
                  <a:lumMod val="60000"/>
                  <a:lumOff val="40000"/>
                  <a:alpha val="10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normAutofit/>
          </a:bodyPr>
          <a:p>
            <a:pPr lvl="0" algn="ctr">
              <a:buClrTx/>
              <a:buSzTx/>
              <a:buFontTx/>
            </a:pPr>
            <a:r>
              <a:rPr lang="en-US" altLang="zh-CN" sz="3200" b="1">
                <a:solidFill>
                  <a:srgbClr val="FFFFFF"/>
                </a:solidFill>
                <a:latin typeface="+mj-lt"/>
                <a:ea typeface="微软雅黑" panose="020B0503020204020204" pitchFamily="34" charset="-122"/>
                <a:cs typeface="+mj-lt"/>
                <a:sym typeface="+mn-ea"/>
              </a:rPr>
              <a:t>02</a:t>
            </a:r>
            <a:endParaRPr lang="en-US" altLang="zh-CN" sz="3200" b="1">
              <a:solidFill>
                <a:srgbClr val="FFFFFF"/>
              </a:solidFill>
              <a:latin typeface="+mj-lt"/>
              <a:ea typeface="微软雅黑" panose="020B0503020204020204" pitchFamily="34" charset="-122"/>
              <a:cs typeface="+mj-lt"/>
              <a:sym typeface="+mn-ea"/>
            </a:endParaRPr>
          </a:p>
        </p:txBody>
      </p:sp>
      <p:cxnSp>
        <p:nvCxnSpPr>
          <p:cNvPr id="38" name="直接连接符 34"/>
          <p:cNvCxnSpPr/>
          <p:nvPr>
            <p:custDataLst>
              <p:tags r:id="rId16"/>
            </p:custDataLst>
          </p:nvPr>
        </p:nvCxnSpPr>
        <p:spPr>
          <a:xfrm>
            <a:off x="3624961" y="4689857"/>
            <a:ext cx="1732326" cy="0"/>
          </a:xfrm>
          <a:prstGeom prst="line">
            <a:avLst/>
          </a:prstGeom>
          <a:ln cap="flat">
            <a:gradFill>
              <a:gsLst>
                <a:gs pos="0">
                  <a:srgbClr val="AFC6FF">
                    <a:alpha val="0"/>
                  </a:srgbClr>
                </a:gs>
                <a:gs pos="100000">
                  <a:schemeClr val="accent2">
                    <a:alpha val="0"/>
                  </a:schemeClr>
                </a:gs>
                <a:gs pos="0">
                  <a:schemeClr val="accent2">
                    <a:alpha val="100000"/>
                  </a:schemeClr>
                </a:gs>
              </a:gsLst>
              <a:lin ang="0" scaled="0"/>
            </a:gradFill>
            <a:headEnd type="none"/>
          </a:ln>
        </p:spPr>
        <p:style>
          <a:lnRef idx="1">
            <a:schemeClr val="accent1"/>
          </a:lnRef>
          <a:fillRef idx="0">
            <a:schemeClr val="accent1"/>
          </a:fillRef>
          <a:effectRef idx="0">
            <a:schemeClr val="accent1"/>
          </a:effectRef>
          <a:fontRef idx="minor">
            <a:schemeClr val="tx1"/>
          </a:fontRef>
        </p:style>
      </p:cxnSp>
      <p:sp>
        <p:nvSpPr>
          <p:cNvPr id="39" name="正文"/>
          <p:cNvSpPr txBox="1"/>
          <p:nvPr>
            <p:custDataLst>
              <p:tags r:id="rId17"/>
            </p:custDataLst>
          </p:nvPr>
        </p:nvSpPr>
        <p:spPr>
          <a:xfrm>
            <a:off x="3625215" y="4780915"/>
            <a:ext cx="1732915" cy="1815465"/>
          </a:xfrm>
          <a:prstGeom prst="rect">
            <a:avLst/>
          </a:prstGeom>
          <a:noFill/>
        </p:spPr>
        <p:txBody>
          <a:bodyPr wrap="square" lIns="0" tIns="0" rIns="0" bIns="0" rtlCol="0" anchor="t" anchorCtr="0">
            <a:noAutofit/>
          </a:bodyPr>
          <a:p>
            <a:pPr lvl="0" algn="l">
              <a:lnSpc>
                <a:spcPct val="130000"/>
              </a:lnSpc>
              <a:buClrTx/>
              <a:buSzTx/>
              <a:buFontTx/>
            </a:pPr>
            <a:r>
              <a:rPr lang="zh-CN" altLang="en-US" sz="1400" spc="150" dirty="0">
                <a:solidFill>
                  <a:schemeClr val="tx1">
                    <a:lumMod val="85000"/>
                    <a:lumOff val="15000"/>
                  </a:schemeClr>
                </a:solidFill>
                <a:ea typeface="+mn-lt"/>
                <a:cs typeface="宋体" panose="02010600030101010101" pitchFamily="2" charset="-122"/>
                <a:sym typeface="+mn-ea"/>
              </a:rPr>
              <a:t>上蔡市场品宣竞争压力较大，主竞品湘潭铺子制作大品宣相较本品时间更为灵活，希望公司缩短大品宣制作时间。</a:t>
            </a:r>
            <a:endParaRPr lang="zh-CN" altLang="en-US" sz="1400" spc="150" dirty="0">
              <a:solidFill>
                <a:schemeClr val="tx1">
                  <a:lumMod val="85000"/>
                  <a:lumOff val="15000"/>
                </a:schemeClr>
              </a:solidFill>
              <a:ea typeface="+mn-lt"/>
              <a:cs typeface="宋体" panose="02010600030101010101" pitchFamily="2" charset="-122"/>
              <a:sym typeface="+mn-ea"/>
            </a:endParaRPr>
          </a:p>
        </p:txBody>
      </p:sp>
      <p:sp>
        <p:nvSpPr>
          <p:cNvPr id="41" name="任意多边形 27"/>
          <p:cNvSpPr/>
          <p:nvPr>
            <p:custDataLst>
              <p:tags r:id="rId18"/>
            </p:custDataLst>
          </p:nvPr>
        </p:nvSpPr>
        <p:spPr>
          <a:xfrm>
            <a:off x="8152980" y="1271196"/>
            <a:ext cx="2660507" cy="2112100"/>
          </a:xfrm>
          <a:custGeom>
            <a:avLst/>
            <a:gdLst>
              <a:gd name="connsiteX0" fmla="*/ 1215 w 4043"/>
              <a:gd name="connsiteY0" fmla="*/ 1402 h 4402"/>
              <a:gd name="connsiteX1" fmla="*/ 3330 w 4043"/>
              <a:gd name="connsiteY1" fmla="*/ 0 h 4402"/>
              <a:gd name="connsiteX2" fmla="*/ 4043 w 4043"/>
              <a:gd name="connsiteY2" fmla="*/ 1440 h 4402"/>
              <a:gd name="connsiteX3" fmla="*/ 3518 w 4043"/>
              <a:gd name="connsiteY3" fmla="*/ 1440 h 4402"/>
              <a:gd name="connsiteX4" fmla="*/ 1778 w 4043"/>
              <a:gd name="connsiteY4" fmla="*/ 4395 h 4402"/>
              <a:gd name="connsiteX5" fmla="*/ 0 w 4043"/>
              <a:gd name="connsiteY5" fmla="*/ 4402 h 4402"/>
              <a:gd name="connsiteX6" fmla="*/ 1718 w 4043"/>
              <a:gd name="connsiteY6" fmla="*/ 1417 h 4402"/>
              <a:gd name="connsiteX7" fmla="*/ 1215 w 4043"/>
              <a:gd name="connsiteY7" fmla="*/ 1402 h 44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77" h="4002">
                <a:moveTo>
                  <a:pt x="3478" y="0"/>
                </a:moveTo>
                <a:lnTo>
                  <a:pt x="4277" y="1440"/>
                </a:lnTo>
                <a:lnTo>
                  <a:pt x="3688" y="1440"/>
                </a:lnTo>
                <a:lnTo>
                  <a:pt x="3417" y="1851"/>
                </a:lnTo>
                <a:lnTo>
                  <a:pt x="3408" y="1851"/>
                </a:lnTo>
                <a:lnTo>
                  <a:pt x="2018" y="4002"/>
                </a:lnTo>
                <a:lnTo>
                  <a:pt x="0" y="4002"/>
                </a:lnTo>
                <a:lnTo>
                  <a:pt x="1390" y="1851"/>
                </a:lnTo>
                <a:lnTo>
                  <a:pt x="1390" y="1851"/>
                </a:lnTo>
                <a:lnTo>
                  <a:pt x="1670" y="1417"/>
                </a:lnTo>
                <a:lnTo>
                  <a:pt x="1106" y="1402"/>
                </a:lnTo>
                <a:lnTo>
                  <a:pt x="3478" y="0"/>
                </a:lnTo>
                <a:close/>
              </a:path>
            </a:pathLst>
          </a:custGeom>
          <a:gradFill>
            <a:gsLst>
              <a:gs pos="39000">
                <a:schemeClr val="accent4">
                  <a:alpha val="100000"/>
                </a:schemeClr>
              </a:gs>
              <a:gs pos="100000">
                <a:schemeClr val="accent4">
                  <a:lumMod val="60000"/>
                  <a:lumOff val="40000"/>
                  <a:alpha val="10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lIns="781685" tIns="980440" rIns="1012825" bIns="370840" numCol="1" spcCol="0" rtlCol="0" fromWordArt="0" anchor="ctr" anchorCtr="0" forceAA="0" compatLnSpc="1">
            <a:normAutofit/>
          </a:bodyPr>
          <a:p>
            <a:pPr algn="ctr"/>
            <a:r>
              <a:rPr lang="en-US" altLang="zh-CN" sz="3200" b="1">
                <a:solidFill>
                  <a:srgbClr val="FFFFFF"/>
                </a:solidFill>
                <a:latin typeface="+mj-lt"/>
                <a:ea typeface="微软雅黑" panose="020B0503020204020204" pitchFamily="34" charset="-122"/>
                <a:cs typeface="+mj-lt"/>
              </a:rPr>
              <a:t>04</a:t>
            </a:r>
            <a:endParaRPr lang="en-US" altLang="zh-CN" sz="3200" b="1">
              <a:solidFill>
                <a:srgbClr val="FFFFFF"/>
              </a:solidFill>
              <a:latin typeface="+mj-lt"/>
              <a:ea typeface="微软雅黑" panose="020B0503020204020204" pitchFamily="34" charset="-122"/>
              <a:cs typeface="+mj-lt"/>
            </a:endParaRPr>
          </a:p>
        </p:txBody>
      </p:sp>
      <p:cxnSp>
        <p:nvCxnSpPr>
          <p:cNvPr id="42" name="直接连接符 55"/>
          <p:cNvCxnSpPr/>
          <p:nvPr>
            <p:custDataLst>
              <p:tags r:id="rId19"/>
            </p:custDataLst>
          </p:nvPr>
        </p:nvCxnSpPr>
        <p:spPr>
          <a:xfrm>
            <a:off x="5922171" y="4284781"/>
            <a:ext cx="1732326" cy="0"/>
          </a:xfrm>
          <a:prstGeom prst="line">
            <a:avLst/>
          </a:prstGeom>
          <a:ln cap="flat">
            <a:gradFill>
              <a:gsLst>
                <a:gs pos="0">
                  <a:srgbClr val="AFC6FF">
                    <a:alpha val="0"/>
                  </a:srgbClr>
                </a:gs>
                <a:gs pos="100000">
                  <a:srgbClr val="376FFF">
                    <a:alpha val="0"/>
                  </a:srgbClr>
                </a:gs>
                <a:gs pos="0">
                  <a:schemeClr val="accent3">
                    <a:alpha val="100000"/>
                  </a:schemeClr>
                </a:gs>
              </a:gsLst>
              <a:lin ang="0" scaled="0"/>
            </a:gradFill>
            <a:headEnd type="none"/>
          </a:ln>
        </p:spPr>
        <p:style>
          <a:lnRef idx="1">
            <a:schemeClr val="accent1"/>
          </a:lnRef>
          <a:fillRef idx="0">
            <a:schemeClr val="accent1"/>
          </a:fillRef>
          <a:effectRef idx="0">
            <a:schemeClr val="accent1"/>
          </a:effectRef>
          <a:fontRef idx="minor">
            <a:schemeClr val="tx1"/>
          </a:fontRef>
        </p:style>
      </p:cxnSp>
      <p:sp>
        <p:nvSpPr>
          <p:cNvPr id="43" name="正文"/>
          <p:cNvSpPr txBox="1"/>
          <p:nvPr>
            <p:custDataLst>
              <p:tags r:id="rId20"/>
            </p:custDataLst>
          </p:nvPr>
        </p:nvSpPr>
        <p:spPr>
          <a:xfrm>
            <a:off x="5922010" y="4393565"/>
            <a:ext cx="1819910" cy="2017395"/>
          </a:xfrm>
          <a:prstGeom prst="rect">
            <a:avLst/>
          </a:prstGeom>
          <a:noFill/>
        </p:spPr>
        <p:txBody>
          <a:bodyPr wrap="square" lIns="0" tIns="0" rIns="0" bIns="0" rtlCol="0" anchor="t" anchorCtr="0">
            <a:noAutofit/>
          </a:bodyPr>
          <a:p>
            <a:pPr lvl="0" algn="l">
              <a:lnSpc>
                <a:spcPct val="130000"/>
              </a:lnSpc>
              <a:buClrTx/>
              <a:buSzTx/>
              <a:buFontTx/>
            </a:pPr>
            <a:r>
              <a:rPr lang="zh-CN" altLang="en-US" sz="1400" spc="150" dirty="0">
                <a:solidFill>
                  <a:schemeClr val="tx1">
                    <a:lumMod val="85000"/>
                    <a:lumOff val="15000"/>
                  </a:schemeClr>
                </a:solidFill>
                <a:ea typeface="+mn-lt"/>
                <a:cs typeface="+mn-ea"/>
                <a:sym typeface="+mn-ea"/>
              </a:rPr>
              <a:t>正值骄阳行动期间，终端宣传多以海报为主，但褪色现象尤为严重，宣传效果受限。市场提议，因海报消耗过快，希望在各战区指定合作商，保证物料能及时到达市场并替换褪色海报。</a:t>
            </a:r>
            <a:endParaRPr lang="zh-CN" altLang="en-US" sz="1400" spc="150" dirty="0">
              <a:solidFill>
                <a:schemeClr val="tx1">
                  <a:lumMod val="85000"/>
                  <a:lumOff val="15000"/>
                </a:schemeClr>
              </a:solidFill>
              <a:ea typeface="+mn-lt"/>
              <a:cs typeface="+mn-ea"/>
              <a:sym typeface="+mn-ea"/>
            </a:endParaRPr>
          </a:p>
        </p:txBody>
      </p:sp>
      <p:cxnSp>
        <p:nvCxnSpPr>
          <p:cNvPr id="60" name="直接连接符 59"/>
          <p:cNvCxnSpPr/>
          <p:nvPr>
            <p:custDataLst>
              <p:tags r:id="rId21"/>
            </p:custDataLst>
          </p:nvPr>
        </p:nvCxnSpPr>
        <p:spPr>
          <a:xfrm>
            <a:off x="8145315" y="3954544"/>
            <a:ext cx="1732326" cy="0"/>
          </a:xfrm>
          <a:prstGeom prst="line">
            <a:avLst/>
          </a:prstGeom>
          <a:ln cap="flat">
            <a:gradFill>
              <a:gsLst>
                <a:gs pos="0">
                  <a:srgbClr val="AFC6FF">
                    <a:alpha val="0"/>
                  </a:srgbClr>
                </a:gs>
                <a:gs pos="100000">
                  <a:schemeClr val="accent4">
                    <a:alpha val="0"/>
                  </a:schemeClr>
                </a:gs>
                <a:gs pos="0">
                  <a:schemeClr val="accent4">
                    <a:alpha val="100000"/>
                  </a:schemeClr>
                </a:gs>
              </a:gsLst>
              <a:lin ang="0" scaled="0"/>
            </a:gradFill>
            <a:headEnd type="none"/>
          </a:ln>
        </p:spPr>
        <p:style>
          <a:lnRef idx="1">
            <a:schemeClr val="accent1"/>
          </a:lnRef>
          <a:fillRef idx="0">
            <a:schemeClr val="accent1"/>
          </a:fillRef>
          <a:effectRef idx="0">
            <a:schemeClr val="accent1"/>
          </a:effectRef>
          <a:fontRef idx="minor">
            <a:schemeClr val="tx1"/>
          </a:fontRef>
        </p:style>
      </p:cxnSp>
      <p:sp>
        <p:nvSpPr>
          <p:cNvPr id="61" name="正文"/>
          <p:cNvSpPr txBox="1"/>
          <p:nvPr>
            <p:custDataLst>
              <p:tags r:id="rId22"/>
            </p:custDataLst>
          </p:nvPr>
        </p:nvSpPr>
        <p:spPr>
          <a:xfrm>
            <a:off x="8152765" y="4025265"/>
            <a:ext cx="1732915" cy="2458720"/>
          </a:xfrm>
          <a:prstGeom prst="rect">
            <a:avLst/>
          </a:prstGeom>
          <a:noFill/>
        </p:spPr>
        <p:txBody>
          <a:bodyPr wrap="square" lIns="0" tIns="0" rIns="0" bIns="0" rtlCol="0" anchor="t" anchorCtr="0">
            <a:noAutofit/>
          </a:bodyPr>
          <a:p>
            <a:pPr lvl="0" algn="l">
              <a:lnSpc>
                <a:spcPct val="130000"/>
              </a:lnSpc>
              <a:buClrTx/>
              <a:buSzTx/>
              <a:buFontTx/>
            </a:pPr>
            <a:r>
              <a:rPr lang="zh-CN" altLang="en-US" sz="1400" spc="150" dirty="0">
                <a:solidFill>
                  <a:schemeClr val="tx1">
                    <a:lumMod val="85000"/>
                    <a:lumOff val="15000"/>
                  </a:schemeClr>
                </a:solidFill>
                <a:ea typeface="+mn-lt"/>
                <a:cs typeface="+mn-ea"/>
                <a:sym typeface="+mn-ea"/>
              </a:rPr>
              <a:t>河南市场口味王小包数正在下降，和成氛围提升，但实际销量相比去年无明显变化，市场实际正在向和成转型，属良性发展。市场提议，根据市场不同情况合理制定销量目标。</a:t>
            </a:r>
            <a:endParaRPr lang="zh-CN" altLang="en-US" sz="1400" spc="150" dirty="0">
              <a:solidFill>
                <a:schemeClr val="tx1">
                  <a:lumMod val="85000"/>
                  <a:lumOff val="15000"/>
                </a:schemeClr>
              </a:solidFill>
              <a:ea typeface="+mn-lt"/>
              <a:cs typeface="+mn-ea"/>
              <a:sym typeface="+mn-ea"/>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224987" y="263525"/>
            <a:ext cx="1056074" cy="900000"/>
          </a:xfrm>
          <a:prstGeom prst="rect">
            <a:avLst/>
          </a:prstGeom>
        </p:spPr>
      </p:pic>
      <p:sp>
        <p:nvSpPr>
          <p:cNvPr id="74" name="文本框 73"/>
          <p:cNvSpPr txBox="1"/>
          <p:nvPr/>
        </p:nvSpPr>
        <p:spPr>
          <a:xfrm>
            <a:off x="2392680" y="448310"/>
            <a:ext cx="5530215" cy="645160"/>
          </a:xfrm>
          <a:prstGeom prst="rect">
            <a:avLst/>
          </a:prstGeom>
          <a:noFill/>
        </p:spPr>
        <p:txBody>
          <a:bodyPr wrap="square" rtlCol="0">
            <a:spAutoFit/>
          </a:bodyPr>
          <a:lstStyle>
            <a:defPPr>
              <a:defRPr lang="zh-CN"/>
            </a:defPPr>
            <a:lvl1pPr>
              <a:defRPr sz="3200" b="1">
                <a:solidFill>
                  <a:srgbClr val="860000"/>
                </a:solidFill>
                <a:latin typeface="时尚中黑简体" panose="01010104010101010101" pitchFamily="2" charset="-122"/>
                <a:ea typeface="时尚中黑简体" panose="01010104010101010101" pitchFamily="2" charset="-122"/>
              </a:defRPr>
            </a:lvl1pPr>
          </a:lstStyle>
          <a:p>
            <a:r>
              <a:rPr lang="zh-CN" altLang="en-US" sz="3600" dirty="0">
                <a:solidFill>
                  <a:srgbClr val="C00000"/>
                </a:solidFill>
                <a:latin typeface="微软雅黑" panose="020B0503020204020204" pitchFamily="34" charset="-122"/>
                <a:ea typeface="微软雅黑" panose="020B0503020204020204" pitchFamily="34" charset="-122"/>
                <a:sym typeface="+mn-ea"/>
              </a:rPr>
              <a:t>探讨建议</a:t>
            </a:r>
            <a:endParaRPr lang="zh-CN" altLang="en-US" sz="3600" dirty="0">
              <a:solidFill>
                <a:srgbClr val="C00000"/>
              </a:solidFill>
              <a:latin typeface="微软雅黑" panose="020B0503020204020204" pitchFamily="34" charset="-122"/>
              <a:ea typeface="微软雅黑" panose="020B0503020204020204" pitchFamily="34" charset="-122"/>
              <a:sym typeface="+mn-ea"/>
            </a:endParaRPr>
          </a:p>
        </p:txBody>
      </p:sp>
      <p:sp>
        <p:nvSpPr>
          <p:cNvPr id="29" name="矩形 28"/>
          <p:cNvSpPr/>
          <p:nvPr/>
        </p:nvSpPr>
        <p:spPr>
          <a:xfrm>
            <a:off x="1530350" y="373380"/>
            <a:ext cx="436245" cy="720090"/>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矩形 32"/>
          <p:cNvSpPr/>
          <p:nvPr>
            <p:custDataLst>
              <p:tags r:id="rId2"/>
            </p:custDataLst>
          </p:nvPr>
        </p:nvSpPr>
        <p:spPr>
          <a:xfrm>
            <a:off x="2061210" y="373380"/>
            <a:ext cx="191770" cy="720090"/>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p:cNvSpPr/>
          <p:nvPr>
            <p:custDataLst>
              <p:tags r:id="rId3"/>
            </p:custDataLst>
          </p:nvPr>
        </p:nvSpPr>
        <p:spPr>
          <a:xfrm>
            <a:off x="4563745" y="373380"/>
            <a:ext cx="352425" cy="720090"/>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矩形 58"/>
          <p:cNvSpPr/>
          <p:nvPr>
            <p:custDataLst>
              <p:tags r:id="rId4"/>
            </p:custDataLst>
          </p:nvPr>
        </p:nvSpPr>
        <p:spPr>
          <a:xfrm>
            <a:off x="11323955" y="5967095"/>
            <a:ext cx="567690" cy="578485"/>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矩形 69"/>
          <p:cNvSpPr/>
          <p:nvPr>
            <p:custDataLst>
              <p:tags r:id="rId5"/>
            </p:custDataLst>
          </p:nvPr>
        </p:nvSpPr>
        <p:spPr>
          <a:xfrm>
            <a:off x="11001375" y="5967095"/>
            <a:ext cx="223520" cy="578485"/>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2" name="图片 101" descr="微信图片_20210702102959"/>
          <p:cNvPicPr>
            <a:picLocks noChangeAspect="1"/>
          </p:cNvPicPr>
          <p:nvPr>
            <p:custDataLst>
              <p:tags r:id="rId6"/>
            </p:custDataLst>
          </p:nvPr>
        </p:nvPicPr>
        <p:blipFill>
          <a:blip r:embed="rId7"/>
          <a:stretch>
            <a:fillRect/>
          </a:stretch>
        </p:blipFill>
        <p:spPr>
          <a:xfrm>
            <a:off x="11398250" y="6079490"/>
            <a:ext cx="414655" cy="353695"/>
          </a:xfrm>
          <a:prstGeom prst="rect">
            <a:avLst/>
          </a:prstGeom>
        </p:spPr>
      </p:pic>
      <p:grpSp>
        <p:nvGrpSpPr>
          <p:cNvPr id="3" name="组合 2"/>
          <p:cNvGrpSpPr/>
          <p:nvPr>
            <p:custDataLst>
              <p:tags r:id="rId8"/>
            </p:custDataLst>
          </p:nvPr>
        </p:nvGrpSpPr>
        <p:grpSpPr>
          <a:xfrm>
            <a:off x="705537" y="1364913"/>
            <a:ext cx="4447034" cy="4431339"/>
            <a:chOff x="705537" y="1364913"/>
            <a:chExt cx="4447034" cy="4431339"/>
          </a:xfrm>
        </p:grpSpPr>
        <p:sp>
          <p:nvSpPr>
            <p:cNvPr id="4" name="Freeform 2"/>
            <p:cNvSpPr/>
            <p:nvPr>
              <p:custDataLst>
                <p:tags r:id="rId9"/>
              </p:custDataLst>
            </p:nvPr>
          </p:nvSpPr>
          <p:spPr bwMode="auto">
            <a:xfrm>
              <a:off x="2905713" y="1562337"/>
              <a:ext cx="1599389" cy="1404539"/>
            </a:xfrm>
            <a:custGeom>
              <a:avLst/>
              <a:gdLst>
                <a:gd name="T0" fmla="*/ 503 w 644"/>
                <a:gd name="T1" fmla="*/ 292 h 566"/>
                <a:gd name="T2" fmla="*/ 464 w 644"/>
                <a:gd name="T3" fmla="*/ 219 h 566"/>
                <a:gd name="T4" fmla="*/ 389 w 644"/>
                <a:gd name="T5" fmla="*/ 79 h 566"/>
                <a:gd name="T6" fmla="*/ 366 w 644"/>
                <a:gd name="T7" fmla="*/ 47 h 566"/>
                <a:gd name="T8" fmla="*/ 221 w 644"/>
                <a:gd name="T9" fmla="*/ 10 h 566"/>
                <a:gd name="T10" fmla="*/ 20 w 644"/>
                <a:gd name="T11" fmla="*/ 207 h 566"/>
                <a:gd name="T12" fmla="*/ 2 w 644"/>
                <a:gd name="T13" fmla="*/ 239 h 566"/>
                <a:gd name="T14" fmla="*/ 140 w 644"/>
                <a:gd name="T15" fmla="*/ 496 h 566"/>
                <a:gd name="T16" fmla="*/ 21 w 644"/>
                <a:gd name="T17" fmla="*/ 563 h 566"/>
                <a:gd name="T18" fmla="*/ 443 w 644"/>
                <a:gd name="T19" fmla="*/ 566 h 566"/>
                <a:gd name="T20" fmla="*/ 644 w 644"/>
                <a:gd name="T21" fmla="*/ 213 h 566"/>
                <a:gd name="T22" fmla="*/ 503 w 644"/>
                <a:gd name="T23" fmla="*/ 292 h 5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44" h="566">
                  <a:moveTo>
                    <a:pt x="503" y="292"/>
                  </a:moveTo>
                  <a:cubicBezTo>
                    <a:pt x="490" y="268"/>
                    <a:pt x="477" y="243"/>
                    <a:pt x="464" y="219"/>
                  </a:cubicBezTo>
                  <a:cubicBezTo>
                    <a:pt x="439" y="173"/>
                    <a:pt x="413" y="126"/>
                    <a:pt x="389" y="79"/>
                  </a:cubicBezTo>
                  <a:cubicBezTo>
                    <a:pt x="383" y="66"/>
                    <a:pt x="375" y="56"/>
                    <a:pt x="366" y="47"/>
                  </a:cubicBezTo>
                  <a:cubicBezTo>
                    <a:pt x="330" y="8"/>
                    <a:pt x="277" y="0"/>
                    <a:pt x="221" y="10"/>
                  </a:cubicBezTo>
                  <a:cubicBezTo>
                    <a:pt x="111" y="29"/>
                    <a:pt x="69" y="120"/>
                    <a:pt x="20" y="207"/>
                  </a:cubicBezTo>
                  <a:cubicBezTo>
                    <a:pt x="19" y="210"/>
                    <a:pt x="0" y="236"/>
                    <a:pt x="2" y="239"/>
                  </a:cubicBezTo>
                  <a:cubicBezTo>
                    <a:pt x="2" y="239"/>
                    <a:pt x="140" y="496"/>
                    <a:pt x="140" y="496"/>
                  </a:cubicBezTo>
                  <a:cubicBezTo>
                    <a:pt x="21" y="563"/>
                    <a:pt x="21" y="563"/>
                    <a:pt x="21" y="563"/>
                  </a:cubicBezTo>
                  <a:cubicBezTo>
                    <a:pt x="443" y="566"/>
                    <a:pt x="443" y="566"/>
                    <a:pt x="443" y="566"/>
                  </a:cubicBezTo>
                  <a:cubicBezTo>
                    <a:pt x="644" y="213"/>
                    <a:pt x="644" y="213"/>
                    <a:pt x="644" y="213"/>
                  </a:cubicBezTo>
                  <a:lnTo>
                    <a:pt x="503" y="292"/>
                  </a:lnTo>
                  <a:close/>
                </a:path>
              </a:pathLst>
            </a:custGeom>
            <a:solidFill>
              <a:srgbClr val="BC1B21"/>
            </a:solidFill>
            <a:ln w="3175">
              <a:solidFill>
                <a:schemeClr val="bg1"/>
              </a:solidFill>
            </a:ln>
            <a:effectLst>
              <a:outerShdw blurRad="50800" dist="38100" dir="5400000" algn="t" rotWithShape="0">
                <a:schemeClr val="accent2">
                  <a:lumMod val="60000"/>
                  <a:lumOff val="40000"/>
                  <a:alpha val="3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600">
                <a:solidFill>
                  <a:schemeClr val="lt1"/>
                </a:solidFill>
                <a:latin typeface="+mj-ea"/>
                <a:ea typeface="+mj-ea"/>
              </a:endParaRPr>
            </a:p>
          </p:txBody>
        </p:sp>
        <p:sp>
          <p:nvSpPr>
            <p:cNvPr id="5" name="Freeform 3"/>
            <p:cNvSpPr/>
            <p:nvPr>
              <p:custDataLst>
                <p:tags r:id="rId10"/>
              </p:custDataLst>
            </p:nvPr>
          </p:nvSpPr>
          <p:spPr bwMode="auto">
            <a:xfrm>
              <a:off x="1387510" y="1499416"/>
              <a:ext cx="2005326" cy="1528351"/>
            </a:xfrm>
            <a:custGeom>
              <a:avLst/>
              <a:gdLst>
                <a:gd name="T0" fmla="*/ 667 w 808"/>
                <a:gd name="T1" fmla="*/ 109 h 616"/>
                <a:gd name="T2" fmla="*/ 688 w 808"/>
                <a:gd name="T3" fmla="*/ 83 h 616"/>
                <a:gd name="T4" fmla="*/ 808 w 808"/>
                <a:gd name="T5" fmla="*/ 9 h 616"/>
                <a:gd name="T6" fmla="*/ 752 w 808"/>
                <a:gd name="T7" fmla="*/ 7 h 616"/>
                <a:gd name="T8" fmla="*/ 395 w 808"/>
                <a:gd name="T9" fmla="*/ 2 h 616"/>
                <a:gd name="T10" fmla="*/ 165 w 808"/>
                <a:gd name="T11" fmla="*/ 108 h 616"/>
                <a:gd name="T12" fmla="*/ 0 w 808"/>
                <a:gd name="T13" fmla="*/ 408 h 616"/>
                <a:gd name="T14" fmla="*/ 379 w 808"/>
                <a:gd name="T15" fmla="*/ 616 h 616"/>
                <a:gd name="T16" fmla="*/ 463 w 808"/>
                <a:gd name="T17" fmla="*/ 468 h 616"/>
                <a:gd name="T18" fmla="*/ 608 w 808"/>
                <a:gd name="T19" fmla="*/ 211 h 616"/>
                <a:gd name="T20" fmla="*/ 667 w 808"/>
                <a:gd name="T21" fmla="*/ 109 h 6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08" h="616">
                  <a:moveTo>
                    <a:pt x="667" y="109"/>
                  </a:moveTo>
                  <a:cubicBezTo>
                    <a:pt x="673" y="100"/>
                    <a:pt x="680" y="91"/>
                    <a:pt x="688" y="83"/>
                  </a:cubicBezTo>
                  <a:cubicBezTo>
                    <a:pt x="715" y="55"/>
                    <a:pt x="767" y="9"/>
                    <a:pt x="808" y="9"/>
                  </a:cubicBezTo>
                  <a:cubicBezTo>
                    <a:pt x="777" y="9"/>
                    <a:pt x="752" y="7"/>
                    <a:pt x="752" y="7"/>
                  </a:cubicBezTo>
                  <a:cubicBezTo>
                    <a:pt x="752" y="7"/>
                    <a:pt x="534" y="5"/>
                    <a:pt x="395" y="2"/>
                  </a:cubicBezTo>
                  <a:cubicBezTo>
                    <a:pt x="286" y="0"/>
                    <a:pt x="206" y="49"/>
                    <a:pt x="165" y="108"/>
                  </a:cubicBezTo>
                  <a:cubicBezTo>
                    <a:pt x="0" y="408"/>
                    <a:pt x="0" y="408"/>
                    <a:pt x="0" y="408"/>
                  </a:cubicBezTo>
                  <a:cubicBezTo>
                    <a:pt x="379" y="616"/>
                    <a:pt x="379" y="616"/>
                    <a:pt x="379" y="616"/>
                  </a:cubicBezTo>
                  <a:cubicBezTo>
                    <a:pt x="407" y="566"/>
                    <a:pt x="435" y="517"/>
                    <a:pt x="463" y="468"/>
                  </a:cubicBezTo>
                  <a:cubicBezTo>
                    <a:pt x="511" y="383"/>
                    <a:pt x="560" y="297"/>
                    <a:pt x="608" y="211"/>
                  </a:cubicBezTo>
                  <a:cubicBezTo>
                    <a:pt x="628" y="177"/>
                    <a:pt x="644" y="141"/>
                    <a:pt x="667" y="109"/>
                  </a:cubicBezTo>
                  <a:close/>
                </a:path>
              </a:pathLst>
            </a:custGeom>
            <a:solidFill>
              <a:schemeClr val="tx1">
                <a:lumMod val="85000"/>
                <a:lumOff val="15000"/>
              </a:schemeClr>
            </a:solidFill>
            <a:ln>
              <a:noFill/>
            </a:ln>
          </p:spPr>
          <p:txBody>
            <a:bodyPr vert="horz" wrap="square" lIns="121920" tIns="60960" rIns="121920" bIns="60960" numCol="1" anchor="t" anchorCtr="0" compatLnSpc="1">
              <a:noAutofit/>
            </a:bodyPr>
            <a:lstStyle/>
            <a:p>
              <a:endParaRPr lang="en-US" sz="2400"/>
            </a:p>
          </p:txBody>
        </p:sp>
        <p:sp>
          <p:nvSpPr>
            <p:cNvPr id="35" name="Freeform 4"/>
            <p:cNvSpPr/>
            <p:nvPr>
              <p:custDataLst>
                <p:tags r:id="rId11"/>
              </p:custDataLst>
            </p:nvPr>
          </p:nvSpPr>
          <p:spPr bwMode="auto">
            <a:xfrm>
              <a:off x="2944277" y="4026370"/>
              <a:ext cx="1560826" cy="1769882"/>
            </a:xfrm>
            <a:custGeom>
              <a:avLst/>
              <a:gdLst>
                <a:gd name="T0" fmla="*/ 210 w 629"/>
                <a:gd name="T1" fmla="*/ 552 h 714"/>
                <a:gd name="T2" fmla="*/ 292 w 629"/>
                <a:gd name="T3" fmla="*/ 554 h 714"/>
                <a:gd name="T4" fmla="*/ 451 w 629"/>
                <a:gd name="T5" fmla="*/ 557 h 714"/>
                <a:gd name="T6" fmla="*/ 491 w 629"/>
                <a:gd name="T7" fmla="*/ 552 h 714"/>
                <a:gd name="T8" fmla="*/ 593 w 629"/>
                <a:gd name="T9" fmla="*/ 444 h 714"/>
                <a:gd name="T10" fmla="*/ 519 w 629"/>
                <a:gd name="T11" fmla="*/ 172 h 714"/>
                <a:gd name="T12" fmla="*/ 500 w 629"/>
                <a:gd name="T13" fmla="*/ 140 h 714"/>
                <a:gd name="T14" fmla="*/ 208 w 629"/>
                <a:gd name="T15" fmla="*/ 136 h 714"/>
                <a:gd name="T16" fmla="*/ 208 w 629"/>
                <a:gd name="T17" fmla="*/ 0 h 714"/>
                <a:gd name="T18" fmla="*/ 0 w 629"/>
                <a:gd name="T19" fmla="*/ 366 h 714"/>
                <a:gd name="T20" fmla="*/ 210 w 629"/>
                <a:gd name="T21" fmla="*/ 714 h 714"/>
                <a:gd name="T22" fmla="*/ 210 w 629"/>
                <a:gd name="T23" fmla="*/ 552 h 7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29" h="714">
                  <a:moveTo>
                    <a:pt x="210" y="552"/>
                  </a:moveTo>
                  <a:cubicBezTo>
                    <a:pt x="237" y="553"/>
                    <a:pt x="265" y="553"/>
                    <a:pt x="292" y="554"/>
                  </a:cubicBezTo>
                  <a:cubicBezTo>
                    <a:pt x="345" y="554"/>
                    <a:pt x="398" y="555"/>
                    <a:pt x="451" y="557"/>
                  </a:cubicBezTo>
                  <a:cubicBezTo>
                    <a:pt x="465" y="557"/>
                    <a:pt x="478" y="556"/>
                    <a:pt x="491" y="552"/>
                  </a:cubicBezTo>
                  <a:cubicBezTo>
                    <a:pt x="541" y="539"/>
                    <a:pt x="575" y="497"/>
                    <a:pt x="593" y="444"/>
                  </a:cubicBezTo>
                  <a:cubicBezTo>
                    <a:pt x="629" y="340"/>
                    <a:pt x="570" y="257"/>
                    <a:pt x="519" y="172"/>
                  </a:cubicBezTo>
                  <a:cubicBezTo>
                    <a:pt x="513" y="162"/>
                    <a:pt x="506" y="151"/>
                    <a:pt x="500" y="140"/>
                  </a:cubicBezTo>
                  <a:cubicBezTo>
                    <a:pt x="208" y="136"/>
                    <a:pt x="208" y="136"/>
                    <a:pt x="208" y="136"/>
                  </a:cubicBezTo>
                  <a:cubicBezTo>
                    <a:pt x="208" y="0"/>
                    <a:pt x="208" y="0"/>
                    <a:pt x="208" y="0"/>
                  </a:cubicBezTo>
                  <a:cubicBezTo>
                    <a:pt x="0" y="366"/>
                    <a:pt x="0" y="366"/>
                    <a:pt x="0" y="366"/>
                  </a:cubicBezTo>
                  <a:cubicBezTo>
                    <a:pt x="210" y="714"/>
                    <a:pt x="210" y="714"/>
                    <a:pt x="210" y="714"/>
                  </a:cubicBezTo>
                  <a:lnTo>
                    <a:pt x="210" y="552"/>
                  </a:lnTo>
                  <a:close/>
                </a:path>
              </a:pathLst>
            </a:custGeom>
            <a:solidFill>
              <a:srgbClr val="BC1B21"/>
            </a:solidFill>
            <a:ln w="3175">
              <a:solidFill>
                <a:schemeClr val="bg1"/>
              </a:solidFill>
            </a:ln>
            <a:effectLst>
              <a:outerShdw blurRad="50800" dist="38100" dir="5400000" algn="t" rotWithShape="0">
                <a:schemeClr val="accent2">
                  <a:lumMod val="60000"/>
                  <a:lumOff val="40000"/>
                  <a:alpha val="3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600">
                <a:solidFill>
                  <a:schemeClr val="lt1"/>
                </a:solidFill>
                <a:latin typeface="+mj-ea"/>
                <a:ea typeface="+mj-ea"/>
              </a:endParaRPr>
            </a:p>
          </p:txBody>
        </p:sp>
        <p:sp>
          <p:nvSpPr>
            <p:cNvPr id="36" name="Freeform 5"/>
            <p:cNvSpPr/>
            <p:nvPr>
              <p:custDataLst>
                <p:tags r:id="rId12"/>
              </p:custDataLst>
            </p:nvPr>
          </p:nvSpPr>
          <p:spPr bwMode="auto">
            <a:xfrm>
              <a:off x="3705407" y="2869450"/>
              <a:ext cx="1447164" cy="2234679"/>
            </a:xfrm>
            <a:custGeom>
              <a:avLst/>
              <a:gdLst>
                <a:gd name="T0" fmla="*/ 302 w 583"/>
                <a:gd name="T1" fmla="*/ 729 h 901"/>
                <a:gd name="T2" fmla="*/ 318 w 583"/>
                <a:gd name="T3" fmla="*/ 770 h 901"/>
                <a:gd name="T4" fmla="*/ 321 w 583"/>
                <a:gd name="T5" fmla="*/ 901 h 901"/>
                <a:gd name="T6" fmla="*/ 350 w 583"/>
                <a:gd name="T7" fmla="*/ 852 h 901"/>
                <a:gd name="T8" fmla="*/ 528 w 583"/>
                <a:gd name="T9" fmla="*/ 542 h 901"/>
                <a:gd name="T10" fmla="*/ 548 w 583"/>
                <a:gd name="T11" fmla="*/ 290 h 901"/>
                <a:gd name="T12" fmla="*/ 366 w 583"/>
                <a:gd name="T13" fmla="*/ 0 h 901"/>
                <a:gd name="T14" fmla="*/ 0 w 583"/>
                <a:gd name="T15" fmla="*/ 230 h 901"/>
                <a:gd name="T16" fmla="*/ 95 w 583"/>
                <a:gd name="T17" fmla="*/ 387 h 901"/>
                <a:gd name="T18" fmla="*/ 254 w 583"/>
                <a:gd name="T19" fmla="*/ 647 h 901"/>
                <a:gd name="T20" fmla="*/ 302 w 583"/>
                <a:gd name="T21" fmla="*/ 729 h 9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83" h="901">
                  <a:moveTo>
                    <a:pt x="302" y="729"/>
                  </a:moveTo>
                  <a:cubicBezTo>
                    <a:pt x="308" y="742"/>
                    <a:pt x="314" y="756"/>
                    <a:pt x="318" y="770"/>
                  </a:cubicBezTo>
                  <a:cubicBezTo>
                    <a:pt x="327" y="804"/>
                    <a:pt x="339" y="868"/>
                    <a:pt x="321" y="901"/>
                  </a:cubicBezTo>
                  <a:cubicBezTo>
                    <a:pt x="337" y="873"/>
                    <a:pt x="350" y="852"/>
                    <a:pt x="350" y="852"/>
                  </a:cubicBezTo>
                  <a:cubicBezTo>
                    <a:pt x="350" y="852"/>
                    <a:pt x="458" y="663"/>
                    <a:pt x="528" y="542"/>
                  </a:cubicBezTo>
                  <a:cubicBezTo>
                    <a:pt x="583" y="449"/>
                    <a:pt x="580" y="355"/>
                    <a:pt x="548" y="290"/>
                  </a:cubicBezTo>
                  <a:cubicBezTo>
                    <a:pt x="366" y="0"/>
                    <a:pt x="366" y="0"/>
                    <a:pt x="366" y="0"/>
                  </a:cubicBezTo>
                  <a:cubicBezTo>
                    <a:pt x="0" y="230"/>
                    <a:pt x="0" y="230"/>
                    <a:pt x="0" y="230"/>
                  </a:cubicBezTo>
                  <a:cubicBezTo>
                    <a:pt x="32" y="282"/>
                    <a:pt x="64" y="334"/>
                    <a:pt x="95" y="387"/>
                  </a:cubicBezTo>
                  <a:cubicBezTo>
                    <a:pt x="148" y="474"/>
                    <a:pt x="201" y="561"/>
                    <a:pt x="254" y="647"/>
                  </a:cubicBezTo>
                  <a:cubicBezTo>
                    <a:pt x="271" y="674"/>
                    <a:pt x="288" y="700"/>
                    <a:pt x="302" y="729"/>
                  </a:cubicBezTo>
                  <a:close/>
                </a:path>
              </a:pathLst>
            </a:custGeom>
            <a:solidFill>
              <a:schemeClr val="tx1">
                <a:lumMod val="85000"/>
                <a:lumOff val="15000"/>
              </a:schemeClr>
            </a:solidFill>
            <a:ln>
              <a:noFill/>
            </a:ln>
          </p:spPr>
          <p:txBody>
            <a:bodyPr vert="horz" wrap="square" lIns="121920" tIns="60960" rIns="121920" bIns="60960" numCol="1" anchor="t" anchorCtr="0" compatLnSpc="1">
              <a:noAutofit/>
            </a:bodyPr>
            <a:lstStyle/>
            <a:p>
              <a:endParaRPr lang="en-US" sz="2400"/>
            </a:p>
          </p:txBody>
        </p:sp>
        <p:sp>
          <p:nvSpPr>
            <p:cNvPr id="37" name="Freeform 6"/>
            <p:cNvSpPr/>
            <p:nvPr>
              <p:custDataLst>
                <p:tags r:id="rId13"/>
              </p:custDataLst>
            </p:nvPr>
          </p:nvSpPr>
          <p:spPr bwMode="auto">
            <a:xfrm>
              <a:off x="705537" y="2938461"/>
              <a:ext cx="1575033" cy="1378153"/>
            </a:xfrm>
            <a:custGeom>
              <a:avLst/>
              <a:gdLst>
                <a:gd name="T0" fmla="*/ 164 w 635"/>
                <a:gd name="T1" fmla="*/ 85 h 555"/>
                <a:gd name="T2" fmla="*/ 119 w 635"/>
                <a:gd name="T3" fmla="*/ 154 h 555"/>
                <a:gd name="T4" fmla="*/ 33 w 635"/>
                <a:gd name="T5" fmla="*/ 288 h 555"/>
                <a:gd name="T6" fmla="*/ 16 w 635"/>
                <a:gd name="T7" fmla="*/ 324 h 555"/>
                <a:gd name="T8" fmla="*/ 55 w 635"/>
                <a:gd name="T9" fmla="*/ 468 h 555"/>
                <a:gd name="T10" fmla="*/ 169 w 635"/>
                <a:gd name="T11" fmla="*/ 540 h 555"/>
                <a:gd name="T12" fmla="*/ 361 w 635"/>
                <a:gd name="T13" fmla="*/ 550 h 555"/>
                <a:gd name="T14" fmla="*/ 519 w 635"/>
                <a:gd name="T15" fmla="*/ 302 h 555"/>
                <a:gd name="T16" fmla="*/ 635 w 635"/>
                <a:gd name="T17" fmla="*/ 373 h 555"/>
                <a:gd name="T18" fmla="*/ 432 w 635"/>
                <a:gd name="T19" fmla="*/ 4 h 555"/>
                <a:gd name="T20" fmla="*/ 26 w 635"/>
                <a:gd name="T21" fmla="*/ 0 h 555"/>
                <a:gd name="T22" fmla="*/ 164 w 635"/>
                <a:gd name="T23" fmla="*/ 85 h 5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35" h="555">
                  <a:moveTo>
                    <a:pt x="164" y="85"/>
                  </a:moveTo>
                  <a:cubicBezTo>
                    <a:pt x="149" y="108"/>
                    <a:pt x="134" y="131"/>
                    <a:pt x="119" y="154"/>
                  </a:cubicBezTo>
                  <a:cubicBezTo>
                    <a:pt x="91" y="199"/>
                    <a:pt x="63" y="244"/>
                    <a:pt x="33" y="288"/>
                  </a:cubicBezTo>
                  <a:cubicBezTo>
                    <a:pt x="25" y="300"/>
                    <a:pt x="20" y="312"/>
                    <a:pt x="16" y="324"/>
                  </a:cubicBezTo>
                  <a:cubicBezTo>
                    <a:pt x="0" y="374"/>
                    <a:pt x="19" y="424"/>
                    <a:pt x="55" y="468"/>
                  </a:cubicBezTo>
                  <a:cubicBezTo>
                    <a:pt x="84" y="504"/>
                    <a:pt x="124" y="528"/>
                    <a:pt x="169" y="540"/>
                  </a:cubicBezTo>
                  <a:cubicBezTo>
                    <a:pt x="223" y="555"/>
                    <a:pt x="355" y="550"/>
                    <a:pt x="361" y="550"/>
                  </a:cubicBezTo>
                  <a:cubicBezTo>
                    <a:pt x="519" y="302"/>
                    <a:pt x="519" y="302"/>
                    <a:pt x="519" y="302"/>
                  </a:cubicBezTo>
                  <a:cubicBezTo>
                    <a:pt x="635" y="373"/>
                    <a:pt x="635" y="373"/>
                    <a:pt x="635" y="373"/>
                  </a:cubicBezTo>
                  <a:cubicBezTo>
                    <a:pt x="432" y="4"/>
                    <a:pt x="432" y="4"/>
                    <a:pt x="432" y="4"/>
                  </a:cubicBezTo>
                  <a:cubicBezTo>
                    <a:pt x="26" y="0"/>
                    <a:pt x="26" y="0"/>
                    <a:pt x="26" y="0"/>
                  </a:cubicBezTo>
                  <a:lnTo>
                    <a:pt x="164" y="85"/>
                  </a:lnTo>
                  <a:close/>
                </a:path>
              </a:pathLst>
            </a:custGeom>
            <a:solidFill>
              <a:srgbClr val="BC1B21"/>
            </a:solidFill>
            <a:ln w="3175">
              <a:solidFill>
                <a:schemeClr val="bg1"/>
              </a:solidFill>
            </a:ln>
            <a:effectLst>
              <a:outerShdw blurRad="50800" dist="38100" dir="5400000" algn="t" rotWithShape="0">
                <a:schemeClr val="accent2">
                  <a:lumMod val="60000"/>
                  <a:lumOff val="40000"/>
                  <a:alpha val="3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600">
                <a:solidFill>
                  <a:schemeClr val="lt1"/>
                </a:solidFill>
                <a:latin typeface="+mj-ea"/>
                <a:ea typeface="+mj-ea"/>
              </a:endParaRPr>
            </a:p>
          </p:txBody>
        </p:sp>
        <p:sp>
          <p:nvSpPr>
            <p:cNvPr id="38" name="Freeform 7"/>
            <p:cNvSpPr/>
            <p:nvPr>
              <p:custDataLst>
                <p:tags r:id="rId14"/>
              </p:custDataLst>
            </p:nvPr>
          </p:nvSpPr>
          <p:spPr bwMode="auto">
            <a:xfrm>
              <a:off x="815140" y="4186715"/>
              <a:ext cx="1842951" cy="1272611"/>
            </a:xfrm>
            <a:custGeom>
              <a:avLst/>
              <a:gdLst>
                <a:gd name="T0" fmla="*/ 0 w 743"/>
                <a:gd name="T1" fmla="*/ 0 h 513"/>
                <a:gd name="T2" fmla="*/ 26 w 743"/>
                <a:gd name="T3" fmla="*/ 49 h 513"/>
                <a:gd name="T4" fmla="*/ 196 w 743"/>
                <a:gd name="T5" fmla="*/ 364 h 513"/>
                <a:gd name="T6" fmla="*/ 400 w 743"/>
                <a:gd name="T7" fmla="*/ 513 h 513"/>
                <a:gd name="T8" fmla="*/ 743 w 743"/>
                <a:gd name="T9" fmla="*/ 511 h 513"/>
                <a:gd name="T10" fmla="*/ 739 w 743"/>
                <a:gd name="T11" fmla="*/ 78 h 513"/>
                <a:gd name="T12" fmla="*/ 689 w 743"/>
                <a:gd name="T13" fmla="*/ 78 h 513"/>
                <a:gd name="T14" fmla="*/ 565 w 743"/>
                <a:gd name="T15" fmla="*/ 78 h 513"/>
                <a:gd name="T16" fmla="*/ 412 w 743"/>
                <a:gd name="T17" fmla="*/ 77 h 513"/>
                <a:gd name="T18" fmla="*/ 268 w 743"/>
                <a:gd name="T19" fmla="*/ 76 h 513"/>
                <a:gd name="T20" fmla="*/ 89 w 743"/>
                <a:gd name="T21" fmla="*/ 56 h 513"/>
                <a:gd name="T22" fmla="*/ 43 w 743"/>
                <a:gd name="T23" fmla="*/ 34 h 513"/>
                <a:gd name="T24" fmla="*/ 0 w 743"/>
                <a:gd name="T25" fmla="*/ 0 h 5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43" h="513">
                  <a:moveTo>
                    <a:pt x="0" y="0"/>
                  </a:moveTo>
                  <a:cubicBezTo>
                    <a:pt x="15" y="27"/>
                    <a:pt x="26" y="49"/>
                    <a:pt x="26" y="49"/>
                  </a:cubicBezTo>
                  <a:cubicBezTo>
                    <a:pt x="26" y="49"/>
                    <a:pt x="131" y="241"/>
                    <a:pt x="196" y="364"/>
                  </a:cubicBezTo>
                  <a:cubicBezTo>
                    <a:pt x="247" y="460"/>
                    <a:pt x="329" y="506"/>
                    <a:pt x="400" y="513"/>
                  </a:cubicBezTo>
                  <a:cubicBezTo>
                    <a:pt x="743" y="511"/>
                    <a:pt x="743" y="511"/>
                    <a:pt x="743" y="511"/>
                  </a:cubicBezTo>
                  <a:cubicBezTo>
                    <a:pt x="739" y="78"/>
                    <a:pt x="739" y="78"/>
                    <a:pt x="739" y="78"/>
                  </a:cubicBezTo>
                  <a:cubicBezTo>
                    <a:pt x="723" y="78"/>
                    <a:pt x="706" y="78"/>
                    <a:pt x="689" y="78"/>
                  </a:cubicBezTo>
                  <a:cubicBezTo>
                    <a:pt x="648" y="78"/>
                    <a:pt x="607" y="78"/>
                    <a:pt x="565" y="78"/>
                  </a:cubicBezTo>
                  <a:cubicBezTo>
                    <a:pt x="514" y="77"/>
                    <a:pt x="463" y="77"/>
                    <a:pt x="412" y="77"/>
                  </a:cubicBezTo>
                  <a:cubicBezTo>
                    <a:pt x="364" y="77"/>
                    <a:pt x="316" y="76"/>
                    <a:pt x="268" y="76"/>
                  </a:cubicBezTo>
                  <a:cubicBezTo>
                    <a:pt x="207" y="76"/>
                    <a:pt x="147" y="79"/>
                    <a:pt x="89" y="56"/>
                  </a:cubicBezTo>
                  <a:cubicBezTo>
                    <a:pt x="73" y="50"/>
                    <a:pt x="58" y="42"/>
                    <a:pt x="43" y="34"/>
                  </a:cubicBezTo>
                  <a:cubicBezTo>
                    <a:pt x="30" y="26"/>
                    <a:pt x="8" y="13"/>
                    <a:pt x="0" y="0"/>
                  </a:cubicBezTo>
                  <a:close/>
                </a:path>
              </a:pathLst>
            </a:custGeom>
            <a:solidFill>
              <a:schemeClr val="tx1">
                <a:lumMod val="85000"/>
                <a:lumOff val="15000"/>
              </a:schemeClr>
            </a:solidFill>
            <a:ln>
              <a:noFill/>
            </a:ln>
          </p:spPr>
          <p:txBody>
            <a:bodyPr vert="horz" wrap="square" lIns="121920" tIns="60960" rIns="121920" bIns="60960" numCol="1" anchor="t" anchorCtr="0" compatLnSpc="1">
              <a:noAutofit/>
            </a:bodyPr>
            <a:lstStyle/>
            <a:p>
              <a:endParaRPr lang="en-US" sz="2400"/>
            </a:p>
          </p:txBody>
        </p:sp>
        <p:sp>
          <p:nvSpPr>
            <p:cNvPr id="63" name="@稿定PPT实验室 出品-15-1"/>
            <p:cNvSpPr txBox="1"/>
            <p:nvPr>
              <p:custDataLst>
                <p:tags r:id="rId15"/>
              </p:custDataLst>
            </p:nvPr>
          </p:nvSpPr>
          <p:spPr>
            <a:xfrm rot="18116455">
              <a:off x="1615788" y="1725052"/>
              <a:ext cx="1334772" cy="614493"/>
            </a:xfrm>
            <a:prstGeom prst="rect">
              <a:avLst/>
            </a:prstGeom>
            <a:noFill/>
            <a:ln>
              <a:noFill/>
            </a:ln>
            <a:effectLst/>
          </p:spPr>
          <p:txBody>
            <a:bodyPr wrap="square" lIns="64008" tIns="32004" rIns="64008" bIns="32004" anchor="ctr" anchorCtr="0">
              <a:noAutofit/>
            </a:bodyPr>
            <a:lstStyle/>
            <a:p>
              <a:pPr marL="0" marR="0" lvl="0" indent="0" defTabSz="913765" rtl="0" eaLnBrk="1" fontAlgn="auto" latinLnBrk="0" hangingPunct="1">
                <a:lnSpc>
                  <a:spcPct val="100000"/>
                </a:lnSpc>
                <a:spcBef>
                  <a:spcPts val="0"/>
                </a:spcBef>
                <a:buClrTx/>
                <a:buSzPct val="25000"/>
                <a:buFontTx/>
                <a:buNone/>
                <a:defRPr/>
              </a:pPr>
              <a:r>
                <a:rPr lang="zh-CN" altLang="en-US" b="1" noProof="0" dirty="0">
                  <a:solidFill>
                    <a:schemeClr val="bg1"/>
                  </a:solidFill>
                  <a:latin typeface="+mj-ea"/>
                  <a:ea typeface="+mj-ea"/>
                </a:rPr>
                <a:t>目标分解</a:t>
              </a:r>
              <a:endParaRPr kumimoji="0" lang="zh-CN" altLang="en-US" b="1" i="0" u="none" strike="noStrike" kern="1200" cap="none" spc="0" normalizeH="0" baseline="0" noProof="0" dirty="0">
                <a:ln>
                  <a:noFill/>
                </a:ln>
                <a:solidFill>
                  <a:schemeClr val="bg1"/>
                </a:solidFill>
                <a:effectLst/>
                <a:uLnTx/>
                <a:uFillTx/>
                <a:latin typeface="+mj-ea"/>
                <a:ea typeface="+mj-ea"/>
              </a:endParaRPr>
            </a:p>
          </p:txBody>
        </p:sp>
        <p:sp>
          <p:nvSpPr>
            <p:cNvPr id="64" name="@稿定PPT实验室 出品-15-1"/>
            <p:cNvSpPr txBox="1"/>
            <p:nvPr>
              <p:custDataLst>
                <p:tags r:id="rId16"/>
              </p:custDataLst>
            </p:nvPr>
          </p:nvSpPr>
          <p:spPr>
            <a:xfrm rot="3625981">
              <a:off x="3974505" y="3473708"/>
              <a:ext cx="1181111" cy="614493"/>
            </a:xfrm>
            <a:prstGeom prst="rect">
              <a:avLst/>
            </a:prstGeom>
            <a:noFill/>
            <a:ln>
              <a:noFill/>
            </a:ln>
            <a:effectLst/>
          </p:spPr>
          <p:txBody>
            <a:bodyPr wrap="square" lIns="64008" tIns="32004" rIns="64008" bIns="32004" anchor="ctr" anchorCtr="0">
              <a:noAutofit/>
            </a:bodyPr>
            <a:lstStyle/>
            <a:p>
              <a:pPr marL="0" marR="0" lvl="0" indent="0" defTabSz="913765" rtl="0" eaLnBrk="1" fontAlgn="auto" latinLnBrk="0" hangingPunct="1">
                <a:lnSpc>
                  <a:spcPct val="100000"/>
                </a:lnSpc>
                <a:spcBef>
                  <a:spcPts val="0"/>
                </a:spcBef>
                <a:buClrTx/>
                <a:buSzPct val="25000"/>
                <a:buFontTx/>
                <a:buNone/>
                <a:defRPr/>
              </a:pPr>
              <a:r>
                <a:rPr lang="zh-CN" altLang="en-US" b="1" dirty="0">
                  <a:solidFill>
                    <a:schemeClr val="bg1"/>
                  </a:solidFill>
                  <a:latin typeface="+mj-ea"/>
                  <a:ea typeface="+mj-ea"/>
                </a:rPr>
                <a:t>目标分解</a:t>
              </a:r>
              <a:endParaRPr kumimoji="0" lang="zh-CN" altLang="en-US" b="1" i="0" u="none" strike="noStrike" kern="1200" cap="none" spc="0" normalizeH="0" baseline="0" noProof="0" dirty="0">
                <a:ln>
                  <a:noFill/>
                </a:ln>
                <a:solidFill>
                  <a:schemeClr val="bg1"/>
                </a:solidFill>
                <a:effectLst/>
                <a:uLnTx/>
                <a:uFillTx/>
                <a:latin typeface="+mj-ea"/>
                <a:ea typeface="+mj-ea"/>
              </a:endParaRPr>
            </a:p>
          </p:txBody>
        </p:sp>
        <p:sp>
          <p:nvSpPr>
            <p:cNvPr id="65" name="@稿定PPT实验室 出品-15-1"/>
            <p:cNvSpPr txBox="1"/>
            <p:nvPr>
              <p:custDataLst>
                <p:tags r:id="rId17"/>
              </p:custDataLst>
            </p:nvPr>
          </p:nvSpPr>
          <p:spPr>
            <a:xfrm>
              <a:off x="1467203" y="4627450"/>
              <a:ext cx="1161860" cy="521039"/>
            </a:xfrm>
            <a:prstGeom prst="rect">
              <a:avLst/>
            </a:prstGeom>
            <a:noFill/>
            <a:ln>
              <a:noFill/>
            </a:ln>
            <a:effectLst/>
          </p:spPr>
          <p:txBody>
            <a:bodyPr wrap="square" lIns="64008" tIns="32004" rIns="64008" bIns="32004" anchor="ctr" anchorCtr="0">
              <a:noAutofit/>
            </a:bodyPr>
            <a:lstStyle/>
            <a:p>
              <a:pPr marL="0" marR="0" lvl="0" indent="0" defTabSz="913765" rtl="0" eaLnBrk="1" fontAlgn="auto" latinLnBrk="0" hangingPunct="1">
                <a:lnSpc>
                  <a:spcPct val="100000"/>
                </a:lnSpc>
                <a:spcBef>
                  <a:spcPts val="0"/>
                </a:spcBef>
                <a:buClrTx/>
                <a:buSzPct val="25000"/>
                <a:buFontTx/>
                <a:buNone/>
                <a:defRPr/>
              </a:pPr>
              <a:r>
                <a:rPr lang="zh-CN" altLang="en-US" b="1" dirty="0">
                  <a:solidFill>
                    <a:schemeClr val="bg1"/>
                  </a:solidFill>
                  <a:latin typeface="+mj-ea"/>
                  <a:ea typeface="+mj-ea"/>
                </a:rPr>
                <a:t>目标分解</a:t>
              </a:r>
              <a:endParaRPr kumimoji="0" lang="zh-CN" altLang="en-US" b="1" i="0" u="none" strike="noStrike" kern="1200" cap="none" spc="0" normalizeH="0" baseline="0" noProof="0" dirty="0">
                <a:ln>
                  <a:noFill/>
                </a:ln>
                <a:solidFill>
                  <a:schemeClr val="bg1"/>
                </a:solidFill>
                <a:effectLst/>
                <a:uLnTx/>
                <a:uFillTx/>
                <a:latin typeface="+mj-ea"/>
                <a:ea typeface="+mj-ea"/>
              </a:endParaRPr>
            </a:p>
          </p:txBody>
        </p:sp>
        <p:sp>
          <p:nvSpPr>
            <p:cNvPr id="66" name="S"/>
            <p:cNvSpPr txBox="1"/>
            <p:nvPr>
              <p:custDataLst>
                <p:tags r:id="rId18"/>
              </p:custDataLst>
            </p:nvPr>
          </p:nvSpPr>
          <p:spPr>
            <a:xfrm>
              <a:off x="3423613" y="2143728"/>
              <a:ext cx="386130" cy="328295"/>
            </a:xfrm>
            <a:prstGeom prst="rect">
              <a:avLst/>
            </a:prstGeom>
            <a:ln w="12700">
              <a:miter lim="400000"/>
            </a:ln>
          </p:spPr>
          <p:txBody>
            <a:bodyPr lIns="25400" tIns="25400" rIns="25400" bIns="25400">
              <a:noAutofit/>
            </a:bodyPr>
            <a:lstStyle>
              <a:lvl1pPr defTabSz="457200">
                <a:defRPr sz="2800" b="0">
                  <a:solidFill>
                    <a:srgbClr val="F0F0F0"/>
                  </a:solidFill>
                  <a:latin typeface="Montserrat Bold"/>
                  <a:ea typeface="Montserrat Bold"/>
                  <a:cs typeface="Montserrat Bold"/>
                  <a:sym typeface="Montserrat Bold"/>
                </a:defRPr>
              </a:lvl1pPr>
            </a:lstStyle>
            <a:p>
              <a:pPr algn="ctr"/>
              <a:r>
                <a:rPr lang="en-US" altLang="zh-CN" sz="1800" dirty="0">
                  <a:solidFill>
                    <a:schemeClr val="bg1"/>
                  </a:solidFill>
                  <a:latin typeface="+mj-ea"/>
                  <a:ea typeface="+mj-ea"/>
                </a:rPr>
                <a:t>1</a:t>
              </a:r>
              <a:endParaRPr sz="1800" dirty="0">
                <a:solidFill>
                  <a:schemeClr val="bg1"/>
                </a:solidFill>
                <a:latin typeface="+mj-ea"/>
                <a:ea typeface="+mj-ea"/>
              </a:endParaRPr>
            </a:p>
          </p:txBody>
        </p:sp>
        <p:sp>
          <p:nvSpPr>
            <p:cNvPr id="67" name="S"/>
            <p:cNvSpPr txBox="1"/>
            <p:nvPr>
              <p:custDataLst>
                <p:tags r:id="rId19"/>
              </p:custDataLst>
            </p:nvPr>
          </p:nvSpPr>
          <p:spPr>
            <a:xfrm>
              <a:off x="3539725" y="4747163"/>
              <a:ext cx="386130" cy="328295"/>
            </a:xfrm>
            <a:prstGeom prst="rect">
              <a:avLst/>
            </a:prstGeom>
            <a:ln w="12700">
              <a:miter lim="400000"/>
            </a:ln>
          </p:spPr>
          <p:txBody>
            <a:bodyPr lIns="25400" tIns="25400" rIns="25400" bIns="25400">
              <a:noAutofit/>
            </a:bodyPr>
            <a:lstStyle>
              <a:lvl1pPr defTabSz="457200">
                <a:defRPr sz="2800" b="0">
                  <a:solidFill>
                    <a:srgbClr val="F0F0F0"/>
                  </a:solidFill>
                  <a:latin typeface="Montserrat Bold"/>
                  <a:ea typeface="Montserrat Bold"/>
                  <a:cs typeface="Montserrat Bold"/>
                  <a:sym typeface="Montserrat Bold"/>
                </a:defRPr>
              </a:lvl1pPr>
            </a:lstStyle>
            <a:p>
              <a:pPr algn="ctr"/>
              <a:r>
                <a:rPr lang="en-US" altLang="zh-CN" sz="1800" dirty="0">
                  <a:solidFill>
                    <a:schemeClr val="bg1"/>
                  </a:solidFill>
                  <a:latin typeface="+mj-ea"/>
                  <a:ea typeface="+mj-ea"/>
                </a:rPr>
                <a:t>2</a:t>
              </a:r>
              <a:endParaRPr sz="1800" dirty="0">
                <a:solidFill>
                  <a:schemeClr val="bg1"/>
                </a:solidFill>
                <a:latin typeface="+mj-ea"/>
                <a:ea typeface="+mj-ea"/>
              </a:endParaRPr>
            </a:p>
          </p:txBody>
        </p:sp>
        <p:sp>
          <p:nvSpPr>
            <p:cNvPr id="68" name="S"/>
            <p:cNvSpPr txBox="1"/>
            <p:nvPr>
              <p:custDataLst>
                <p:tags r:id="rId20"/>
              </p:custDataLst>
            </p:nvPr>
          </p:nvSpPr>
          <p:spPr>
            <a:xfrm>
              <a:off x="1194445" y="3478128"/>
              <a:ext cx="386130" cy="328295"/>
            </a:xfrm>
            <a:prstGeom prst="rect">
              <a:avLst/>
            </a:prstGeom>
            <a:ln w="12700">
              <a:miter lim="400000"/>
            </a:ln>
          </p:spPr>
          <p:txBody>
            <a:bodyPr lIns="25400" tIns="25400" rIns="25400" bIns="25400">
              <a:noAutofit/>
            </a:bodyPr>
            <a:lstStyle>
              <a:lvl1pPr defTabSz="457200">
                <a:defRPr sz="2800" b="0">
                  <a:solidFill>
                    <a:srgbClr val="F0F0F0"/>
                  </a:solidFill>
                  <a:latin typeface="Montserrat Bold"/>
                  <a:ea typeface="Montserrat Bold"/>
                  <a:cs typeface="Montserrat Bold"/>
                  <a:sym typeface="Montserrat Bold"/>
                </a:defRPr>
              </a:lvl1pPr>
            </a:lstStyle>
            <a:p>
              <a:pPr algn="ctr"/>
              <a:r>
                <a:rPr lang="en-US" altLang="zh-CN" sz="1800" dirty="0">
                  <a:solidFill>
                    <a:schemeClr val="bg1"/>
                  </a:solidFill>
                  <a:latin typeface="+mj-ea"/>
                  <a:ea typeface="+mj-ea"/>
                </a:rPr>
                <a:t>3</a:t>
              </a:r>
              <a:endParaRPr sz="1800" dirty="0">
                <a:solidFill>
                  <a:schemeClr val="bg1"/>
                </a:solidFill>
                <a:latin typeface="+mj-ea"/>
                <a:ea typeface="+mj-ea"/>
              </a:endParaRPr>
            </a:p>
          </p:txBody>
        </p:sp>
      </p:grpSp>
      <p:grpSp>
        <p:nvGrpSpPr>
          <p:cNvPr id="6" name="组合 5"/>
          <p:cNvGrpSpPr/>
          <p:nvPr/>
        </p:nvGrpSpPr>
        <p:grpSpPr>
          <a:xfrm>
            <a:off x="6692812" y="1673876"/>
            <a:ext cx="4823140" cy="4182856"/>
            <a:chOff x="6692812" y="1673876"/>
            <a:chExt cx="4823140" cy="4182856"/>
          </a:xfrm>
        </p:grpSpPr>
        <p:sp>
          <p:nvSpPr>
            <p:cNvPr id="31" name="任意多边形 57"/>
            <p:cNvSpPr/>
            <p:nvPr/>
          </p:nvSpPr>
          <p:spPr>
            <a:xfrm>
              <a:off x="6692812" y="1673876"/>
              <a:ext cx="4813300" cy="4182856"/>
            </a:xfrm>
            <a:custGeom>
              <a:avLst/>
              <a:gdLst>
                <a:gd name="connsiteX0" fmla="*/ 149495 w 4813300"/>
                <a:gd name="connsiteY0" fmla="*/ 0 h 4182856"/>
                <a:gd name="connsiteX1" fmla="*/ 4663805 w 4813300"/>
                <a:gd name="connsiteY1" fmla="*/ 0 h 4182856"/>
                <a:gd name="connsiteX2" fmla="*/ 4813300 w 4813300"/>
                <a:gd name="connsiteY2" fmla="*/ 149495 h 4182856"/>
                <a:gd name="connsiteX3" fmla="*/ 4813300 w 4813300"/>
                <a:gd name="connsiteY3" fmla="*/ 3904179 h 4182856"/>
                <a:gd name="connsiteX4" fmla="*/ 4770885 w 4813300"/>
                <a:gd name="connsiteY4" fmla="*/ 3925288 h 4182856"/>
                <a:gd name="connsiteX5" fmla="*/ 4546500 w 4813300"/>
                <a:gd name="connsiteY5" fmla="*/ 3952811 h 4182856"/>
                <a:gd name="connsiteX6" fmla="*/ 4498546 w 4813300"/>
                <a:gd name="connsiteY6" fmla="*/ 4146181 h 4182856"/>
                <a:gd name="connsiteX7" fmla="*/ 4471033 w 4813300"/>
                <a:gd name="connsiteY7" fmla="*/ 4182856 h 4182856"/>
                <a:gd name="connsiteX8" fmla="*/ 149495 w 4813300"/>
                <a:gd name="connsiteY8" fmla="*/ 4182856 h 4182856"/>
                <a:gd name="connsiteX9" fmla="*/ 0 w 4813300"/>
                <a:gd name="connsiteY9" fmla="*/ 4033361 h 4182856"/>
                <a:gd name="connsiteX10" fmla="*/ 0 w 4813300"/>
                <a:gd name="connsiteY10" fmla="*/ 149495 h 4182856"/>
                <a:gd name="connsiteX11" fmla="*/ 149495 w 4813300"/>
                <a:gd name="connsiteY11" fmla="*/ 0 h 4182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813300" h="4182856">
                  <a:moveTo>
                    <a:pt x="149495" y="0"/>
                  </a:moveTo>
                  <a:lnTo>
                    <a:pt x="4663805" y="0"/>
                  </a:lnTo>
                  <a:cubicBezTo>
                    <a:pt x="4746369" y="0"/>
                    <a:pt x="4813300" y="66931"/>
                    <a:pt x="4813300" y="149495"/>
                  </a:cubicBezTo>
                  <a:lnTo>
                    <a:pt x="4813300" y="3904179"/>
                  </a:lnTo>
                  <a:lnTo>
                    <a:pt x="4770885" y="3925288"/>
                  </a:lnTo>
                  <a:cubicBezTo>
                    <a:pt x="4710015" y="3945816"/>
                    <a:pt x="4624824" y="3951904"/>
                    <a:pt x="4546500" y="3952811"/>
                  </a:cubicBezTo>
                  <a:cubicBezTo>
                    <a:pt x="4545789" y="4037215"/>
                    <a:pt x="4529272" y="4096422"/>
                    <a:pt x="4498546" y="4146181"/>
                  </a:cubicBezTo>
                  <a:lnTo>
                    <a:pt x="4471033" y="4182856"/>
                  </a:lnTo>
                  <a:lnTo>
                    <a:pt x="149495" y="4182856"/>
                  </a:lnTo>
                  <a:cubicBezTo>
                    <a:pt x="66931" y="4182856"/>
                    <a:pt x="0" y="4115925"/>
                    <a:pt x="0" y="4033361"/>
                  </a:cubicBezTo>
                  <a:lnTo>
                    <a:pt x="0" y="149495"/>
                  </a:lnTo>
                  <a:cubicBezTo>
                    <a:pt x="0" y="66931"/>
                    <a:pt x="66931" y="0"/>
                    <a:pt x="149495" y="0"/>
                  </a:cubicBezTo>
                  <a:close/>
                </a:path>
              </a:pathLst>
            </a:custGeom>
            <a:solidFill>
              <a:schemeClr val="bg1"/>
            </a:solidFill>
            <a:ln>
              <a:noFill/>
            </a:ln>
            <a:effectLst>
              <a:outerShdw blurRad="673100" dist="190500" dir="5400000" sx="96000" sy="96000" algn="t" rotWithShape="0">
                <a:schemeClr val="accent1">
                  <a:lumMod val="50000"/>
                  <a:alpha val="29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solidFill>
                  <a:srgbClr val="FFFFFF"/>
                </a:solidFill>
                <a:latin typeface="思源黑体 CN Regular" panose="020B0500000000000000" pitchFamily="34" charset="-122"/>
                <a:ea typeface="思源黑体 CN Regular" panose="020B0500000000000000" pitchFamily="34" charset="-122"/>
              </a:endParaRPr>
            </a:p>
          </p:txBody>
        </p:sp>
        <p:sp>
          <p:nvSpPr>
            <p:cNvPr id="32" name="任意多边形 58"/>
            <p:cNvSpPr/>
            <p:nvPr/>
          </p:nvSpPr>
          <p:spPr>
            <a:xfrm rot="16200000">
              <a:off x="11198076" y="5537699"/>
              <a:ext cx="283776" cy="351976"/>
            </a:xfrm>
            <a:custGeom>
              <a:avLst/>
              <a:gdLst>
                <a:gd name="connsiteX0" fmla="*/ 283776 w 283776"/>
                <a:gd name="connsiteY0" fmla="*/ 351976 h 351976"/>
                <a:gd name="connsiteX1" fmla="*/ 208658 w 283776"/>
                <a:gd name="connsiteY1" fmla="*/ 351976 h 351976"/>
                <a:gd name="connsiteX2" fmla="*/ 169622 w 283776"/>
                <a:gd name="connsiteY2" fmla="*/ 338140 h 351976"/>
                <a:gd name="connsiteX3" fmla="*/ 12179 w 283776"/>
                <a:gd name="connsiteY3" fmla="*/ 158356 h 351976"/>
                <a:gd name="connsiteX4" fmla="*/ 0 w 283776"/>
                <a:gd name="connsiteY4" fmla="*/ 113552 h 351976"/>
                <a:gd name="connsiteX5" fmla="*/ 0 w 283776"/>
                <a:gd name="connsiteY5" fmla="*/ 0 h 351976"/>
                <a:gd name="connsiteX6" fmla="*/ 36675 w 283776"/>
                <a:gd name="connsiteY6" fmla="*/ 27513 h 351976"/>
                <a:gd name="connsiteX7" fmla="*/ 230045 w 283776"/>
                <a:gd name="connsiteY7" fmla="*/ 75467 h 351976"/>
                <a:gd name="connsiteX8" fmla="*/ 283252 w 283776"/>
                <a:gd name="connsiteY8" fmla="*/ 351459 h 351976"/>
                <a:gd name="connsiteX9" fmla="*/ 283776 w 283776"/>
                <a:gd name="connsiteY9" fmla="*/ 351976 h 351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83776" h="351976">
                  <a:moveTo>
                    <a:pt x="283776" y="351976"/>
                  </a:moveTo>
                  <a:lnTo>
                    <a:pt x="208658" y="351976"/>
                  </a:lnTo>
                  <a:lnTo>
                    <a:pt x="169622" y="338140"/>
                  </a:lnTo>
                  <a:cubicBezTo>
                    <a:pt x="98833" y="303949"/>
                    <a:pt x="42122" y="239191"/>
                    <a:pt x="12179" y="158356"/>
                  </a:cubicBezTo>
                  <a:lnTo>
                    <a:pt x="0" y="113552"/>
                  </a:lnTo>
                  <a:lnTo>
                    <a:pt x="0" y="0"/>
                  </a:lnTo>
                  <a:lnTo>
                    <a:pt x="36675" y="27513"/>
                  </a:lnTo>
                  <a:cubicBezTo>
                    <a:pt x="86434" y="58239"/>
                    <a:pt x="145641" y="74756"/>
                    <a:pt x="230045" y="75467"/>
                  </a:cubicBezTo>
                  <a:cubicBezTo>
                    <a:pt x="231254" y="179899"/>
                    <a:pt x="241674" y="296539"/>
                    <a:pt x="283252" y="351459"/>
                  </a:cubicBezTo>
                  <a:lnTo>
                    <a:pt x="283776" y="351976"/>
                  </a:lnTo>
                  <a:close/>
                </a:path>
              </a:pathLst>
            </a:custGeom>
            <a:gradFill flip="none" rotWithShape="1">
              <a:gsLst>
                <a:gs pos="0">
                  <a:schemeClr val="bg1">
                    <a:lumMod val="88000"/>
                    <a:lumOff val="12000"/>
                  </a:schemeClr>
                </a:gs>
                <a:gs pos="92000">
                  <a:schemeClr val="accent1"/>
                </a:gs>
                <a:gs pos="100000">
                  <a:schemeClr val="accent2"/>
                </a:gs>
              </a:gsLst>
              <a:lin ang="8100000" scaled="1"/>
              <a:tileRect/>
            </a:gradFill>
            <a:ln w="12700" cap="flat" cmpd="sng" algn="ctr">
              <a:noFill/>
              <a:prstDash val="solid"/>
              <a:miter lim="800000"/>
            </a:ln>
            <a:effectLst>
              <a:outerShdw blurRad="152400" sx="102000" sy="102000" algn="ctr" rotWithShape="0">
                <a:schemeClr val="accent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a:solidFill>
                  <a:prstClr val="white"/>
                </a:solidFill>
                <a:latin typeface="+mj-ea"/>
                <a:ea typeface="+mj-ea"/>
              </a:endParaRPr>
            </a:p>
          </p:txBody>
        </p:sp>
      </p:grpSp>
      <p:sp>
        <p:nvSpPr>
          <p:cNvPr id="9" name="椭圆 8"/>
          <p:cNvSpPr/>
          <p:nvPr>
            <p:custDataLst>
              <p:tags r:id="rId21"/>
            </p:custDataLst>
          </p:nvPr>
        </p:nvSpPr>
        <p:spPr>
          <a:xfrm>
            <a:off x="7215505" y="2106930"/>
            <a:ext cx="722630" cy="722630"/>
          </a:xfrm>
          <a:prstGeom prst="ellipse">
            <a:avLst/>
          </a:prstGeom>
          <a:solidFill>
            <a:srgbClr val="BC1B21"/>
          </a:solidFill>
          <a:ln w="3175">
            <a:solidFill>
              <a:schemeClr val="bg1"/>
            </a:solidFill>
          </a:ln>
          <a:effectLst>
            <a:outerShdw blurRad="50800" dist="38100" dir="5400000" algn="t" rotWithShape="0">
              <a:schemeClr val="accent2">
                <a:lumMod val="60000"/>
                <a:lumOff val="40000"/>
                <a:alpha val="3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en-US" altLang="zh-CN" sz="2000" dirty="0">
                <a:latin typeface="+mj-ea"/>
                <a:ea typeface="+mj-ea"/>
              </a:rPr>
              <a:t>1</a:t>
            </a:r>
            <a:endParaRPr lang="zh-CN" altLang="en-US" sz="2000" dirty="0">
              <a:latin typeface="+mj-ea"/>
              <a:ea typeface="+mj-ea"/>
            </a:endParaRPr>
          </a:p>
        </p:txBody>
      </p:sp>
      <p:sp>
        <p:nvSpPr>
          <p:cNvPr id="79" name="椭圆 78"/>
          <p:cNvSpPr/>
          <p:nvPr>
            <p:custDataLst>
              <p:tags r:id="rId22"/>
            </p:custDataLst>
          </p:nvPr>
        </p:nvSpPr>
        <p:spPr>
          <a:xfrm>
            <a:off x="7215505" y="3234690"/>
            <a:ext cx="722630" cy="722630"/>
          </a:xfrm>
          <a:prstGeom prst="ellipse">
            <a:avLst/>
          </a:prstGeom>
          <a:solidFill>
            <a:srgbClr val="BC1B21"/>
          </a:solidFill>
          <a:ln w="3175">
            <a:solidFill>
              <a:schemeClr val="bg1"/>
            </a:solidFill>
          </a:ln>
          <a:effectLst>
            <a:outerShdw blurRad="50800" dist="38100" dir="5400000" algn="t" rotWithShape="0">
              <a:schemeClr val="accent2">
                <a:lumMod val="60000"/>
                <a:lumOff val="40000"/>
                <a:alpha val="3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en-US" altLang="zh-CN" sz="2000" dirty="0">
                <a:latin typeface="+mj-ea"/>
                <a:ea typeface="+mj-ea"/>
              </a:rPr>
              <a:t>2</a:t>
            </a:r>
            <a:endParaRPr lang="zh-CN" altLang="en-US" sz="2000" dirty="0">
              <a:latin typeface="+mj-ea"/>
              <a:ea typeface="+mj-ea"/>
            </a:endParaRPr>
          </a:p>
        </p:txBody>
      </p:sp>
      <p:sp>
        <p:nvSpPr>
          <p:cNvPr id="84" name="椭圆 83"/>
          <p:cNvSpPr/>
          <p:nvPr>
            <p:custDataLst>
              <p:tags r:id="rId23"/>
            </p:custDataLst>
          </p:nvPr>
        </p:nvSpPr>
        <p:spPr>
          <a:xfrm>
            <a:off x="7215505" y="4362450"/>
            <a:ext cx="722630" cy="722630"/>
          </a:xfrm>
          <a:prstGeom prst="ellipse">
            <a:avLst/>
          </a:prstGeom>
          <a:solidFill>
            <a:srgbClr val="BC1B21"/>
          </a:solidFill>
          <a:ln w="3175">
            <a:solidFill>
              <a:schemeClr val="bg1"/>
            </a:solidFill>
          </a:ln>
          <a:effectLst>
            <a:outerShdw blurRad="50800" dist="38100" dir="5400000" algn="t" rotWithShape="0">
              <a:schemeClr val="accent2">
                <a:lumMod val="60000"/>
                <a:lumOff val="40000"/>
                <a:alpha val="3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en-US" altLang="zh-CN" sz="2000" dirty="0">
                <a:latin typeface="+mj-ea"/>
                <a:ea typeface="+mj-ea"/>
              </a:rPr>
              <a:t>3</a:t>
            </a:r>
            <a:endParaRPr lang="zh-CN" altLang="en-US" sz="2000" dirty="0">
              <a:latin typeface="+mj-ea"/>
              <a:ea typeface="+mj-ea"/>
            </a:endParaRPr>
          </a:p>
        </p:txBody>
      </p:sp>
      <p:grpSp>
        <p:nvGrpSpPr>
          <p:cNvPr id="12" name="组合 11"/>
          <p:cNvGrpSpPr/>
          <p:nvPr>
            <p:custDataLst>
              <p:tags r:id="rId24"/>
            </p:custDataLst>
          </p:nvPr>
        </p:nvGrpSpPr>
        <p:grpSpPr>
          <a:xfrm>
            <a:off x="5410415" y="3287254"/>
            <a:ext cx="1030114" cy="263057"/>
            <a:chOff x="5410415" y="3287254"/>
            <a:chExt cx="1030114" cy="263057"/>
          </a:xfrm>
          <a:solidFill>
            <a:schemeClr val="accent2"/>
          </a:solidFill>
        </p:grpSpPr>
        <p:sp>
          <p:nvSpPr>
            <p:cNvPr id="69" name="燕尾形 60"/>
            <p:cNvSpPr/>
            <p:nvPr>
              <p:custDataLst>
                <p:tags r:id="rId25"/>
              </p:custDataLst>
            </p:nvPr>
          </p:nvSpPr>
          <p:spPr>
            <a:xfrm rot="10800000">
              <a:off x="5410415" y="3287254"/>
              <a:ext cx="263058" cy="263057"/>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solidFill>
                  <a:schemeClr val="tx1"/>
                </a:solidFill>
              </a:endParaRPr>
            </a:p>
          </p:txBody>
        </p:sp>
        <p:sp>
          <p:nvSpPr>
            <p:cNvPr id="13" name="燕尾形 61"/>
            <p:cNvSpPr/>
            <p:nvPr>
              <p:custDataLst>
                <p:tags r:id="rId26"/>
              </p:custDataLst>
            </p:nvPr>
          </p:nvSpPr>
          <p:spPr>
            <a:xfrm rot="10800000">
              <a:off x="5605947" y="3287254"/>
              <a:ext cx="263058" cy="263057"/>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solidFill>
                  <a:schemeClr val="tx1"/>
                </a:solidFill>
              </a:endParaRPr>
            </a:p>
          </p:txBody>
        </p:sp>
        <p:sp>
          <p:nvSpPr>
            <p:cNvPr id="71" name="燕尾形 62"/>
            <p:cNvSpPr/>
            <p:nvPr>
              <p:custDataLst>
                <p:tags r:id="rId27"/>
              </p:custDataLst>
            </p:nvPr>
          </p:nvSpPr>
          <p:spPr>
            <a:xfrm rot="10800000">
              <a:off x="5789837" y="3287254"/>
              <a:ext cx="263058" cy="263057"/>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solidFill>
                  <a:schemeClr val="tx1"/>
                </a:solidFill>
              </a:endParaRPr>
            </a:p>
          </p:txBody>
        </p:sp>
        <p:sp>
          <p:nvSpPr>
            <p:cNvPr id="72" name="燕尾形 63"/>
            <p:cNvSpPr/>
            <p:nvPr>
              <p:custDataLst>
                <p:tags r:id="rId28"/>
              </p:custDataLst>
            </p:nvPr>
          </p:nvSpPr>
          <p:spPr>
            <a:xfrm rot="10800000">
              <a:off x="5991189" y="3287254"/>
              <a:ext cx="263058" cy="263057"/>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solidFill>
                  <a:schemeClr val="tx1"/>
                </a:solidFill>
              </a:endParaRPr>
            </a:p>
          </p:txBody>
        </p:sp>
        <p:sp>
          <p:nvSpPr>
            <p:cNvPr id="73" name="燕尾形 64"/>
            <p:cNvSpPr/>
            <p:nvPr>
              <p:custDataLst>
                <p:tags r:id="rId29"/>
              </p:custDataLst>
            </p:nvPr>
          </p:nvSpPr>
          <p:spPr>
            <a:xfrm rot="10800000">
              <a:off x="6177471" y="3287254"/>
              <a:ext cx="263058" cy="263057"/>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solidFill>
                  <a:schemeClr val="tx1"/>
                </a:solidFill>
              </a:endParaRPr>
            </a:p>
          </p:txBody>
        </p:sp>
      </p:grpSp>
      <p:sp>
        <p:nvSpPr>
          <p:cNvPr id="14" name="文本框 13"/>
          <p:cNvSpPr txBox="1"/>
          <p:nvPr/>
        </p:nvSpPr>
        <p:spPr>
          <a:xfrm>
            <a:off x="8134350" y="2143760"/>
            <a:ext cx="2976880" cy="725805"/>
          </a:xfrm>
          <a:prstGeom prst="rect">
            <a:avLst/>
          </a:prstGeom>
          <a:noFill/>
        </p:spPr>
        <p:txBody>
          <a:bodyPr wrap="square" rtlCol="0">
            <a:noAutofit/>
          </a:bodyPr>
          <a:p>
            <a:r>
              <a:rPr lang="zh-CN" altLang="en-US" sz="1400"/>
              <a:t>市场管理者是否真正了解市场？是否真能操盘市场？经营理念是否与公司统一？建议区域人员筛选问题管理者并进行优化</a:t>
            </a:r>
            <a:r>
              <a:rPr lang="zh-CN" altLang="en-US" sz="1400"/>
              <a:t>培训。</a:t>
            </a:r>
            <a:endParaRPr lang="zh-CN" altLang="en-US" sz="1400"/>
          </a:p>
        </p:txBody>
      </p:sp>
      <p:sp>
        <p:nvSpPr>
          <p:cNvPr id="15" name="文本框 14"/>
          <p:cNvSpPr txBox="1"/>
          <p:nvPr/>
        </p:nvSpPr>
        <p:spPr>
          <a:xfrm>
            <a:off x="8146415" y="3287395"/>
            <a:ext cx="2854960" cy="641350"/>
          </a:xfrm>
          <a:prstGeom prst="rect">
            <a:avLst/>
          </a:prstGeom>
          <a:noFill/>
        </p:spPr>
        <p:txBody>
          <a:bodyPr wrap="square" rtlCol="0">
            <a:noAutofit/>
          </a:bodyPr>
          <a:p>
            <a:r>
              <a:rPr lang="zh-CN" altLang="en-US" sz="1400"/>
              <a:t>区域领导及市场管理者需深入一线，系统梳理业务痛点及终端真实诉求，了解产生原因并从根源解决</a:t>
            </a:r>
            <a:r>
              <a:rPr lang="zh-CN" altLang="en-US" sz="1400"/>
              <a:t>问题。</a:t>
            </a:r>
            <a:endParaRPr lang="zh-CN" altLang="en-US" sz="1400"/>
          </a:p>
        </p:txBody>
      </p:sp>
      <p:sp>
        <p:nvSpPr>
          <p:cNvPr id="16" name="文本框 15"/>
          <p:cNvSpPr txBox="1"/>
          <p:nvPr/>
        </p:nvSpPr>
        <p:spPr>
          <a:xfrm>
            <a:off x="8214995" y="4446270"/>
            <a:ext cx="2786380" cy="918210"/>
          </a:xfrm>
          <a:prstGeom prst="rect">
            <a:avLst/>
          </a:prstGeom>
          <a:noFill/>
        </p:spPr>
        <p:txBody>
          <a:bodyPr wrap="square" rtlCol="0">
            <a:noAutofit/>
          </a:bodyPr>
          <a:p>
            <a:r>
              <a:rPr lang="zh-CN" altLang="en-US" sz="1400"/>
              <a:t>河南除个别市场外，本品第一品牌形象较为稳固，市场现有问题基本均从内部产生，各市场应整理出问题清单，</a:t>
            </a:r>
            <a:r>
              <a:rPr lang="en-US" altLang="zh-CN" sz="1400"/>
              <a:t> </a:t>
            </a:r>
            <a:r>
              <a:rPr lang="zh-CN" altLang="en-US" sz="1400"/>
              <a:t>针对性解决各类</a:t>
            </a:r>
            <a:r>
              <a:rPr lang="zh-CN" altLang="en-US" sz="1400"/>
              <a:t>问题。</a:t>
            </a:r>
            <a:endParaRPr lang="zh-CN" altLang="en-US" sz="1400"/>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par>
                          <p:cTn id="10" fill="hold">
                            <p:stCondLst>
                              <p:cond delay="500"/>
                            </p:stCondLst>
                            <p:childTnLst>
                              <p:par>
                                <p:cTn id="11" presetID="22" presetClass="entr" presetSubtype="8" fill="hold" nodeType="after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wipe(left)">
                                      <p:cBhvr>
                                        <p:cTn id="13" dur="500"/>
                                        <p:tgtEl>
                                          <p:spTgt spid="6"/>
                                        </p:tgtEl>
                                      </p:cBhvr>
                                    </p:animEffect>
                                  </p:childTnLst>
                                </p:cTn>
                              </p:par>
                            </p:childTnLst>
                          </p:cTn>
                        </p:par>
                        <p:par>
                          <p:cTn id="14" fill="hold">
                            <p:stCondLst>
                              <p:cond delay="1000"/>
                            </p:stCondLst>
                            <p:childTnLst>
                              <p:par>
                                <p:cTn id="15" presetID="22" presetClass="entr" presetSubtype="2" fill="hold" nodeType="after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wipe(right)">
                                      <p:cBhvr>
                                        <p:cTn id="1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nvSpPr>
        <p:spPr>
          <a:xfrm>
            <a:off x="3629025" y="1077913"/>
            <a:ext cx="5212080" cy="2122805"/>
          </a:xfrm>
          <a:prstGeom prst="rect">
            <a:avLst/>
          </a:prstGeom>
          <a:noFill/>
          <a:effectLst/>
        </p:spPr>
        <p:txBody>
          <a:bodyPr wrap="none">
            <a:spAutoFit/>
          </a:bodyPr>
          <a:lstStyle/>
          <a:p>
            <a:pPr marR="0" defTabSz="914400" fontAlgn="auto">
              <a:buClrTx/>
              <a:buSzTx/>
              <a:buFontTx/>
              <a:buNone/>
              <a:defRPr/>
            </a:pPr>
            <a:r>
              <a:rPr kumimoji="0" lang="zh-CN" altLang="en-US" sz="6600" b="1" kern="1200" cap="none" spc="0" normalizeH="0" baseline="0" noProof="1">
                <a:solidFill>
                  <a:srgbClr val="CC2000"/>
                </a:solidFill>
                <a:effectLst>
                  <a:outerShdw blurRad="101600" dist="25400" dir="2700000" algn="tl">
                    <a:srgbClr val="000000">
                      <a:alpha val="37000"/>
                    </a:srgbClr>
                  </a:outerShdw>
                </a:effectLst>
                <a:latin typeface="微软雅黑" panose="020B0503020204020204" pitchFamily="34" charset="-122"/>
                <a:ea typeface="微软雅黑" panose="020B0503020204020204" pitchFamily="34" charset="-122"/>
                <a:cs typeface="+mn-ea"/>
                <a:sym typeface="+mn-lt"/>
              </a:rPr>
              <a:t>汇报完毕</a:t>
            </a:r>
            <a:endParaRPr kumimoji="0" lang="zh-CN" altLang="en-US" sz="6600" b="1" kern="1200" cap="none" spc="0" normalizeH="0" baseline="0" noProof="1">
              <a:solidFill>
                <a:srgbClr val="CC2000"/>
              </a:solidFill>
              <a:effectLst>
                <a:outerShdw blurRad="101600" dist="25400" dir="2700000" algn="tl">
                  <a:srgbClr val="000000">
                    <a:alpha val="37000"/>
                  </a:srgbClr>
                </a:outerShdw>
              </a:effectLst>
              <a:latin typeface="微软雅黑" panose="020B0503020204020204" pitchFamily="34" charset="-122"/>
              <a:ea typeface="微软雅黑" panose="020B0503020204020204" pitchFamily="34" charset="-122"/>
              <a:cs typeface="+mn-ea"/>
              <a:sym typeface="+mn-lt"/>
            </a:endParaRPr>
          </a:p>
          <a:p>
            <a:pPr marR="0" defTabSz="914400" fontAlgn="auto">
              <a:buClrTx/>
              <a:buSzTx/>
              <a:buFontTx/>
              <a:buNone/>
              <a:defRPr/>
            </a:pPr>
            <a:r>
              <a:rPr kumimoji="0" lang="zh-CN" altLang="en-US" sz="6600" b="1" kern="1200" cap="none" spc="0" normalizeH="0" baseline="0" noProof="1">
                <a:solidFill>
                  <a:srgbClr val="CC2000"/>
                </a:solidFill>
                <a:effectLst>
                  <a:outerShdw blurRad="101600" dist="25400" dir="2700000" algn="tl">
                    <a:srgbClr val="000000">
                      <a:alpha val="37000"/>
                    </a:srgbClr>
                  </a:outerShdw>
                </a:effectLst>
                <a:latin typeface="微软雅黑" panose="020B0503020204020204" pitchFamily="34" charset="-122"/>
                <a:ea typeface="微软雅黑" panose="020B0503020204020204" pitchFamily="34" charset="-122"/>
                <a:cs typeface="+mn-ea"/>
                <a:sym typeface="+mn-lt"/>
              </a:rPr>
              <a:t>感谢您的倾听</a:t>
            </a:r>
            <a:endParaRPr kumimoji="0" lang="zh-CN" altLang="en-US" sz="6600" b="1" kern="1200" cap="none" spc="0" normalizeH="0" baseline="0" noProof="1">
              <a:solidFill>
                <a:srgbClr val="CC2000"/>
              </a:solidFill>
              <a:effectLst>
                <a:outerShdw blurRad="101600" dist="25400" dir="2700000" algn="tl">
                  <a:srgbClr val="000000">
                    <a:alpha val="37000"/>
                  </a:srgbClr>
                </a:outerShdw>
              </a:effectLst>
              <a:latin typeface="微软雅黑" panose="020B0503020204020204" pitchFamily="34" charset="-122"/>
              <a:ea typeface="微软雅黑" panose="020B0503020204020204" pitchFamily="34" charset="-122"/>
              <a:cs typeface="+mn-ea"/>
              <a:sym typeface="+mn-lt"/>
            </a:endParaRPr>
          </a:p>
        </p:txBody>
      </p:sp>
      <p:sp>
        <p:nvSpPr>
          <p:cNvPr id="6" name="矩形 5"/>
          <p:cNvSpPr/>
          <p:nvPr/>
        </p:nvSpPr>
        <p:spPr>
          <a:xfrm>
            <a:off x="3587750" y="3517900"/>
            <a:ext cx="5160963" cy="400050"/>
          </a:xfrm>
          <a:prstGeom prst="rect">
            <a:avLst/>
          </a:prstGeom>
        </p:spPr>
        <p:txBody>
          <a:bodyPr>
            <a:spAutoFit/>
          </a:body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en-US" altLang="zh-CN" sz="2000" b="1" i="0" u="none" strike="noStrike" kern="1200" cap="none" spc="0" normalizeH="0" baseline="0" noProof="1">
                <a:ln>
                  <a:noFill/>
                </a:ln>
                <a:solidFill>
                  <a:schemeClr val="tx1">
                    <a:lumMod val="85000"/>
                    <a:lumOff val="15000"/>
                  </a:schemeClr>
                </a:solidFill>
                <a:effectLst>
                  <a:outerShdw blurRad="101600" dist="25400" dir="2700000" algn="tl">
                    <a:srgbClr val="000000">
                      <a:alpha val="37000"/>
                    </a:srgbClr>
                  </a:outerShdw>
                </a:effectLst>
                <a:uLnTx/>
                <a:uFillTx/>
                <a:latin typeface="微软雅黑" panose="020B0503020204020204" pitchFamily="34" charset="-122"/>
                <a:ea typeface="微软雅黑" panose="020B0503020204020204" pitchFamily="34" charset="-122"/>
                <a:cs typeface="+mn-ea"/>
                <a:sym typeface="+mn-lt"/>
              </a:rPr>
              <a:t>THANK YOU FOR LISTENING</a:t>
            </a:r>
            <a:endParaRPr kumimoji="0" lang="zh-CN" altLang="en-US" sz="2000" b="1" i="0" u="none" strike="noStrike" kern="1200" cap="none" spc="0" normalizeH="0" baseline="0" noProof="1">
              <a:ln>
                <a:noFill/>
              </a:ln>
              <a:solidFill>
                <a:schemeClr val="tx1">
                  <a:lumMod val="85000"/>
                  <a:lumOff val="15000"/>
                </a:schemeClr>
              </a:solidFill>
              <a:effectLst>
                <a:outerShdw blurRad="101600" dist="25400" dir="2700000" algn="tl">
                  <a:srgbClr val="000000">
                    <a:alpha val="37000"/>
                  </a:srgbClr>
                </a:outerShdw>
              </a:effectLst>
              <a:uLnTx/>
              <a:uFillTx/>
              <a:latin typeface="微软雅黑" panose="020B0503020204020204" pitchFamily="34" charset="-122"/>
              <a:ea typeface="微软雅黑" panose="020B0503020204020204" pitchFamily="34" charset="-122"/>
              <a:cs typeface="+mn-ea"/>
              <a:sym typeface="+mn-lt"/>
            </a:endParaRPr>
          </a:p>
        </p:txBody>
      </p:sp>
      <p:cxnSp>
        <p:nvCxnSpPr>
          <p:cNvPr id="7" name="直接连接符 371"/>
          <p:cNvCxnSpPr/>
          <p:nvPr/>
        </p:nvCxnSpPr>
        <p:spPr>
          <a:xfrm flipV="1">
            <a:off x="3686175" y="3373438"/>
            <a:ext cx="5062538" cy="0"/>
          </a:xfrm>
          <a:prstGeom prst="line">
            <a:avLst/>
          </a:prstGeom>
          <a:ln>
            <a:solidFill>
              <a:srgbClr val="B01319"/>
            </a:solidFill>
          </a:ln>
        </p:spPr>
        <p:style>
          <a:lnRef idx="1">
            <a:schemeClr val="accent1"/>
          </a:lnRef>
          <a:fillRef idx="0">
            <a:schemeClr val="accent1"/>
          </a:fillRef>
          <a:effectRef idx="0">
            <a:schemeClr val="accent1"/>
          </a:effectRef>
          <a:fontRef idx="minor">
            <a:schemeClr val="tx1"/>
          </a:fontRef>
        </p:style>
      </p:cxnSp>
      <p:pic>
        <p:nvPicPr>
          <p:cNvPr id="2" name="图片 1"/>
          <p:cNvPicPr>
            <a:picLocks noChangeAspect="1"/>
          </p:cNvPicPr>
          <p:nvPr/>
        </p:nvPicPr>
        <p:blipFill>
          <a:blip r:embed="rId1"/>
          <a:stretch>
            <a:fillRect/>
          </a:stretch>
        </p:blipFill>
        <p:spPr>
          <a:xfrm>
            <a:off x="490855" y="4235450"/>
            <a:ext cx="5370195" cy="1790065"/>
          </a:xfrm>
          <a:prstGeom prst="rect">
            <a:avLst/>
          </a:prstGeom>
        </p:spPr>
      </p:pic>
      <p:pic>
        <p:nvPicPr>
          <p:cNvPr id="3" name="图片 2"/>
          <p:cNvPicPr>
            <a:picLocks noChangeAspect="1"/>
          </p:cNvPicPr>
          <p:nvPr/>
        </p:nvPicPr>
        <p:blipFill>
          <a:blip r:embed="rId2"/>
          <a:stretch>
            <a:fillRect/>
          </a:stretch>
        </p:blipFill>
        <p:spPr>
          <a:xfrm>
            <a:off x="6069965" y="4235450"/>
            <a:ext cx="5379720" cy="1793240"/>
          </a:xfrm>
          <a:prstGeom prst="rect">
            <a:avLst/>
          </a:prstGeom>
        </p:spPr>
      </p:pic>
    </p:spTree>
  </p:cSld>
  <p:clrMapOvr>
    <a:masterClrMapping/>
  </p:clrMapOvr>
  <p:transition spd="slow"/>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DOCER_RESOURCE_TRACE_INFO" val="{&quot;id&quot;:&quot;&quot;,&quot;origin&quot;:0,&quot;type&quot;:&quot;pictures&quot;,&quot;user&quot;:&quot;513213574&quot;}"/>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DOCER_RESOURCE_TRACE_INFO" val="{&quot;id&quot;:&quot;&quot;,&quot;origin&quot;:0,&quot;type&quot;:&quot;pictures&quot;,&quot;user&quot;:&quot;513213574&quot;}"/>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DOCER_RESOURCE_TRACE_INFO" val="{&quot;id&quot;:&quot;&quot;,&quot;origin&quot;:0,&quot;type&quot;:&quot;pictures&quot;,&quot;user&quot;:&quot;513213574&quot;}"/>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DOCER_RESOURCE_TRACE_INFO" val="{&quot;id&quot;:&quot;&quot;,&quot;origin&quot;:0,&quot;type&quot;:&quot;pictures&quot;,&quot;user&quot;:&quot;513213574&quot;}"/>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KSO_WM_BEAUTIFY_FLAG" val=""/>
</p:tagLst>
</file>

<file path=ppt/tags/tag51.xml><?xml version="1.0" encoding="utf-8"?>
<p:tagLst xmlns:p="http://schemas.openxmlformats.org/presentationml/2006/main">
  <p:tag name="KSO_WM_BEAUTIFY_FLAG" val=""/>
</p:tagLst>
</file>

<file path=ppt/tags/tag52.xml><?xml version="1.0" encoding="utf-8"?>
<p:tagLst xmlns:p="http://schemas.openxmlformats.org/presentationml/2006/main">
  <p:tag name="KSO_WM_BEAUTIFY_FLAG" val=""/>
</p:tagLst>
</file>

<file path=ppt/tags/tag53.xml><?xml version="1.0" encoding="utf-8"?>
<p:tagLst xmlns:p="http://schemas.openxmlformats.org/presentationml/2006/main">
  <p:tag name="KSO_WM_BEAUTIFY_FLAG" val=""/>
</p:tagLst>
</file>

<file path=ppt/tags/tag54.xml><?xml version="1.0" encoding="utf-8"?>
<p:tagLst xmlns:p="http://schemas.openxmlformats.org/presentationml/2006/main">
  <p:tag name="KSO_WM_BEAUTIFY_FLAG" val=""/>
</p:tagLst>
</file>

<file path=ppt/tags/tag55.xml><?xml version="1.0" encoding="utf-8"?>
<p:tagLst xmlns:p="http://schemas.openxmlformats.org/presentationml/2006/main">
  <p:tag name="KSO_WM_BEAUTIFY_FLAG" val=""/>
</p:tagLst>
</file>

<file path=ppt/tags/tag56.xml><?xml version="1.0" encoding="utf-8"?>
<p:tagLst xmlns:p="http://schemas.openxmlformats.org/presentationml/2006/main">
  <p:tag name="KSO_WM_BEAUTIFY_FLAG" val=""/>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BEAUTIFY_FLAG" val=""/>
</p:tagLst>
</file>

<file path=ppt/tags/tag59.xml><?xml version="1.0" encoding="utf-8"?>
<p:tagLst xmlns:p="http://schemas.openxmlformats.org/presentationml/2006/main">
  <p:tag name="KSO_WM_BEAUTIFY_FLAG" val=""/>
</p:tagLst>
</file>

<file path=ppt/tags/tag60.xml><?xml version="1.0" encoding="utf-8"?>
<p:tagLst xmlns:p="http://schemas.openxmlformats.org/presentationml/2006/main">
  <p:tag name="KSO_WM_BEAUTIFY_FLAG" val=""/>
</p:tagLst>
</file>

<file path=ppt/tags/tag61.xml><?xml version="1.0" encoding="utf-8"?>
<p:tagLst xmlns:p="http://schemas.openxmlformats.org/presentationml/2006/main">
  <p:tag name="KSO_WM_BEAUTIFY_FLAG" val=""/>
</p:tagLst>
</file>

<file path=ppt/tags/tag62.xml><?xml version="1.0" encoding="utf-8"?>
<p:tagLst xmlns:p="http://schemas.openxmlformats.org/presentationml/2006/main">
  <p:tag name="KSO_WM_BEAUTIFY_FLAG" val=""/>
</p:tagLst>
</file>

<file path=ppt/tags/tag63.xml><?xml version="1.0" encoding="utf-8"?>
<p:tagLst xmlns:p="http://schemas.openxmlformats.org/presentationml/2006/main">
  <p:tag name="KSO_WM_BEAUTIFY_FLAG" val=""/>
</p:tagLst>
</file>

<file path=ppt/tags/tag64.xml><?xml version="1.0" encoding="utf-8"?>
<p:tagLst xmlns:p="http://schemas.openxmlformats.org/presentationml/2006/main">
  <p:tag name="KSO_WM_BEAUTIFY_FLAG" val=""/>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KSO_WM_BEAUTIFY_FLAG" val=""/>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43_3*m_h_i*1_1_2"/>
  <p:tag name="KSO_WM_TEMPLATE_CATEGORY" val="diagram"/>
  <p:tag name="KSO_WM_TEMPLATE_INDEX" val="20230943"/>
  <p:tag name="KSO_WM_UNIT_LAYERLEVEL" val="1_1_1"/>
  <p:tag name="KSO_WM_TAG_VERSION" val="3.0"/>
  <p:tag name="KSO_WM_DIAGRAM_VERSION" val="3"/>
  <p:tag name="KSO_WM_DIAGRAM_COLOR_TRICK" val="2"/>
  <p:tag name="KSO_WM_DIAGRAM_COLOR_TEXT_CAN_REMOVE" val="n"/>
  <p:tag name="KSO_WM_DIAGRAM_GROUP_CODE" val="m1-1"/>
  <p:tag name="KSO_WM_UNIT_TYPE" val="m_h_i"/>
  <p:tag name="KSO_WM_UNIT_INDEX" val="1_1_2"/>
  <p:tag name="KSO_WM_DIAGRAM_MAX_ITEMCNT" val="6"/>
  <p:tag name="KSO_WM_DIAGRAM_MIN_ITEMCNT" val="2"/>
  <p:tag name="KSO_WM_DIAGRAM_VIRTUALLY_FRAME" val="{&quot;height&quot;:419.3058267716536,&quot;left&quot;:62.94999999999999,&quot;top&quot;:100.09417322834646,&quot;width&quot;:833.65}"/>
  <p:tag name="KSO_WM_DIAGRAM_COLOR_MATCH_VALUE" val="{&quot;shape&quot;:{&quot;fill&quot;:{&quot;type&quot;:0},&quot;glow&quot;:{&quot;colorType&quot;:0},&quot;line&quot;:{&quot;gradient&quot;:[{&quot;brightness&quot;:0,&quot;colorType&quot;:2,&quot;pos&quot;:0,&quot;rgb&quot;:&quot;#afc6ff&quot;,&quot;transparency&quot;:1},{&quot;brightness&quot;:0,&quot;colorType&quot;:2,&quot;pos&quot;:1,&quot;rgb&quot;:&quot;#376fff&quot;,&quot;transparency&quot;:1},{&quot;brightness&quot;:0,&quot;colorType&quot;:1,&quot;foreColorIndex&quot;:5,&quot;pos&quot;:0,&quot;transparency&quot;:0}],&quot;type&quot;:2},&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LINE_FORE_SCHEMECOLOR_INDEX" val="5"/>
  <p:tag name="KSO_WM_UNIT_USESOURCEFORMAT_APPLY" val="1"/>
</p:tagLst>
</file>

<file path=ppt/tags/tag68.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m_h_f"/>
  <p:tag name="KSO_WM_UNIT_INDEX" val="1_1_1"/>
  <p:tag name="KSO_WM_UNIT_ID" val="diagram20230943_3*m_h_f*1_1_1"/>
  <p:tag name="KSO_WM_TEMPLATE_CATEGORY" val="diagram"/>
  <p:tag name="KSO_WM_TEMPLATE_INDEX" val="20230943"/>
  <p:tag name="KSO_WM_UNIT_LAYERLEVEL" val="1_1_1"/>
  <p:tag name="KSO_WM_TAG_VERSION" val="3.0"/>
  <p:tag name="KSO_WM_DIAGRAM_VERSION" val="3"/>
  <p:tag name="KSO_WM_DIAGRAM_COLOR_TRICK" val="2"/>
  <p:tag name="KSO_WM_DIAGRAM_COLOR_TEXT_CAN_REMOVE" val="n"/>
  <p:tag name="KSO_WM_DIAGRAM_GROUP_CODE" val="m1-1"/>
  <p:tag name="KSO_WM_DIAGRAM_MAX_ITEMCNT" val="6"/>
  <p:tag name="KSO_WM_DIAGRAM_MIN_ITEMCNT" val="2"/>
  <p:tag name="KSO_WM_DIAGRAM_VIRTUALLY_FRAME" val="{&quot;height&quot;:419.3058267716536,&quot;left&quot;:62.94999999999999,&quot;top&quot;:100.09417322834646,&quot;width&quot;:833.6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输入你的智能图形项正文"/>
  <p:tag name="KSO_WM_UNIT_TEXT_FILL_FORE_SCHEMECOLOR_INDEX" val="1"/>
  <p:tag name="KSO_WM_UNIT_TEXT_FILL_TYPE" val="1"/>
  <p:tag name="KSO_WM_UNIT_USESOURCEFORMAT_APPLY" val="1"/>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43_3*m_h_i*1_4_3"/>
  <p:tag name="KSO_WM_TEMPLATE_CATEGORY" val="diagram"/>
  <p:tag name="KSO_WM_TEMPLATE_INDEX" val="20230943"/>
  <p:tag name="KSO_WM_UNIT_LAYERLEVEL" val="1_1_1"/>
  <p:tag name="KSO_WM_TAG_VERSION" val="3.0"/>
  <p:tag name="KSO_WM_DIAGRAM_VERSION" val="3"/>
  <p:tag name="KSO_WM_DIAGRAM_COLOR_TRICK" val="2"/>
  <p:tag name="KSO_WM_DIAGRAM_COLOR_TEXT_CAN_REMOVE" val="n"/>
  <p:tag name="KSO_WM_DIAGRAM_GROUP_CODE" val="m1-1"/>
  <p:tag name="KSO_WM_UNIT_TYPE" val="m_h_i"/>
  <p:tag name="KSO_WM_UNIT_INDEX" val="1_4_3"/>
  <p:tag name="KSO_WM_DIAGRAM_MAX_ITEMCNT" val="6"/>
  <p:tag name="KSO_WM_DIAGRAM_MIN_ITEMCNT" val="2"/>
  <p:tag name="KSO_WM_DIAGRAM_VIRTUALLY_FRAME" val="{&quot;height&quot;:419.3058267716536,&quot;left&quot;:62.94999999999999,&quot;top&quot;:100.09417322834646,&quot;width&quot;:833.65}"/>
  <p:tag name="KSO_WM_DIAGRAM_COLOR_MATCH_VALUE" val="{&quot;shape&quot;:{&quot;fill&quot;:{&quot;solid&quot;:{&quot;brightness&quot;:0.3499999940395355,&quot;colorType&quot;:1,&quot;foreColorIndex&quot;:13,&quot;transparency&quot;:0.8999999761581421},&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349999994039535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13"/>
  <p:tag name="KSO_WM_UNIT_FILL_FORE_SCHEMECOLOR_INDEX_BRIGHTNESS" val="0.35"/>
  <p:tag name="KSO_WM_UNIT_TEXT_FILL_FORE_SCHEMECOLOR_INDEX" val="13"/>
  <p:tag name="KSO_WM_UNIT_TEXT_FILL_TYPE" val="1"/>
  <p:tag name="KSO_WM_UNIT_USESOURCEFORMAT_APPLY" val="1"/>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43_3*m_h_i*1_3_3"/>
  <p:tag name="KSO_WM_TEMPLATE_CATEGORY" val="diagram"/>
  <p:tag name="KSO_WM_TEMPLATE_INDEX" val="20230943"/>
  <p:tag name="KSO_WM_UNIT_LAYERLEVEL" val="1_1_1"/>
  <p:tag name="KSO_WM_TAG_VERSION" val="3.0"/>
  <p:tag name="KSO_WM_DIAGRAM_VERSION" val="3"/>
  <p:tag name="KSO_WM_DIAGRAM_COLOR_TRICK" val="2"/>
  <p:tag name="KSO_WM_DIAGRAM_COLOR_TEXT_CAN_REMOVE" val="n"/>
  <p:tag name="KSO_WM_DIAGRAM_GROUP_CODE" val="m1-1"/>
  <p:tag name="KSO_WM_UNIT_TYPE" val="m_h_i"/>
  <p:tag name="KSO_WM_UNIT_INDEX" val="1_3_3"/>
  <p:tag name="KSO_WM_DIAGRAM_MAX_ITEMCNT" val="6"/>
  <p:tag name="KSO_WM_DIAGRAM_MIN_ITEMCNT" val="2"/>
  <p:tag name="KSO_WM_DIAGRAM_VIRTUALLY_FRAME" val="{&quot;height&quot;:419.3058267716536,&quot;left&quot;:62.94999999999999,&quot;top&quot;:100.09417322834646,&quot;width&quot;:833.65}"/>
  <p:tag name="KSO_WM_DIAGRAM_COLOR_MATCH_VALUE" val="{&quot;shape&quot;:{&quot;fill&quot;:{&quot;solid&quot;:{&quot;brightness&quot;:0.3499999940395355,&quot;colorType&quot;:1,&quot;foreColorIndex&quot;:13,&quot;transparency&quot;:0.8999999761581421},&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349999994039535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13"/>
  <p:tag name="KSO_WM_UNIT_FILL_FORE_SCHEMECOLOR_INDEX_BRIGHTNESS" val="0.35"/>
  <p:tag name="KSO_WM_UNIT_TEXT_FILL_FORE_SCHEMECOLOR_INDEX" val="13"/>
  <p:tag name="KSO_WM_UNIT_TEXT_FILL_TYPE" val="1"/>
  <p:tag name="KSO_WM_UNIT_USESOURCEFORMAT_APPLY" val="1"/>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43_3*m_h_i*1_3_1"/>
  <p:tag name="KSO_WM_TEMPLATE_CATEGORY" val="diagram"/>
  <p:tag name="KSO_WM_TEMPLATE_INDEX" val="20230943"/>
  <p:tag name="KSO_WM_UNIT_LAYERLEVEL" val="1_1_1"/>
  <p:tag name="KSO_WM_TAG_VERSION" val="3.0"/>
  <p:tag name="KSO_WM_DIAGRAM_VERSION" val="3"/>
  <p:tag name="KSO_WM_DIAGRAM_COLOR_TRICK" val="2"/>
  <p:tag name="KSO_WM_DIAGRAM_COLOR_TEXT_CAN_REMOVE" val="n"/>
  <p:tag name="KSO_WM_DIAGRAM_GROUP_CODE" val="m1-1"/>
  <p:tag name="KSO_WM_UNIT_SUBTYPE" val="d"/>
  <p:tag name="KSO_WM_UNIT_TYPE" val="m_h_i"/>
  <p:tag name="KSO_WM_UNIT_INDEX" val="1_3_1"/>
  <p:tag name="KSO_WM_DIAGRAM_MAX_ITEMCNT" val="6"/>
  <p:tag name="KSO_WM_DIAGRAM_MIN_ITEMCNT" val="2"/>
  <p:tag name="KSO_WM_DIAGRAM_VIRTUALLY_FRAME" val="{&quot;height&quot;:419.3058267716536,&quot;left&quot;:62.94999999999999,&quot;top&quot;:100.09417322834646,&quot;width&quot;:833.65}"/>
  <p:tag name="KSO_WM_DIAGRAM_COLOR_MATCH_VALUE" val="{&quot;shape&quot;:{&quot;fill&quot;:{&quot;gradient&quot;:[{&quot;brightness&quot;:0,&quot;colorType&quot;:1,&quot;foreColorIndex&quot;:5,&quot;pos&quot;:0.38999998569488525,&quot;transparency&quot;:0},{&quot;brightness&quot;:0.4000000059604645,&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UNIT_USESOURCEFORMAT_APPLY" val="1"/>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43_3*m_h_i*1_2_3"/>
  <p:tag name="KSO_WM_TEMPLATE_CATEGORY" val="diagram"/>
  <p:tag name="KSO_WM_TEMPLATE_INDEX" val="20230943"/>
  <p:tag name="KSO_WM_UNIT_LAYERLEVEL" val="1_1_1"/>
  <p:tag name="KSO_WM_TAG_VERSION" val="3.0"/>
  <p:tag name="KSO_WM_DIAGRAM_VERSION" val="3"/>
  <p:tag name="KSO_WM_DIAGRAM_COLOR_TRICK" val="2"/>
  <p:tag name="KSO_WM_DIAGRAM_COLOR_TEXT_CAN_REMOVE" val="n"/>
  <p:tag name="KSO_WM_DIAGRAM_GROUP_CODE" val="m1-1"/>
  <p:tag name="KSO_WM_UNIT_TYPE" val="m_h_i"/>
  <p:tag name="KSO_WM_UNIT_INDEX" val="1_2_3"/>
  <p:tag name="KSO_WM_DIAGRAM_MAX_ITEMCNT" val="6"/>
  <p:tag name="KSO_WM_DIAGRAM_MIN_ITEMCNT" val="2"/>
  <p:tag name="KSO_WM_DIAGRAM_VIRTUALLY_FRAME" val="{&quot;height&quot;:419.3058267716536,&quot;left&quot;:62.94999999999999,&quot;top&quot;:100.09417322834646,&quot;width&quot;:833.65}"/>
  <p:tag name="KSO_WM_DIAGRAM_COLOR_MATCH_VALUE" val="{&quot;shape&quot;:{&quot;fill&quot;:{&quot;solid&quot;:{&quot;brightness&quot;:0.3499999940395355,&quot;colorType&quot;:1,&quot;foreColorIndex&quot;:13,&quot;transparency&quot;:0.8999999761581421},&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349999994039535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13"/>
  <p:tag name="KSO_WM_UNIT_FILL_FORE_SCHEMECOLOR_INDEX_BRIGHTNESS" val="0.35"/>
  <p:tag name="KSO_WM_UNIT_TEXT_FILL_FORE_SCHEMECOLOR_INDEX" val="13"/>
  <p:tag name="KSO_WM_UNIT_TEXT_FILL_TYPE" val="1"/>
  <p:tag name="KSO_WM_UNIT_USESOURCEFORMAT_APPLY" val="1"/>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43_3*m_h_i*1_1_1"/>
  <p:tag name="KSO_WM_TEMPLATE_CATEGORY" val="diagram"/>
  <p:tag name="KSO_WM_TEMPLATE_INDEX" val="20230943"/>
  <p:tag name="KSO_WM_UNIT_LAYERLEVEL" val="1_1_1"/>
  <p:tag name="KSO_WM_TAG_VERSION" val="3.0"/>
  <p:tag name="KSO_WM_DIAGRAM_VERSION" val="3"/>
  <p:tag name="KSO_WM_DIAGRAM_COLOR_TRICK" val="2"/>
  <p:tag name="KSO_WM_DIAGRAM_COLOR_TEXT_CAN_REMOVE" val="n"/>
  <p:tag name="KSO_WM_DIAGRAM_GROUP_CODE" val="m1-1"/>
  <p:tag name="KSO_WM_UNIT_SUBTYPE" val="d"/>
  <p:tag name="KSO_WM_UNIT_TYPE" val="m_h_i"/>
  <p:tag name="KSO_WM_UNIT_INDEX" val="1_1_1"/>
  <p:tag name="KSO_WM_DIAGRAM_MAX_ITEMCNT" val="6"/>
  <p:tag name="KSO_WM_DIAGRAM_MIN_ITEMCNT" val="2"/>
  <p:tag name="KSO_WM_DIAGRAM_VIRTUALLY_FRAME" val="{&quot;height&quot;:419.3058267716536,&quot;left&quot;:62.94999999999999,&quot;top&quot;:100.09417322834646,&quot;width&quot;:833.65}"/>
  <p:tag name="KSO_WM_DIAGRAM_COLOR_MATCH_VALUE" val="{&quot;shape&quot;:{&quot;fill&quot;:{&quot;gradient&quot;:[{&quot;brightness&quot;:0,&quot;colorType&quot;:1,&quot;foreColorIndex&quot;:5,&quot;pos&quot;:0.38999998569488525,&quot;transparency&quot;:0},{&quot;brightness&quot;:0.4000000059604645,&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UNIT_USESOURCEFORMAT_APPLY" val="1"/>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43_3*m_h_i*1_2_1"/>
  <p:tag name="KSO_WM_TEMPLATE_CATEGORY" val="diagram"/>
  <p:tag name="KSO_WM_TEMPLATE_INDEX" val="20230943"/>
  <p:tag name="KSO_WM_UNIT_LAYERLEVEL" val="1_1_1"/>
  <p:tag name="KSO_WM_TAG_VERSION" val="3.0"/>
  <p:tag name="KSO_WM_DIAGRAM_VERSION" val="3"/>
  <p:tag name="KSO_WM_DIAGRAM_COLOR_TRICK" val="2"/>
  <p:tag name="KSO_WM_DIAGRAM_COLOR_TEXT_CAN_REMOVE" val="n"/>
  <p:tag name="KSO_WM_DIAGRAM_GROUP_CODE" val="m1-1"/>
  <p:tag name="KSO_WM_UNIT_SUBTYPE" val="d"/>
  <p:tag name="KSO_WM_UNIT_TYPE" val="m_h_i"/>
  <p:tag name="KSO_WM_UNIT_INDEX" val="1_2_1"/>
  <p:tag name="KSO_WM_DIAGRAM_MAX_ITEMCNT" val="6"/>
  <p:tag name="KSO_WM_DIAGRAM_MIN_ITEMCNT" val="2"/>
  <p:tag name="KSO_WM_DIAGRAM_VIRTUALLY_FRAME" val="{&quot;height&quot;:419.3058267716536,&quot;left&quot;:62.94999999999999,&quot;top&quot;:100.09417322834646,&quot;width&quot;:833.65}"/>
  <p:tag name="KSO_WM_DIAGRAM_COLOR_MATCH_VALUE" val="{&quot;shape&quot;:{&quot;fill&quot;:{&quot;gradient&quot;:[{&quot;brightness&quot;:0,&quot;colorType&quot;:1,&quot;foreColorIndex&quot;:8,&quot;pos&quot;:0.38999998569488525,&quot;transparency&quot;:0},{&quot;brightness&quot;:0.4000000059604645,&quot;colorType&quot;:1,&quot;foreColorIndex&quot;:8,&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UNIT_USESOURCEFORMAT_APPLY" val="1"/>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43_3*m_h_i*1_2_2"/>
  <p:tag name="KSO_WM_TEMPLATE_CATEGORY" val="diagram"/>
  <p:tag name="KSO_WM_TEMPLATE_INDEX" val="20230943"/>
  <p:tag name="KSO_WM_UNIT_LAYERLEVEL" val="1_1_1"/>
  <p:tag name="KSO_WM_TAG_VERSION" val="3.0"/>
  <p:tag name="KSO_WM_DIAGRAM_VERSION" val="3"/>
  <p:tag name="KSO_WM_DIAGRAM_COLOR_TRICK" val="2"/>
  <p:tag name="KSO_WM_DIAGRAM_COLOR_TEXT_CAN_REMOVE" val="n"/>
  <p:tag name="KSO_WM_DIAGRAM_GROUP_CODE" val="m1-1"/>
  <p:tag name="KSO_WM_UNIT_TYPE" val="m_h_i"/>
  <p:tag name="KSO_WM_UNIT_INDEX" val="1_2_2"/>
  <p:tag name="KSO_WM_DIAGRAM_MAX_ITEMCNT" val="6"/>
  <p:tag name="KSO_WM_DIAGRAM_MIN_ITEMCNT" val="2"/>
  <p:tag name="KSO_WM_DIAGRAM_VIRTUALLY_FRAME" val="{&quot;height&quot;:419.3058267716536,&quot;left&quot;:62.94999999999999,&quot;top&quot;:100.09417322834646,&quot;width&quot;:833.65}"/>
  <p:tag name="KSO_WM_DIAGRAM_COLOR_MATCH_VALUE" val="{&quot;shape&quot;:{&quot;fill&quot;:{&quot;type&quot;:0},&quot;glow&quot;:{&quot;colorType&quot;:0},&quot;line&quot;:{&quot;gradient&quot;:[{&quot;brightness&quot;:0,&quot;colorType&quot;:2,&quot;pos&quot;:0,&quot;rgb&quot;:&quot;#afc6ff&quot;,&quot;transparency&quot;:1},{&quot;brightness&quot;:0,&quot;colorType&quot;:1,&quot;foreColorIndex&quot;:8,&quot;pos&quot;:1,&quot;transparency&quot;:1},{&quot;brightness&quot;:0,&quot;colorType&quot;:1,&quot;foreColorIndex&quot;:8,&quot;pos&quot;:0,&quot;transparency&quot;:0}],&quot;type&quot;:2},&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LINE_FORE_SCHEMECOLOR_INDEX" val="6"/>
  <p:tag name="KSO_WM_UNIT_USESOURCEFORMAT_APPLY" val="1"/>
</p:tagLst>
</file>

<file path=ppt/tags/tag76.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m_h_f"/>
  <p:tag name="KSO_WM_UNIT_INDEX" val="1_2_1"/>
  <p:tag name="KSO_WM_UNIT_ID" val="diagram20230943_3*m_h_f*1_2_1"/>
  <p:tag name="KSO_WM_TEMPLATE_CATEGORY" val="diagram"/>
  <p:tag name="KSO_WM_TEMPLATE_INDEX" val="20230943"/>
  <p:tag name="KSO_WM_UNIT_LAYERLEVEL" val="1_1_1"/>
  <p:tag name="KSO_WM_TAG_VERSION" val="3.0"/>
  <p:tag name="KSO_WM_DIAGRAM_VERSION" val="3"/>
  <p:tag name="KSO_WM_DIAGRAM_COLOR_TRICK" val="2"/>
  <p:tag name="KSO_WM_DIAGRAM_COLOR_TEXT_CAN_REMOVE" val="n"/>
  <p:tag name="KSO_WM_DIAGRAM_GROUP_CODE" val="m1-1"/>
  <p:tag name="KSO_WM_DIAGRAM_MAX_ITEMCNT" val="6"/>
  <p:tag name="KSO_WM_DIAGRAM_MIN_ITEMCNT" val="2"/>
  <p:tag name="KSO_WM_DIAGRAM_VIRTUALLY_FRAME" val="{&quot;height&quot;:419.3058267716536,&quot;left&quot;:62.94999999999999,&quot;top&quot;:100.09417322834646,&quot;width&quot;:833.6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请尽量言简意赅的阐述观点"/>
  <p:tag name="KSO_WM_UNIT_TEXT_FILL_FORE_SCHEMECOLOR_INDEX" val="1"/>
  <p:tag name="KSO_WM_UNIT_TEXT_FILL_TYPE" val="1"/>
  <p:tag name="KSO_WM_UNIT_USESOURCEFORMAT_APPLY" val="1"/>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m_h_i"/>
  <p:tag name="KSO_WM_UNIT_INDEX" val="1_4_1"/>
  <p:tag name="KSO_WM_UNIT_ID" val="diagram20230943_3*m_h_i*1_4_1"/>
  <p:tag name="KSO_WM_TEMPLATE_CATEGORY" val="diagram"/>
  <p:tag name="KSO_WM_TEMPLATE_INDEX" val="20230943"/>
  <p:tag name="KSO_WM_UNIT_LAYERLEVEL" val="1_1_1"/>
  <p:tag name="KSO_WM_TAG_VERSION" val="3.0"/>
  <p:tag name="KSO_WM_DIAGRAM_VERSION" val="3"/>
  <p:tag name="KSO_WM_DIAGRAM_COLOR_TRICK" val="2"/>
  <p:tag name="KSO_WM_DIAGRAM_COLOR_TEXT_CAN_REMOVE" val="n"/>
  <p:tag name="KSO_WM_DIAGRAM_GROUP_CODE" val="m1-1"/>
  <p:tag name="KSO_WM_DIAGRAM_MAX_ITEMCNT" val="6"/>
  <p:tag name="KSO_WM_DIAGRAM_MIN_ITEMCNT" val="2"/>
  <p:tag name="KSO_WM_DIAGRAM_VIRTUALLY_FRAME" val="{&quot;height&quot;:419.3058267716536,&quot;left&quot;:62.94999999999999,&quot;top&quot;:100.09417322834646,&quot;width&quot;:833.65}"/>
  <p:tag name="KSO_WM_DIAGRAM_COLOR_MATCH_VALUE" val="{&quot;shape&quot;:{&quot;fill&quot;:{&quot;gradient&quot;:[{&quot;brightness&quot;:0,&quot;colorType&quot;:1,&quot;foreColorIndex&quot;:8,&quot;pos&quot;:0.38999998569488525,&quot;transparency&quot;:0},{&quot;brightness&quot;:0.4000000059604645,&quot;colorType&quot;:1,&quot;foreColorIndex&quot;:8,&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_BRIGHTNESS" val="0.4"/>
  <p:tag name="KSO_WM_BEAUTIFY_FLAG" val="#wm#"/>
  <p:tag name="KSO_WM_UNIT_FILL_TYPE" val="3"/>
  <p:tag name="KSO_WM_UNIT_USESOURCEFORMAT_APPLY" val="1"/>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43_3*m_h_i*1_3_2"/>
  <p:tag name="KSO_WM_TEMPLATE_CATEGORY" val="diagram"/>
  <p:tag name="KSO_WM_TEMPLATE_INDEX" val="20230943"/>
  <p:tag name="KSO_WM_UNIT_LAYERLEVEL" val="1_1_1"/>
  <p:tag name="KSO_WM_TAG_VERSION" val="3.0"/>
  <p:tag name="KSO_WM_DIAGRAM_VERSION" val="3"/>
  <p:tag name="KSO_WM_DIAGRAM_COLOR_TRICK" val="2"/>
  <p:tag name="KSO_WM_DIAGRAM_COLOR_TEXT_CAN_REMOVE" val="n"/>
  <p:tag name="KSO_WM_DIAGRAM_GROUP_CODE" val="m1-1"/>
  <p:tag name="KSO_WM_UNIT_TYPE" val="m_h_i"/>
  <p:tag name="KSO_WM_UNIT_INDEX" val="1_3_2"/>
  <p:tag name="KSO_WM_DIAGRAM_MAX_ITEMCNT" val="6"/>
  <p:tag name="KSO_WM_DIAGRAM_MIN_ITEMCNT" val="2"/>
  <p:tag name="KSO_WM_DIAGRAM_VIRTUALLY_FRAME" val="{&quot;height&quot;:419.3058267716536,&quot;left&quot;:62.94999999999999,&quot;top&quot;:100.09417322834646,&quot;width&quot;:833.65}"/>
  <p:tag name="KSO_WM_DIAGRAM_COLOR_MATCH_VALUE" val="{&quot;shape&quot;:{&quot;fill&quot;:{&quot;type&quot;:0},&quot;glow&quot;:{&quot;colorType&quot;:0},&quot;line&quot;:{&quot;gradient&quot;:[{&quot;brightness&quot;:0,&quot;colorType&quot;:2,&quot;pos&quot;:0,&quot;rgb&quot;:&quot;#afc6ff&quot;,&quot;transparency&quot;:1},{&quot;brightness&quot;:0,&quot;colorType&quot;:2,&quot;pos&quot;:1,&quot;rgb&quot;:&quot;#376fff&quot;,&quot;transparency&quot;:1},{&quot;brightness&quot;:0,&quot;colorType&quot;:1,&quot;foreColorIndex&quot;:5,&quot;pos&quot;:0,&quot;transparency&quot;:0}],&quot;type&quot;:2},&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LINE_FORE_SCHEMECOLOR_INDEX" val="7"/>
  <p:tag name="KSO_WM_UNIT_USESOURCEFORMAT_APPLY" val="1"/>
</p:tagLst>
</file>

<file path=ppt/tags/tag79.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m_h_f"/>
  <p:tag name="KSO_WM_UNIT_INDEX" val="1_3_1"/>
  <p:tag name="KSO_WM_UNIT_ID" val="diagram20230943_3*m_h_f*1_3_1"/>
  <p:tag name="KSO_WM_TEMPLATE_CATEGORY" val="diagram"/>
  <p:tag name="KSO_WM_TEMPLATE_INDEX" val="20230943"/>
  <p:tag name="KSO_WM_UNIT_LAYERLEVEL" val="1_1_1"/>
  <p:tag name="KSO_WM_TAG_VERSION" val="3.0"/>
  <p:tag name="KSO_WM_DIAGRAM_VERSION" val="3"/>
  <p:tag name="KSO_WM_DIAGRAM_COLOR_TRICK" val="2"/>
  <p:tag name="KSO_WM_DIAGRAM_COLOR_TEXT_CAN_REMOVE" val="n"/>
  <p:tag name="KSO_WM_DIAGRAM_GROUP_CODE" val="m1-1"/>
  <p:tag name="KSO_WM_DIAGRAM_MAX_ITEMCNT" val="6"/>
  <p:tag name="KSO_WM_DIAGRAM_MIN_ITEMCNT" val="2"/>
  <p:tag name="KSO_WM_DIAGRAM_VIRTUALLY_FRAME" val="{&quot;height&quot;:419.3058267716536,&quot;left&quot;:62.94999999999999,&quot;top&quot;:100.09417322834646,&quot;width&quot;:833.6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输入你的智能图形项正文"/>
  <p:tag name="KSO_WM_UNIT_TEXT_FILL_FORE_SCHEMECOLOR_INDEX" val="1"/>
  <p:tag name="KSO_WM_UNIT_TEXT_FILL_TYPE" val="1"/>
  <p:tag name="KSO_WM_UNIT_USESOURCEFORMAT_APPLY" val="1"/>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43_3*m_h_i*1_4_2"/>
  <p:tag name="KSO_WM_TEMPLATE_CATEGORY" val="diagram"/>
  <p:tag name="KSO_WM_TEMPLATE_INDEX" val="20230943"/>
  <p:tag name="KSO_WM_UNIT_LAYERLEVEL" val="1_1_1"/>
  <p:tag name="KSO_WM_TAG_VERSION" val="3.0"/>
  <p:tag name="KSO_WM_DIAGRAM_VERSION" val="3"/>
  <p:tag name="KSO_WM_DIAGRAM_COLOR_TRICK" val="2"/>
  <p:tag name="KSO_WM_DIAGRAM_COLOR_TEXT_CAN_REMOVE" val="n"/>
  <p:tag name="KSO_WM_DIAGRAM_GROUP_CODE" val="m1-1"/>
  <p:tag name="KSO_WM_UNIT_TYPE" val="m_h_i"/>
  <p:tag name="KSO_WM_UNIT_INDEX" val="1_4_2"/>
  <p:tag name="KSO_WM_DIAGRAM_MAX_ITEMCNT" val="6"/>
  <p:tag name="KSO_WM_DIAGRAM_MIN_ITEMCNT" val="2"/>
  <p:tag name="KSO_WM_DIAGRAM_VIRTUALLY_FRAME" val="{&quot;height&quot;:419.3058267716536,&quot;left&quot;:62.94999999999999,&quot;top&quot;:100.09417322834646,&quot;width&quot;:833.65}"/>
  <p:tag name="KSO_WM_DIAGRAM_COLOR_MATCH_VALUE" val="{&quot;shape&quot;:{&quot;fill&quot;:{&quot;type&quot;:0},&quot;glow&quot;:{&quot;colorType&quot;:0},&quot;line&quot;:{&quot;gradient&quot;:[{&quot;brightness&quot;:0,&quot;colorType&quot;:2,&quot;pos&quot;:0,&quot;rgb&quot;:&quot;#afc6ff&quot;,&quot;transparency&quot;:1},{&quot;brightness&quot;:0,&quot;colorType&quot;:1,&quot;foreColorIndex&quot;:8,&quot;pos&quot;:1,&quot;transparency&quot;:1},{&quot;brightness&quot;:0,&quot;colorType&quot;:1,&quot;foreColorIndex&quot;:8,&quot;pos&quot;:0,&quot;transparency&quot;:0}],&quot;type&quot;:2},&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LINE_FORE_SCHEMECOLOR_INDEX" val="8"/>
  <p:tag name="KSO_WM_UNIT_USESOURCEFORMAT_APPLY" val="1"/>
</p:tagLst>
</file>

<file path=ppt/tags/tag81.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m_h_f"/>
  <p:tag name="KSO_WM_UNIT_INDEX" val="1_4_1"/>
  <p:tag name="KSO_WM_UNIT_ID" val="diagram20230943_3*m_h_f*1_4_1"/>
  <p:tag name="KSO_WM_TEMPLATE_CATEGORY" val="diagram"/>
  <p:tag name="KSO_WM_TEMPLATE_INDEX" val="20230943"/>
  <p:tag name="KSO_WM_UNIT_LAYERLEVEL" val="1_1_1"/>
  <p:tag name="KSO_WM_TAG_VERSION" val="3.0"/>
  <p:tag name="KSO_WM_DIAGRAM_VERSION" val="3"/>
  <p:tag name="KSO_WM_DIAGRAM_COLOR_TRICK" val="2"/>
  <p:tag name="KSO_WM_DIAGRAM_COLOR_TEXT_CAN_REMOVE" val="n"/>
  <p:tag name="KSO_WM_DIAGRAM_GROUP_CODE" val="m1-1"/>
  <p:tag name="KSO_WM_DIAGRAM_MAX_ITEMCNT" val="6"/>
  <p:tag name="KSO_WM_DIAGRAM_MIN_ITEMCNT" val="2"/>
  <p:tag name="KSO_WM_DIAGRAM_VIRTUALLY_FRAME" val="{&quot;height&quot;:419.3058267716536,&quot;left&quot;:62.94999999999999,&quot;top&quot;:100.09417322834646,&quot;width&quot;:833.6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请尽量言简意赅的阐述观点"/>
  <p:tag name="KSO_WM_UNIT_TEXT_FILL_FORE_SCHEMECOLOR_INDEX" val="1"/>
  <p:tag name="KSO_WM_UNIT_TEXT_FILL_TYPE" val="1"/>
  <p:tag name="KSO_WM_UNIT_USESOURCEFORMAT_APPLY" val="1"/>
</p:tagLst>
</file>

<file path=ppt/tags/tag82.xml><?xml version="1.0" encoding="utf-8"?>
<p:tagLst xmlns:p="http://schemas.openxmlformats.org/presentationml/2006/main">
  <p:tag name="KSO_WM_BEAUTIFY_FLAG" val=""/>
</p:tagLst>
</file>

<file path=ppt/tags/tag83.xml><?xml version="1.0" encoding="utf-8"?>
<p:tagLst xmlns:p="http://schemas.openxmlformats.org/presentationml/2006/main">
  <p:tag name="KSO_WM_BEAUTIFY_FLAG" val=""/>
</p:tagLst>
</file>

<file path=ppt/tags/tag84.xml><?xml version="1.0" encoding="utf-8"?>
<p:tagLst xmlns:p="http://schemas.openxmlformats.org/presentationml/2006/main">
  <p:tag name="KSO_WM_BEAUTIFY_FLAG" val=""/>
</p:tagLst>
</file>

<file path=ppt/tags/tag85.xml><?xml version="1.0" encoding="utf-8"?>
<p:tagLst xmlns:p="http://schemas.openxmlformats.org/presentationml/2006/main">
  <p:tag name="KSO_WM_BEAUTIFY_FLAG" val=""/>
</p:tagLst>
</file>

<file path=ppt/tags/tag86.xml><?xml version="1.0" encoding="utf-8"?>
<p:tagLst xmlns:p="http://schemas.openxmlformats.org/presentationml/2006/main">
  <p:tag name="KSO_WM_BEAUTIFY_FLAG" val=""/>
</p:tagLst>
</file>

<file path=ppt/tags/tag87.xml><?xml version="1.0" encoding="utf-8"?>
<p:tagLst xmlns:p="http://schemas.openxmlformats.org/presentationml/2006/main">
  <p:tag name="KSO_WM_DIAGRAM_VIRTUALLY_FRAME" val="{&quot;height&quot;:348.92433070866144,&quot;left&quot;:55.55409448818898,&quot;top&quot;:107.47346456692912,&quot;width&quot;:832.8564566929133}"/>
</p:tagLst>
</file>

<file path=ppt/tags/tag88.xml><?xml version="1.0" encoding="utf-8"?>
<p:tagLst xmlns:p="http://schemas.openxmlformats.org/presentationml/2006/main">
  <p:tag name="KSO_WM_DIAGRAM_VIRTUALLY_FRAME" val="{&quot;height&quot;:348.92433070866144,&quot;left&quot;:55.55409448818898,&quot;top&quot;:107.47346456692912,&quot;width&quot;:832.8564566929133}"/>
</p:tagLst>
</file>

<file path=ppt/tags/tag89.xml><?xml version="1.0" encoding="utf-8"?>
<p:tagLst xmlns:p="http://schemas.openxmlformats.org/presentationml/2006/main">
  <p:tag name="KSO_WM_DIAGRAM_VIRTUALLY_FRAME" val="{&quot;height&quot;:348.92433070866144,&quot;left&quot;:55.55409448818898,&quot;top&quot;:107.47346456692912,&quot;width&quot;:832.8564566929133}"/>
</p:tagLst>
</file>

<file path=ppt/tags/tag90.xml><?xml version="1.0" encoding="utf-8"?>
<p:tagLst xmlns:p="http://schemas.openxmlformats.org/presentationml/2006/main">
  <p:tag name="KSO_WM_DIAGRAM_VIRTUALLY_FRAME" val="{&quot;height&quot;:348.92433070866144,&quot;left&quot;:55.55409448818898,&quot;top&quot;:107.47346456692912,&quot;width&quot;:832.8564566929133}"/>
</p:tagLst>
</file>

<file path=ppt/tags/tag91.xml><?xml version="1.0" encoding="utf-8"?>
<p:tagLst xmlns:p="http://schemas.openxmlformats.org/presentationml/2006/main">
  <p:tag name="KSO_WM_DIAGRAM_VIRTUALLY_FRAME" val="{&quot;height&quot;:348.92433070866144,&quot;left&quot;:55.55409448818898,&quot;top&quot;:107.47346456692912,&quot;width&quot;:832.8564566929133}"/>
</p:tagLst>
</file>

<file path=ppt/tags/tag92.xml><?xml version="1.0" encoding="utf-8"?>
<p:tagLst xmlns:p="http://schemas.openxmlformats.org/presentationml/2006/main">
  <p:tag name="KSO_WM_DIAGRAM_VIRTUALLY_FRAME" val="{&quot;height&quot;:348.92433070866144,&quot;left&quot;:55.55409448818898,&quot;top&quot;:107.47346456692912,&quot;width&quot;:832.8564566929133}"/>
</p:tagLst>
</file>

<file path=ppt/tags/tag93.xml><?xml version="1.0" encoding="utf-8"?>
<p:tagLst xmlns:p="http://schemas.openxmlformats.org/presentationml/2006/main">
  <p:tag name="KSO_WM_DIAGRAM_VIRTUALLY_FRAME" val="{&quot;height&quot;:348.92433070866144,&quot;left&quot;:55.55409448818898,&quot;top&quot;:107.47346456692912,&quot;width&quot;:832.8564566929133}"/>
</p:tagLst>
</file>

<file path=ppt/tags/tag94.xml><?xml version="1.0" encoding="utf-8"?>
<p:tagLst xmlns:p="http://schemas.openxmlformats.org/presentationml/2006/main">
  <p:tag name="KSO_WM_DIAGRAM_VIRTUALLY_FRAME" val="{&quot;height&quot;:348.92433070866144,&quot;left&quot;:55.55409448818898,&quot;top&quot;:107.47346456692912,&quot;width&quot;:832.8564566929133}"/>
</p:tagLst>
</file>

<file path=ppt/tags/tag95.xml><?xml version="1.0" encoding="utf-8"?>
<p:tagLst xmlns:p="http://schemas.openxmlformats.org/presentationml/2006/main">
  <p:tag name="KSO_WM_DIAGRAM_VIRTUALLY_FRAME" val="{&quot;height&quot;:348.92433070866144,&quot;left&quot;:55.55409448818898,&quot;top&quot;:107.47346456692912,&quot;width&quot;:832.8564566929133}"/>
</p:tagLst>
</file>

<file path=ppt/tags/tag96.xml><?xml version="1.0" encoding="utf-8"?>
<p:tagLst xmlns:p="http://schemas.openxmlformats.org/presentationml/2006/main">
  <p:tag name="KSO_WM_DIAGRAM_VIRTUALLY_FRAME" val="{&quot;height&quot;:348.92433070866144,&quot;left&quot;:55.55409448818898,&quot;top&quot;:107.47346456692912,&quot;width&quot;:832.8564566929133}"/>
</p:tagLst>
</file>

<file path=ppt/tags/tag97.xml><?xml version="1.0" encoding="utf-8"?>
<p:tagLst xmlns:p="http://schemas.openxmlformats.org/presentationml/2006/main">
  <p:tag name="KSO_WM_DIAGRAM_VIRTUALLY_FRAME" val="{&quot;height&quot;:348.92433070866144,&quot;left&quot;:55.55409448818898,&quot;top&quot;:107.47346456692912,&quot;width&quot;:832.8564566929133}"/>
</p:tagLst>
</file>

<file path=ppt/tags/tag98.xml><?xml version="1.0" encoding="utf-8"?>
<p:tagLst xmlns:p="http://schemas.openxmlformats.org/presentationml/2006/main">
  <p:tag name="KSO_WM_DIAGRAM_VIRTUALLY_FRAME" val="{&quot;height&quot;:348.92433070866144,&quot;left&quot;:55.55409448818898,&quot;top&quot;:107.47346456692912,&quot;width&quot;:832.8564566929133}"/>
</p:tagLst>
</file>

<file path=ppt/tags/tag99.xml><?xml version="1.0" encoding="utf-8"?>
<p:tagLst xmlns:p="http://schemas.openxmlformats.org/presentationml/2006/main">
  <p:tag name="KSO_WM_DIAGRAM_VIRTUALLY_FRAME" val="{&quot;height&quot;:348.92433070866144,&quot;left&quot;:55.55409448818898,&quot;top&quot;:107.47346456692912,&quot;width&quot;:832.8564566929133}"/>
</p:tagLst>
</file>

<file path=ppt/tags/tag100.xml><?xml version="1.0" encoding="utf-8"?>
<p:tagLst xmlns:p="http://schemas.openxmlformats.org/presentationml/2006/main">
  <p:tag name="KSO_WM_DIAGRAM_VIRTUALLY_FRAME" val="{&quot;height&quot;:348.92433070866144,&quot;left&quot;:55.55409448818898,&quot;top&quot;:107.47346456692912,&quot;width&quot;:832.8564566929133}"/>
</p:tagLst>
</file>

<file path=ppt/tags/tag101.xml><?xml version="1.0" encoding="utf-8"?>
<p:tagLst xmlns:p="http://schemas.openxmlformats.org/presentationml/2006/main">
  <p:tag name="KSO_WM_DIAGRAM_VIRTUALLY_FRAME" val="{&quot;height&quot;:348.92433070866144,&quot;left&quot;:55.55409448818898,&quot;top&quot;:107.47346456692912,&quot;width&quot;:832.8564566929133}"/>
</p:tagLst>
</file>

<file path=ppt/tags/tag102.xml><?xml version="1.0" encoding="utf-8"?>
<p:tagLst xmlns:p="http://schemas.openxmlformats.org/presentationml/2006/main">
  <p:tag name="KSO_WM_DIAGRAM_VIRTUALLY_FRAME" val="{&quot;height&quot;:348.92433070866144,&quot;left&quot;:55.55409448818898,&quot;top&quot;:107.47346456692912,&quot;width&quot;:832.8564566929133}"/>
</p:tagLst>
</file>

<file path=ppt/tags/tag103.xml><?xml version="1.0" encoding="utf-8"?>
<p:tagLst xmlns:p="http://schemas.openxmlformats.org/presentationml/2006/main">
  <p:tag name="KSO_WM_DIAGRAM_VIRTUALLY_FRAME" val="{&quot;height&quot;:348.92433070866144,&quot;left&quot;:55.55409448818898,&quot;top&quot;:107.47346456692912,&quot;width&quot;:832.8564566929133}"/>
</p:tagLst>
</file>

<file path=ppt/tags/tag104.xml><?xml version="1.0" encoding="utf-8"?>
<p:tagLst xmlns:p="http://schemas.openxmlformats.org/presentationml/2006/main">
  <p:tag name="KSO_WM_DIAGRAM_VIRTUALLY_FRAME" val="{&quot;height&quot;:348.92433070866144,&quot;left&quot;:55.55409448818898,&quot;top&quot;:107.47346456692912,&quot;width&quot;:832.8564566929133}"/>
</p:tagLst>
</file>

<file path=ppt/tags/tag105.xml><?xml version="1.0" encoding="utf-8"?>
<p:tagLst xmlns:p="http://schemas.openxmlformats.org/presentationml/2006/main">
  <p:tag name="KSO_WM_DIAGRAM_VIRTUALLY_FRAME" val="{&quot;height&quot;:348.92433070866144,&quot;left&quot;:55.55409448818898,&quot;top&quot;:107.47346456692912,&quot;width&quot;:832.8564566929133}"/>
</p:tagLst>
</file>

<file path=ppt/tags/tag106.xml><?xml version="1.0" encoding="utf-8"?>
<p:tagLst xmlns:p="http://schemas.openxmlformats.org/presentationml/2006/main">
  <p:tag name="KSO_WM_DIAGRAM_VIRTUALLY_FRAME" val="{&quot;height&quot;:348.92433070866144,&quot;left&quot;:55.55409448818898,&quot;top&quot;:107.47346456692912,&quot;width&quot;:832.8564566929133}"/>
</p:tagLst>
</file>

<file path=ppt/tags/tag107.xml><?xml version="1.0" encoding="utf-8"?>
<p:tagLst xmlns:p="http://schemas.openxmlformats.org/presentationml/2006/main">
  <p:tag name="KSO_WM_DIAGRAM_VIRTUALLY_FRAME" val="{&quot;height&quot;:348.92433070866144,&quot;left&quot;:55.55409448818898,&quot;top&quot;:107.47346456692912,&quot;width&quot;:832.8564566929133}"/>
</p:tagLst>
</file>

<file path=ppt/tags/tag108.xml><?xml version="1.0" encoding="utf-8"?>
<p:tagLst xmlns:p="http://schemas.openxmlformats.org/presentationml/2006/main">
  <p:tag name="KSO_WM_DIAGRAM_VIRTUALLY_FRAME" val="{&quot;height&quot;:348.92433070866144,&quot;left&quot;:55.55409448818898,&quot;top&quot;:107.47346456692912,&quot;width&quot;:832.8564566929133}"/>
</p:tagLst>
</file>

<file path=ppt/tags/tag109.xml><?xml version="1.0" encoding="utf-8"?>
<p:tagLst xmlns:p="http://schemas.openxmlformats.org/presentationml/2006/main">
  <p:tag name="KSO_WPP_MARK_KEY" val="d40a6864-e4fd-4a6c-9885-b63ee6c2aa4e"/>
  <p:tag name="COMMONDATA" val="eyJoZGlkIjoiYWJmNTAxYTA0NTllZTU0OWY5NWY0MWNlMzBjNGU2OTYifQ=="/>
  <p:tag name="resource_record_key" val="{&quot;8&quot;:[20476889,20476883]}"/>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3074</Words>
  <Application>WPS 演示</Application>
  <PresentationFormat>宽屏</PresentationFormat>
  <Paragraphs>292</Paragraphs>
  <Slides>21</Slides>
  <Notes>2</Notes>
  <HiddenSlides>0</HiddenSlides>
  <MMClips>0</MMClips>
  <ScaleCrop>false</ScaleCrop>
  <HeadingPairs>
    <vt:vector size="6" baseType="variant">
      <vt:variant>
        <vt:lpstr>已用的字体</vt:lpstr>
      </vt:variant>
      <vt:variant>
        <vt:i4>14</vt:i4>
      </vt:variant>
      <vt:variant>
        <vt:lpstr>主题</vt:lpstr>
      </vt:variant>
      <vt:variant>
        <vt:i4>2</vt:i4>
      </vt:variant>
      <vt:variant>
        <vt:lpstr>幻灯片标题</vt:lpstr>
      </vt:variant>
      <vt:variant>
        <vt:i4>21</vt:i4>
      </vt:variant>
    </vt:vector>
  </HeadingPairs>
  <TitlesOfParts>
    <vt:vector size="37" baseType="lpstr">
      <vt:lpstr>Arial</vt:lpstr>
      <vt:lpstr>宋体</vt:lpstr>
      <vt:lpstr>Wingdings</vt:lpstr>
      <vt:lpstr>Calibri</vt:lpstr>
      <vt:lpstr>微软雅黑</vt:lpstr>
      <vt:lpstr>黑体</vt:lpstr>
      <vt:lpstr>时尚中黑简体</vt:lpstr>
      <vt:lpstr>Wingdings</vt:lpstr>
      <vt:lpstr>Arial Unicode MS</vt:lpstr>
      <vt:lpstr>等线 Light</vt:lpstr>
      <vt:lpstr>等线</vt:lpstr>
      <vt:lpstr>Montserrat Bold</vt:lpstr>
      <vt:lpstr>Segoe Print</vt:lpstr>
      <vt:lpstr>思源黑体 CN Regular</vt:lpstr>
      <vt:lpstr>Office 主题​​</vt:lpstr>
      <vt:lpstr>1_Office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Li Jinnan</dc:creator>
  <cp:lastModifiedBy>T.T</cp:lastModifiedBy>
  <cp:revision>56</cp:revision>
  <dcterms:created xsi:type="dcterms:W3CDTF">2022-08-04T02:25:00Z</dcterms:created>
  <dcterms:modified xsi:type="dcterms:W3CDTF">2026-08-28T10:20:48Z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6F643D36B5A542329A800D9C47C15E0A_13</vt:lpwstr>
  </property>
  <property fmtid="{D5CDD505-2E9C-101B-9397-08002B2CF9AE}" pid="3" name="KSOProductBuildVer">
    <vt:lpwstr>2052-12.1.0.28043</vt:lpwstr>
  </property>
</Properties>
</file>